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2.1万／C 1,086再生。Aは①「外構専門店が解説」＝誰が話すか②「これだけ抑えて！」＝初心者でも見やすい③「スタートガイド」＝何が分かるか④完成した庭の実写＝見たい結果、が一目で伝わる。Bも「外構業者の見つけ方」「抑えるべきポイント2点」で何が分かるかが明確、人の表情と実際の家の外構も入っている→2.1万。Cは「必ず見て！」だけで何が分かるか伝わらない→1,086。※チャンネル規模の差もあるが、サムネの差は見て分かる。外構・建築の会社ならA・Bの型はすぐ真似でき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第1問：あなたなら、どれをクリック？</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直感でどうぞ！　A・B・C、クリックしたいものに手を挙げてください</a:t>
            </a:r>
            <a:endParaRPr lang="en-US" sz="2000" dirty="0"/>
          </a:p>
        </p:txBody>
      </p:sp>
      <p:pic>
        <p:nvPicPr>
          <p:cNvPr id="12" name="Picture 11" descr="q1_1.png"/>
          <p:cNvPicPr>
            <a:picLocks noChangeAspect="1"/>
          </p:cNvPicPr>
          <p:nvPr/>
        </p:nvPicPr>
        <p:blipFill>
          <a:blip r:embed="rId3"/>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8" name="Picture 17" descr="q1_2new.png"/>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5"/>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　答え合わせ</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第1問の答え：再生数はこれだけ違う</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b="1">
                <a:solidFill>
                  <a:srgbClr val="C40000"/>
                </a:solidFill>
                <a:latin typeface="Meiryo" pitchFamily="34" charset="0"/>
                <a:ea typeface="Meiryo" pitchFamily="34" charset="-122"/>
                <a:cs typeface="Meiryo" pitchFamily="34" charset="-120"/>
              </a:rPr>
              <a:t>「誰が」「何を教えてくれるか」が一目で分かるサムネが、選ばれる</a:t>
            </a:r>
            <a:endParaRPr lang="en-US" sz="2000" dirty="0"/>
          </a:p>
        </p:txBody>
      </p:sp>
      <p:pic>
        <p:nvPicPr>
          <p:cNvPr id="12" name="Picture 11" descr="q1_1.png"/>
          <p:cNvPicPr>
            <a:picLocks noChangeAspect="1"/>
          </p:cNvPicPr>
          <p:nvPr/>
        </p:nvPicPr>
        <p:blipFill>
          <a:blip r:embed="rId2"/>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22" name="Picture 21" descr="q1_2new.png"/>
          <p:cNvPicPr>
            <a:picLocks noChangeAspect="1"/>
          </p:cNvPicPr>
          <p:nvPr/>
        </p:nvPicPr>
        <p:blipFill>
          <a:blip r:embed="rId6"/>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4"/>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
        <p:nvSpPr>
          <p:cNvPr id="18" name="TextBox 17"/>
          <p:cNvSpPr txBox="1"/>
          <p:nvPr/>
        </p:nvSpPr>
        <p:spPr>
          <a:xfrm>
            <a:off x="640080" y="4540567"/>
            <a:ext cx="3520440" cy="548640"/>
          </a:xfrm>
          <a:prstGeom prst="rect">
            <a:avLst/>
          </a:prstGeom>
          <a:noFill/>
        </p:spPr>
        <p:txBody>
          <a:bodyPr wrap="square" lIns="0" rIns="0" tIns="0" bIns="0">
            <a:spAutoFit/>
          </a:bodyPr>
          <a:lstStyle/>
          <a:p>
            <a:pPr algn="ctr"/>
            <a:r>
              <a:rPr sz="3000" b="1">
                <a:solidFill>
                  <a:srgbClr val="C40000"/>
                </a:solidFill>
              </a:rPr>
              <a:t>7.5万再生</a:t>
            </a:r>
          </a:p>
        </p:txBody>
      </p:sp>
      <p:sp>
        <p:nvSpPr>
          <p:cNvPr id="19" name="Rectangle 18"/>
          <p:cNvSpPr/>
          <p:nvPr/>
        </p:nvSpPr>
        <p:spPr>
          <a:xfrm>
            <a:off x="585215" y="1773936"/>
            <a:ext cx="3630168" cy="2089975"/>
          </a:xfrm>
          <a:prstGeom prst="rect">
            <a:avLst/>
          </a:prstGeom>
          <a:noFill/>
          <a:ln w="635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60" y="4540567"/>
            <a:ext cx="3520440" cy="548640"/>
          </a:xfrm>
          <a:prstGeom prst="rect">
            <a:avLst/>
          </a:prstGeom>
          <a:noFill/>
        </p:spPr>
        <p:txBody>
          <a:bodyPr wrap="square" lIns="0" rIns="0" tIns="0" bIns="0">
            <a:spAutoFit/>
          </a:bodyPr>
          <a:lstStyle/>
          <a:p>
            <a:pPr algn="ctr"/>
            <a:r>
              <a:rPr sz="2400" b="1">
                <a:solidFill>
                  <a:srgbClr val="555555"/>
                </a:solidFill>
              </a:rPr>
              <a:t>2.1万再生</a:t>
            </a:r>
          </a:p>
        </p:txBody>
      </p:sp>
      <p:sp>
        <p:nvSpPr>
          <p:cNvPr id="21" name="TextBox 20"/>
          <p:cNvSpPr txBox="1"/>
          <p:nvPr/>
        </p:nvSpPr>
        <p:spPr>
          <a:xfrm>
            <a:off x="8092440" y="4540567"/>
            <a:ext cx="3520440" cy="548640"/>
          </a:xfrm>
          <a:prstGeom prst="rect">
            <a:avLst/>
          </a:prstGeom>
          <a:noFill/>
        </p:spPr>
        <p:txBody>
          <a:bodyPr wrap="square" lIns="0" rIns="0" tIns="0" bIns="0">
            <a:spAutoFit/>
          </a:bodyPr>
          <a:lstStyle/>
          <a:p>
            <a:pPr algn="ctr"/>
            <a:r>
              <a:rPr sz="2400" b="1">
                <a:solidFill>
                  <a:srgbClr val="555555"/>
                </a:solidFill>
              </a:rPr>
              <a:t>1,086再生</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