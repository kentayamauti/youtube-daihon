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5.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チャンネル画面を見せる。スライドの画面をクリックするとチャンネルが開く）パッと見て、何のチャンネルか分からないですよね？（反応を見る）アートもコンセプトも作り込まれていない。でも一番人気は258万再生、他にも154万・145万・118万と100万超えが並ぶ。登録者13.2万人・動画227本。「アルコール中毒者の超危険行動を見るチャンネル」（笑）。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第2問。テーマは3本とも「年金はいつ受け取るのが得か」。タイトルも途中まで見えている状態で、A・B・Cどれをクリックするか挙手。</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答え：A 599万（脱・税理士スガワラくん）／B 38万（節約看護師りょう）／C 273万（鳥海翔の騙されない金融学）。3本とも大型チャンネル。A→B→Cの冒頭1分ずつ再生 → 考えるコーナー。A：冒頭で結論、「できる人・できない人」の掛け合いで2つの状況を見せる。B：冒頭のフックが弱い、顔出しではなくイラストのみ（視聴者は高齢者。スキンシップ・人の温かさを好むので、イラストだけでは心に刺さりにくい）。中身は分かりやすい。C：冒頭から数字で気を引く、サムネも◯歳が伝わる、数字で説得力。約10分。</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 右下のQRはLINE公式アカウント。月1回〜2か月に1回のセミナーの招待と、週1回のYouTubeワンポイントが届く。相談はまだ早いという方も、まずLINEだけでも。　さらに続けたい方には月額サポート（週1回ミーティング＋Discordで質問できる場）も。まずは個別相談から、無理に勧めない。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答え：A 7.5万／B 2.1万／C 1,086。A→B→Cの冒頭1分ずつ再生 → 考えるコーナー（なぜ差がついた？1〜2人に聞く）。A：冒頭で端的に宣言、「7選」で「7選」で選択肢を絞ってテキパキ説明。B：企画は強いが冒頭1分の自虐で離脱、チャンネル平均約2万どまり。自虐後の説明は良い。C：サムネの強さ・色使いが弱く、中身も勝るものがない。→入口（サムネ）と中身（冒頭）の両方。約10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hyperlink" Target="https://www.youtube.com/@wawawa184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 Id="rId6" Type="http://schemas.openxmlformats.org/officeDocument/2006/relationships/image" Target="../media/image17.png"/><Relationship Id="rId7" Type="http://schemas.openxmlformats.org/officeDocument/2006/relationships/hyperlink" Target="https://youtu.be/pu3-B_kIUVE" TargetMode="External"/><Relationship Id="rId8" Type="http://schemas.openxmlformats.org/officeDocument/2006/relationships/hyperlink" Target="https://youtu.be/S7CIe6k3ED0" TargetMode="External"/><Relationship Id="rId9" Type="http://schemas.openxmlformats.org/officeDocument/2006/relationships/hyperlink" Target="https://youtu.be/43ak-26J18M" TargetMode="External"/><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hyperlink" Target="https://youtu.be/J6i7L0QSRSQ" TargetMode="External"/><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hyperlink" Target="https://youtu.be/0jMBZ4CwMxk" TargetMode="External"/><Relationship Id="rId8" Type="http://schemas.openxmlformats.org/officeDocument/2006/relationships/image" Target="../media/image30.png"/><Relationship Id="rId9" Type="http://schemas.openxmlformats.org/officeDocument/2006/relationships/image" Target="../media/image28.png"/><Relationship Id="rId10" Type="http://schemas.openxmlformats.org/officeDocument/2006/relationships/hyperlink" Target="https://youtu.be/d-7_nj4uPdE" TargetMode="External"/><Relationship Id="rId11"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hyperlink" Target="https://line.me/R/ti/p/@031svhsj"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210312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88036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33756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29768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507492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48640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r>
              <a:rPr sz="1400" b="1">
                <a:solidFill>
                  <a:srgbClr val="C40000"/>
                </a:solidFill>
                <a:latin typeface="Meiryo"/>
              </a:rPr>
              <a:t>（現在進行形）</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
        <p:nvSpPr>
          <p:cNvPr id="25" name="Rounded Rectangle 24"/>
          <p:cNvSpPr/>
          <p:nvPr/>
        </p:nvSpPr>
        <p:spPr>
          <a:xfrm>
            <a:off x="822960" y="1792224"/>
            <a:ext cx="1051560" cy="2560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45720" rIns="45720"/>
          <a:lstStyle/>
          <a:p>
            <a:pPr algn="ctr"/>
            <a:r>
              <a:rPr sz="1050" b="1">
                <a:solidFill>
                  <a:srgbClr val="C40000"/>
                </a:solidFill>
                <a:latin typeface="Meiryo"/>
              </a:rPr>
              <a:t>現在進行形</a:t>
            </a:r>
          </a:p>
        </p:txBody>
      </p:sp>
      <p:sp>
        <p:nvSpPr>
          <p:cNvPr id="26" name="Rounded Rectangle 25"/>
          <p:cNvSpPr/>
          <p:nvPr/>
        </p:nvSpPr>
        <p:spPr>
          <a:xfrm>
            <a:off x="822960" y="3986784"/>
            <a:ext cx="1051560" cy="2560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45720" rIns="45720"/>
          <a:lstStyle/>
          <a:p>
            <a:pPr algn="ctr"/>
            <a:r>
              <a:rPr sz="1050" b="1">
                <a:solidFill>
                  <a:srgbClr val="C40000"/>
                </a:solidFill>
                <a:latin typeface="Meiryo"/>
              </a:rPr>
              <a:t>現在進行形</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3738489" y="2103120"/>
            <a:ext cx="270803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3738489" y="2560320"/>
            <a:ext cx="270803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@wawawa1840</a:t>
            </a:r>
            <a:endParaRPr lang="en-US" sz="1900" dirty="0"/>
          </a:p>
        </p:txBody>
      </p:sp>
      <p:sp>
        <p:nvSpPr>
          <p:cNvPr id="9" name="Text 6"/>
          <p:cNvSpPr txBox="1"/>
          <p:nvPr/>
        </p:nvSpPr>
        <p:spPr>
          <a:xfrm>
            <a:off x="3738489" y="4023360"/>
            <a:ext cx="270803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概要欄も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258万再生</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登録者13.2万人・動画227本</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100万再生超えが何本も並ぶ</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＝一発屋ではない</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pic>
        <p:nvPicPr>
          <p:cNvPr id="14" name="Picture 13" descr="wawawa_ch.png">
            <a:hlinkClick r:id="rId4"/>
          </p:cNvPr>
          <p:cNvPicPr>
            <a:picLocks noChangeAspect="1"/>
          </p:cNvPicPr>
          <p:nvPr/>
        </p:nvPicPr>
        <p:blipFill>
          <a:blip r:embed="rId3"/>
          <a:stretch>
            <a:fillRect/>
          </a:stretch>
        </p:blipFill>
        <p:spPr>
          <a:xfrm>
            <a:off x="868680" y="1920240"/>
            <a:ext cx="2595489" cy="3749039"/>
          </a:xfrm>
          <a:prstGeom prst="rect">
            <a:avLst/>
          </a:prstGeom>
          <a:ln w="12700">
            <a:solidFill>
              <a:srgbClr val="DDDDDD"/>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あなたなら、どれをクリック？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6"/>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直感でどうぞ！　A・B・C、クリックしたいものに手を挙げてください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第1問の答え：再生数はこれだけ違う</a:t>
            </a:r>
          </a:p>
        </p:txBody>
      </p:sp>
      <p:pic>
        <p:nvPicPr>
          <p:cNvPr id="4" name="Picture 3" descr="image.png">
            <a:hlinkClick r:id="rId7"/>
          </p:cNvPr>
          <p:cNvPicPr>
            <a:picLocks noChangeAspect="1"/>
          </p:cNvPicPr>
          <p:nvPr/>
        </p:nvPicPr>
        <p:blipFill>
          <a:blip r:embed="rId2"/>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7.5万再生</a:t>
            </a:r>
          </a:p>
        </p:txBody>
      </p:sp>
      <p:pic>
        <p:nvPicPr>
          <p:cNvPr id="9" name="Picture 8" descr="image.png">
            <a:hlinkClick r:id="rId7"/>
          </p:cNvPr>
          <p:cNvPicPr>
            <a:picLocks noChangeAspect="1"/>
          </p:cNvPicPr>
          <p:nvPr/>
        </p:nvPicPr>
        <p:blipFill>
          <a:blip r:embed="rId13"/>
          <a:stretch>
            <a:fillRect/>
          </a:stretch>
        </p:blipFill>
        <p:spPr>
          <a:xfrm>
            <a:off x="3108960" y="4480560"/>
            <a:ext cx="1051560" cy="1051560"/>
          </a:xfrm>
          <a:prstGeom prst="rect">
            <a:avLst/>
          </a:prstGeom>
        </p:spPr>
      </p:pic>
      <p:pic>
        <p:nvPicPr>
          <p:cNvPr id="10" name="Picture 9" descr="image.png">
            <a:hlinkClick r:id="rId8"/>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2.1万再生</a:t>
            </a:r>
          </a:p>
        </p:txBody>
      </p:sp>
      <p:pic>
        <p:nvPicPr>
          <p:cNvPr id="14" name="Picture 13" descr="image.png">
            <a:hlinkClick r:id="rId8"/>
          </p:cNvPr>
          <p:cNvPicPr>
            <a:picLocks noChangeAspect="1"/>
          </p:cNvPicPr>
          <p:nvPr/>
        </p:nvPicPr>
        <p:blipFill>
          <a:blip r:embed="rId14"/>
          <a:stretch>
            <a:fillRect/>
          </a:stretch>
        </p:blipFill>
        <p:spPr>
          <a:xfrm>
            <a:off x="6835140" y="4480560"/>
            <a:ext cx="1051560" cy="1051560"/>
          </a:xfrm>
          <a:prstGeom prst="rect">
            <a:avLst/>
          </a:prstGeom>
        </p:spPr>
      </p:pic>
      <p:pic>
        <p:nvPicPr>
          <p:cNvPr id="15" name="Picture 14" descr="image.png">
            <a:hlinkClick r:id="rId9"/>
          </p:cNvPr>
          <p:cNvPicPr>
            <a:picLocks noChangeAspect="1"/>
          </p:cNvPicPr>
          <p:nvPr/>
        </p:nvPicPr>
        <p:blipFill>
          <a:blip r:embed="rId4"/>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1,086再生</a:t>
            </a:r>
          </a:p>
        </p:txBody>
      </p:sp>
      <p:pic>
        <p:nvPicPr>
          <p:cNvPr id="19" name="Picture 18" descr="image.png">
            <a:hlinkClick r:id="rId9"/>
          </p:cNvPr>
          <p:cNvPicPr>
            <a:picLocks noChangeAspect="1"/>
          </p:cNvPicPr>
          <p:nvPr/>
        </p:nvPicPr>
        <p:blipFill>
          <a:blip r:embed="rId15"/>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サムネで選ばれ、冒頭で端的に言い切る。入口と中身がそろった動画が伸びる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4"/>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3本とも同じテーマ：年金は何歳で受け取るのが得か。直感でどうぞ！</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第2問の答え：再生数はこれだけ違う</a:t>
            </a:r>
          </a:p>
        </p:txBody>
      </p:sp>
      <p:pic>
        <p:nvPicPr>
          <p:cNvPr id="4" name="Picture 3" descr="image.png">
            <a:hlinkClick r:id="rId4"/>
          </p:cNvPr>
          <p:cNvPicPr>
            <a:picLocks noChangeAspect="1"/>
          </p:cNvPicPr>
          <p:nvPr/>
        </p:nvPicPr>
        <p:blipFill>
          <a:blip r:embed="rId3"/>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599万再生</a:t>
            </a:r>
          </a:p>
        </p:txBody>
      </p:sp>
      <p:pic>
        <p:nvPicPr>
          <p:cNvPr id="9" name="Picture 8" descr="image.png">
            <a:hlinkClick r:id="rId4"/>
          </p:cNvPr>
          <p:cNvPicPr>
            <a:picLocks noChangeAspect="1"/>
          </p:cNvPicPr>
          <p:nvPr/>
        </p:nvPicPr>
        <p:blipFill>
          <a:blip r:embed="rId5"/>
          <a:stretch>
            <a:fillRect/>
          </a:stretch>
        </p:blipFill>
        <p:spPr>
          <a:xfrm>
            <a:off x="3108960" y="4480560"/>
            <a:ext cx="1051560" cy="1051560"/>
          </a:xfrm>
          <a:prstGeom prst="rect">
            <a:avLst/>
          </a:prstGeom>
        </p:spPr>
      </p:pic>
      <p:pic>
        <p:nvPicPr>
          <p:cNvPr id="10" name="Picture 9" descr="image.png">
            <a:hlinkClick r:id="rId7"/>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38万再生</a:t>
            </a:r>
          </a:p>
        </p:txBody>
      </p:sp>
      <p:pic>
        <p:nvPicPr>
          <p:cNvPr id="14" name="Picture 13" descr="image.png">
            <a:hlinkClick r:id="rId7"/>
          </p:cNvPr>
          <p:cNvPicPr>
            <a:picLocks noChangeAspect="1"/>
          </p:cNvPicPr>
          <p:nvPr/>
        </p:nvPicPr>
        <p:blipFill>
          <a:blip r:embed="rId8"/>
          <a:stretch>
            <a:fillRect/>
          </a:stretch>
        </p:blipFill>
        <p:spPr>
          <a:xfrm>
            <a:off x="6835140" y="4480560"/>
            <a:ext cx="1051560" cy="1051560"/>
          </a:xfrm>
          <a:prstGeom prst="rect">
            <a:avLst/>
          </a:prstGeom>
        </p:spPr>
      </p:pic>
      <p:pic>
        <p:nvPicPr>
          <p:cNvPr id="15" name="Picture 14" descr="image.png">
            <a:hlinkClick r:id="rId10"/>
          </p:cNvPr>
          <p:cNvPicPr>
            <a:picLocks noChangeAspect="1"/>
          </p:cNvPicPr>
          <p:nvPr/>
        </p:nvPicPr>
        <p:blipFill>
          <a:blip r:embed="rId9"/>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273万再生</a:t>
            </a:r>
          </a:p>
        </p:txBody>
      </p:sp>
      <p:pic>
        <p:nvPicPr>
          <p:cNvPr id="19" name="Picture 18" descr="image.png">
            <a:hlinkClick r:id="rId10"/>
          </p:cNvPr>
          <p:cNvPicPr>
            <a:picLocks noChangeAspect="1"/>
          </p:cNvPicPr>
          <p:nvPr/>
        </p:nvPicPr>
        <p:blipFill>
          <a:blip r:embed="rId11"/>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同じ大型チャンネルでも「冒頭の結論・数字」と「人が見えるか」で差がつく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612648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
        <p:nvSpPr>
          <p:cNvPr id="9" name="Rounded Rectangle 8"/>
          <p:cNvSpPr/>
          <p:nvPr/>
        </p:nvSpPr>
        <p:spPr>
          <a:xfrm>
            <a:off x="9829800" y="5230368"/>
            <a:ext cx="137160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ine_qr.png">
            <a:hlinkClick r:id="rId5"/>
          </p:cNvPr>
          <p:cNvPicPr>
            <a:picLocks noChangeAspect="1"/>
          </p:cNvPicPr>
          <p:nvPr/>
        </p:nvPicPr>
        <p:blipFill>
          <a:blip r:embed="rId4"/>
          <a:stretch>
            <a:fillRect/>
          </a:stretch>
        </p:blipFill>
        <p:spPr>
          <a:xfrm>
            <a:off x="9902952" y="5303520"/>
            <a:ext cx="1225296" cy="1225296"/>
          </a:xfrm>
          <a:prstGeom prst="rect">
            <a:avLst/>
          </a:prstGeom>
        </p:spPr>
      </p:pic>
      <p:sp>
        <p:nvSpPr>
          <p:cNvPr id="11" name="TextBox 10"/>
          <p:cNvSpPr txBox="1"/>
          <p:nvPr/>
        </p:nvSpPr>
        <p:spPr>
          <a:xfrm>
            <a:off x="7086600" y="5303520"/>
            <a:ext cx="2606040" cy="1225296"/>
          </a:xfrm>
          <a:prstGeom prst="rect">
            <a:avLst/>
          </a:prstGeom>
          <a:noFill/>
        </p:spPr>
        <p:txBody>
          <a:bodyPr wrap="square" anchor="ctr" lIns="0" rIns="0" tIns="0" bIns="0">
            <a:spAutoFit/>
          </a:bodyPr>
          <a:lstStyle/>
          <a:p>
            <a:pPr algn="r"/>
            <a:r>
              <a:rPr sz="1400" b="1">
                <a:solidFill>
                  <a:srgbClr val="FFFFFF"/>
                </a:solidFill>
              </a:rPr>
              <a:t>LINE（@031svhsj）</a:t>
            </a:r>
          </a:p>
          <a:p>
            <a:pPr algn="r"/>
            <a:r>
              <a:rPr sz="1800" b="1">
                <a:solidFill>
                  <a:srgbClr val="FFD400"/>
                </a:solidFill>
              </a:rPr>
              <a:t>次回セミナーの</a:t>
            </a:r>
          </a:p>
          <a:p>
            <a:pPr algn="r"/>
            <a:r>
              <a:rPr sz="1800" b="1">
                <a:solidFill>
                  <a:srgbClr val="FFD400"/>
                </a:solidFill>
              </a:rPr>
              <a:t>招待はこちら →</a:t>
            </a:r>
          </a:p>
        </p:txBody>
      </p:sp>
      <p:sp>
        <p:nvSpPr>
          <p:cNvPr id="12" name="TextBox 11"/>
          <p:cNvSpPr txBox="1"/>
          <p:nvPr/>
        </p:nvSpPr>
        <p:spPr>
          <a:xfrm>
            <a:off x="1188720" y="4343400"/>
            <a:ext cx="7890000" cy="457200"/>
          </a:xfrm>
          <a:prstGeom prst="rect">
            <a:avLst/>
          </a:prstGeom>
          <a:noFill/>
        </p:spPr>
        <p:txBody>
          <a:bodyPr wrap="square">
            <a:spAutoFit/>
          </a:bodyPr>
          <a:lstStyle/>
          <a:p>
            <a:r>
              <a:rPr sz="1500" b="1">
                <a:solidFill>
                  <a:srgbClr val="5A3A00"/>
                </a:solidFill>
                <a:latin typeface="Meiryo"/>
              </a:rPr>
              <a:t>続けたい方へ：月額サポートもあります（週1回ミーティング＋Discordで質問）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