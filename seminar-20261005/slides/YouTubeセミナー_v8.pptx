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78" r:id="rId24"/>
    <p:sldId id="279" r:id="rId25"/>
    <p:sldId id="280" r:id="rId26"/>
    <p:sldId id="281" r:id="rId27"/>
    <p:sldId id="282" r:id="rId28"/>
    <p:sldId id="283" r:id="rId29"/>
    <p:sldId id="284" r:id="rId30"/>
    <p:sldId id="285" r:id="rId31"/>
    <p:sldId id="286" r:id="rId32"/>
    <p:sldId id="287" r:id="rId33"/>
    <p:sldId id="294" r:id="rId45"/>
    <p:sldId id="295" r:id="rId46"/>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3.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1.xml"/><Relationship Id="rId31" Type="http://schemas.openxmlformats.org/officeDocument/2006/relationships/slide" Target="slides/slide32.xml"/><Relationship Id="rId32" Type="http://schemas.openxmlformats.org/officeDocument/2006/relationships/slide" Target="slides/slide33.xml"/><Relationship Id="rId33" Type="http://schemas.openxmlformats.org/officeDocument/2006/relationships/slide" Target="slides/slide34.xml"/><Relationship Id="rId34" Type="http://schemas.openxmlformats.org/officeDocument/2006/relationships/slide" Target="slides/slide37.xml"/><Relationship Id="rId35" Type="http://schemas.openxmlformats.org/officeDocument/2006/relationships/slide" Target="slides/slide38.xml"/><Relationship Id="rId36" Type="http://schemas.openxmlformats.org/officeDocument/2006/relationships/slide" Target="slides/slide39.xml"/><Relationship Id="rId37" Type="http://schemas.openxmlformats.org/officeDocument/2006/relationships/slide" Target="slides/slide40.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1.xml"/><Relationship Id="rId44" Type="http://schemas.openxmlformats.org/officeDocument/2006/relationships/slide" Target="slides/slide22.xml"/><Relationship Id="rId45" Type="http://schemas.openxmlformats.org/officeDocument/2006/relationships/slide" Target="slides/slide35.xml"/><Relationship Id="rId46"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私は普段は会社員で、YouTubeは副業。本業を持ちながらでも、やり方さえ間違えなければ伸ばせる。実績3つ：(1)顔出しなしで7ch収益化→顔を出さなくても大丈夫 (2)友人のチャンネル：2〜3年で500人→私が入って3本で1,000人増。何が違ったかは後半で（伏線） (1)の強み：会社員をやりながら7ch収益化。キャラや知名度でなく企画に頼って伸ばした＝誰にでも使える部分がある。(3)親のチャンネル：今は9,000人近く。私がやるのはサムネに手を入れることとアドバイスだけ、内容は本人にお任せ。正しい考え方を共有できれば作り手が自分でなくても結果は出る。※次のスライドで、親のチャンネル（今も運営中）から学んだ教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学んだこと2つ：(1)最低限の継続作業が必要＝止めればそこで止まる (2)正しいルートがないと伸ばせない→再生数が取れない→生き残れない。誤ったやり方を繰り返すと遠回り。正しいルートはジャンルごとに違う。正直、私も全ジャンルが分かるわけではないが、積み上げた知識を今日共有した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なんだな」と実感すること。裏ワザは一切ない、本当に作業でやっている。(2)「伸びるための思考」を少しでも学ぶこと。90分で全部マスターしなくていい。視点を1つ持ち帰れたら今日は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ろうと思ったか。一番は地域貢献がしたかったから。私一人ではチャンネルをいくつも作れない。でもYouTube・SNSで成果を上げたい気持ちはあるので、地域の皆さんと一緒に成果を出せたらと考えた。場を設けていただいた塩谷先生には本当に感謝。企業の皆さんと関わりながら成果を出し、最終的に良い商品を届けられるようになるのが今の目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昨日、YouTubeかInstagramかX、どれか開きませんでしたか？→ほとんど開いている。お客さんも同じ。SNSは無料で広告を打てる＝競合優位性。企業なら広告を打つ策が必要な場面もあるが、再生数さえ伸ばせば自社の打ち手が出てくる。自分の例：広告収益のみ＋楽天などのアフィリエイトで少し。これも再生数を取ってからの舵取り。土台があれば選べる手が増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の2店。片方はSNSで毎週発信して集客、片方は何もしない。数年後は全然違う運営に。片方は広告費ゼロで客が来る仕組み、片方は集客のたびに支払い続ける。SNSで集客できれば、同業者とまったく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すべてのジャンルが同じようにバズりやすいわけではない。取りやすいジャンル・取りにくいジャンルがある。自分のジャンルの相場を把握することが先。個別相談でも伝えられる部分。</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して発信する＝やってはいけないことをすれば炎上につながる。発信力・競合優位性の分だけデメリットも生まれる。リスクを分かっていれば、やるべき事・やってはいけない事が見える。最後はご自身の考えを大事に判断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メリットは集客だけじゃない。(1)広告収益：YouTube自体から金が入る。その収益を「種銭」として事業に充てられる（設備・仕入れ・発信への再投資） (2)案件：影響力がつくと企業から向こうから仕事が来る (3)幅が広がる：入り口が増える＝事業の選択肢が増える。まとめ：SNSを伸ばせる力がつけば、そのまま事業を大きくできる。SNS運用は事業の武器。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ここから「チャンネルの作り方」…と言いつつ、今日は開設手順の細かい説明はしません。「え、それを聞きに来たんだけど」と思った方も安心を。ちゃんと理由がある→次スライドで。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カウント作成・チャンネルアート・概要欄などの手順はこの動画でOK。配布資料にもリンクあり。帰ってからこの通りに進めれば開設できる。なぜ今日詳しくやらないか→チャンネルページはそこまで作り込みが要らないから。実例を見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際の画面を見せる）パッと見て、何のチャンネルか分からないですよね？（会場の反応を見る）アートも概要欄も作り込まれていない。でも最高250万再生超、しかもコンスタントに再生が取れている。古いチャンネルだが、こういう例もある。結論：チャンネルページの役割は「どういうチャンネルか」を知ってもらうだけで十分。世界観は動画の中で伝えるもの。視聴者は動画を見てファン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動画の質さえ担保すればアートはそこそこでいい。会社はチャンネルページ＝看板。何の会社か伝わる程度に作り込む。概要欄は特に大事：気になった人はHPへ行く＝お客さんへの入り口。装飾に凝る必要はないが、何の会社か＋HP導線だけはきち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はGoogleのサービス。Google検索の結果に動画が出る。ここで実際にGoogle検索を見せる。自分のチャンネルにもGoogle検索から多くの視聴者が来ている。会社チャンネルなら、きちんと書くことがそのまま検索からの入り口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を見る）どの教材でも出てくる。もちろん大事。でも今日はあえて言う：それよりもっと大事なことが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それは視聴者理解。極端に言えば最初の段階ではデータは全く関係ない。整理：数値は「自分が出した動画がどんな数値を取れたか」＝出した後の話。その前に、出す前にやるべきこと＝「視聴者はどんな動画のどんな要素を好んで見ているのか」を知ること。伸びる動画には必ず好まれている要素がある（テンポ・企画・雰囲気・情報の濃さ）。数値分析はそのあ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ouTubeは「視聴者が何を求めているかを探すゲーム」。釣りサムネはクリックされても中身が伴わなければ離れる。商品を買うときと同じ：見た目で手に取るが、愛用し続けるかは中身の良さ。スマホもパソコンも、使い続けているのは中身が良いから。</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直感で挙手してもらう。例：文字が小さく情報量が多い vs 大きな文字で一言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直感で挙手してもらう。例：モノ・風景だけ vs 人の顔・表情入り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直感で挙手してもらう。例：内容を説明 vs 続きが気になる（自分のチャンネルのビフォーアフターが最適）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月10万円稼ぎたい」という相談→競合分析して道しるべを示した。手順1：俯瞰。陸上ジャンルを片っ端から見る。プロの結果映像は省き、同じ土俵（解説系・個人ch）に絞る。手順2：成功ライン。平均1〜3万再生で成功と判明。手順3：激戦区。vlog系・スパイクレビューが多い。手順4：空いている場所。プロ選手の解説動画がなかった→「これなら勝てる」。この道筋の3本で1,000人以上増。大事なのは道筋を自分のジャンルで立てられること。見つからなければ再生数では勝てない（商品を売る場合は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彼はレッスン・商品販売・指導につなげる予定だった。でも彼も会社員。時間が取れず、全振りを嫌って途中で更新が止まった。惜しい。道筋は合っていて数字も出ていた。それでも続けられなければ止まる。教訓：正しい道筋＋無理なく続けられる体制。この2つが揃って初めて育つ。全振りは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のスライドの補足。需要のない動画は見る人が少ない＝視聴データが少ない。そのぶんクリック率・維持率は高く出やすい。「数値いいじゃん」と勘違いして自己満足で終わる。数値は母数が小さいと当てにならない、という話。</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順番が大事。①視聴者理解＝動画を出す「前」にやること。②その理解をもとに動画を作る。③出したあとに数値を見て改善する。多くの人は③から入ってしまう。</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ラシにも書いた「著作権」の話。市販の音楽やテレビの映像を無断で使うと、著作権の申し立てが入り、収益が権利者に回ったり動画が削除されたりする。違反が重なるとチャンネルごと停止されることもある。1本の失敗で全部なくなる。使うならYouTubeオーディオライブラリなど、利用OKと明記された素材を。会社のチャンネルは信用にも関わるので、迷ったら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挫折ポイント。最初の数本は伸びなくて当たり前。伸びないのは失敗ではなくデータ集め、見直して改善した回数が実力になる。挫折する人の多くは、伸びているチャンネルの「今」と自分を比べてしまう。比べるのは先月の自分。親のチャンネルから学んだ通り、止めた時点で止まる。続けられるペースで打席に立ち続けること。</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sp>
      <p:sp>
        <p:nvSpPr>
          <p:cNvPr id="9" name="Shape 7"/>
          <p:cNvSpPr/>
          <p:nvPr/>
        </p:nvSpPr>
        <p:spPr>
          <a:xfrm rot="5400000">
            <a:off x="9921240" y="1262604"/>
            <a:ext cx="548640" cy="547177"/>
          </a:xfrm>
          <a:prstGeom prst="triangle">
            <a:avLst/>
          </a:prstGeom>
          <a:solidFill>
            <a:srgbClr val="FFFFF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sp>
      <p:sp>
        <p:nvSpPr>
          <p:cNvPr id="6" name="Text 3"/>
          <p:cNvSpPr txBox="1"/>
          <p:nvPr/>
        </p:nvSpPr>
        <p:spPr>
          <a:xfrm>
            <a:off x="822960" y="196596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74320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20040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sp>
      <p:sp>
        <p:nvSpPr>
          <p:cNvPr id="10" name="Text 7"/>
          <p:cNvSpPr txBox="1"/>
          <p:nvPr/>
        </p:nvSpPr>
        <p:spPr>
          <a:xfrm>
            <a:off x="822960" y="416052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493776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34924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強み：会社員をやりながら。キャラではなく企画に頼って伸ばした</a:t>
            </a:r>
            <a:endParaRPr lang="en-US" sz="1800" dirty="0"/>
          </a:p>
        </p:txBody>
      </p:sp>
      <p:sp>
        <p:nvSpPr>
          <p:cNvPr id="17" name="Shape 14"/>
          <p:cNvSpPr/>
          <p:nvPr/>
        </p:nvSpPr>
        <p:spPr>
          <a:xfrm>
            <a:off x="4389120" y="3337560"/>
            <a:ext cx="475488" cy="475488"/>
          </a:xfrm>
          <a:prstGeom prst="ellipse">
            <a:avLst/>
          </a:prstGeom>
          <a:solidFill>
            <a:srgbClr val="C40000"/>
          </a:solidFill>
          <a:ln/>
        </p:spPr>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2〜3年伸び悩んだ友人のチャンネル。種明かしは後半で</a:t>
            </a:r>
            <a:endParaRPr lang="en-US" sz="1800" dirty="0"/>
          </a:p>
        </p:txBody>
      </p:sp>
      <p:sp>
        <p:nvSpPr>
          <p:cNvPr id="21" name="Shape 18"/>
          <p:cNvSpPr/>
          <p:nvPr/>
        </p:nvSpPr>
        <p:spPr>
          <a:xfrm>
            <a:off x="4389120" y="4800600"/>
            <a:ext cx="475488" cy="475488"/>
          </a:xfrm>
          <a:prstGeom prst="ellipse">
            <a:avLst/>
          </a:prstGeom>
          <a:solidFill>
            <a:srgbClr val="C40000"/>
          </a:solidFill>
          <a:ln/>
        </p:spPr>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サムネ＋アドバイスのみ。内容は本人にお任せでも結果は出る</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LESSON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親のチャンネルから学んだこと</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sp>
      <p:sp>
        <p:nvSpPr>
          <p:cNvPr id="6" name="Shape 3"/>
          <p:cNvSpPr/>
          <p:nvPr/>
        </p:nvSpPr>
        <p:spPr>
          <a:xfrm>
            <a:off x="1051560" y="2286000"/>
            <a:ext cx="475488" cy="475488"/>
          </a:xfrm>
          <a:prstGeom prst="ellipse">
            <a:avLst/>
          </a:prstGeom>
          <a:solidFill>
            <a:srgbClr val="C40000"/>
          </a:solidFill>
          <a:ln/>
        </p:spPr>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最低限の継続作業が必要</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YouTubeは、止めた時点で止まる。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地道な作業を続ける仕組みが要る。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sp>
      <p:sp>
        <p:nvSpPr>
          <p:cNvPr id="11" name="Shape 8"/>
          <p:cNvSpPr/>
          <p:nvPr/>
        </p:nvSpPr>
        <p:spPr>
          <a:xfrm>
            <a:off x="6720840" y="2286000"/>
            <a:ext cx="475488" cy="475488"/>
          </a:xfrm>
          <a:prstGeom prst="ellipse">
            <a:avLst/>
          </a:prstGeom>
          <a:solidFill>
            <a:srgbClr val="8A0000"/>
          </a:solidFill>
          <a:ln/>
        </p:spPr>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正しいルートがないと伸ばせない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再生数が取れない＝生き残れない。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正しいルートはジャンルごとに違う。</a:t>
            </a:r>
            <a:endParaRPr lang="en-US" sz="1800" dirty="0"/>
          </a:p>
        </p:txBody>
      </p:sp>
      <p:sp>
        <p:nvSpPr>
          <p:cNvPr id="15" name="Text 12"/>
          <p:cNvSpPr txBox="1"/>
          <p:nvPr/>
        </p:nvSpPr>
        <p:spPr>
          <a:xfrm>
            <a:off x="640080" y="539496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今日は、自分のジャンルの「正しい道」を見極める力を持ち帰る時間です</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裏ワザは一切ありません。</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本当に作業でやっています。</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私一人ではチャンネルをいくつも作れません。</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それなら、この地域の皆さんと一緒に成果を出していけたら——と考えました。</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p:cNvSpPr/>
          <p:nvPr/>
        </p:nvSpPr>
        <p:spPr>
          <a:xfrm>
            <a:off x="1005840" y="2377440"/>
            <a:ext cx="1554480" cy="1057046"/>
          </a:xfrm>
          <a:prstGeom prst="roundRect">
            <a:avLst>
              <a:gd name="adj" fmla="val 28000"/>
            </a:avLst>
          </a:prstGeom>
          <a:solidFill>
            <a:srgbClr val="E60000"/>
          </a:solidFill>
          <a:ln/>
        </p:spPr>
      </p:sp>
      <p:sp>
        <p:nvSpPr>
          <p:cNvPr id="7" name="Shape 4"/>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822960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p:cNvSpPr txBox="1"/>
          <p:nvPr/>
        </p:nvSpPr>
        <p:spPr>
          <a:xfrm>
            <a:off x="2926080" y="2880360"/>
            <a:ext cx="822960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sp>
      <p:sp>
        <p:nvSpPr>
          <p:cNvPr id="6" name="Text 3"/>
          <p:cNvSpPr txBox="1"/>
          <p:nvPr/>
        </p:nvSpPr>
        <p:spPr>
          <a:xfrm>
            <a:off x="1005840" y="2103120"/>
            <a:ext cx="530352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1005840" y="2560320"/>
            <a:ext cx="530352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youtube.com/@wawawa1840</a:t>
            </a:r>
            <a:endParaRPr lang="en-US" sz="1900" dirty="0"/>
          </a:p>
        </p:txBody>
      </p:sp>
      <p:sp>
        <p:nvSpPr>
          <p:cNvPr id="8" name="Text 5"/>
          <p:cNvSpPr txBox="1"/>
          <p:nvPr/>
        </p:nvSpPr>
        <p:spPr>
          <a:xfrm>
            <a:off x="1005840" y="3108960"/>
            <a:ext cx="5303520" cy="457200"/>
          </a:xfrm>
          <a:prstGeom prst="rect">
            <a:avLst/>
          </a:prstGeom>
          <a:noFill/>
          <a:ln/>
        </p:spPr>
        <p:txBody>
          <a:bodyPr wrap="square" lIns="0" tIns="0" rIns="0" bIns="0" rtlCol="0" anchor="ctr"/>
          <a:lstStyle/>
          <a:p>
            <a:pPr indent="0" marL="0">
              <a:buNone/>
            </a:pPr>
            <a:r>
              <a:rPr lang="en-US" sz="1700" dirty="0">
                <a:solidFill>
                  <a:srgbClr val="666666"/>
                </a:solidFill>
                <a:latin typeface="Meiryo" pitchFamily="34" charset="0"/>
                <a:ea typeface="Meiryo" pitchFamily="34" charset="-122"/>
                <a:cs typeface="Meiryo" pitchFamily="34" charset="-120"/>
              </a:rPr>
              <a:t>（当日、実際の画面を表示）</a:t>
            </a:r>
            <a:endParaRPr lang="en-US" sz="1700" dirty="0"/>
          </a:p>
        </p:txBody>
      </p:sp>
      <p:sp>
        <p:nvSpPr>
          <p:cNvPr id="9" name="Text 6"/>
          <p:cNvSpPr txBox="1"/>
          <p:nvPr/>
        </p:nvSpPr>
        <p:spPr>
          <a:xfrm>
            <a:off x="1005840" y="4023360"/>
            <a:ext cx="530352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チャンネルアートも概要欄も</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250万再生超</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しかも一発屋ではなく、コンスタントに再生を獲得</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概要欄は「視聴者をお客さんに変える入り口」。HPリンク・事業内容・問い合わせ先はしっかり書く</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（この場でGoogle検索を実演 → 検索結果に動画が表示されることを見せる）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あなたなら、どちらをクリック？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2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第2問：あなたなら、どちらをクリック？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3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第3問：あなたなら、どちらをクリック？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陸上ジャンルの動画を片っ端から見る。同じ土俵（解説系・個人チャンネル）に絞る</a:t>
            </a:r>
            <a:endParaRPr lang="en-US" sz="1800" dirty="0"/>
          </a:p>
        </p:txBody>
      </p:sp>
      <p:sp>
        <p:nvSpPr>
          <p:cNvPr id="9" name="Shape 6"/>
          <p:cNvSpPr/>
          <p:nvPr/>
        </p:nvSpPr>
        <p:spPr>
          <a:xfrm>
            <a:off x="731520" y="2944368"/>
            <a:ext cx="475488" cy="475488"/>
          </a:xfrm>
          <a:prstGeom prst="ellipse">
            <a:avLst/>
          </a:prstGeom>
          <a:solidFill>
            <a:srgbClr val="C40000"/>
          </a:solidFill>
          <a:ln/>
        </p:spPr>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このジャンルは平均1〜3万再生で成功、という相場を掴む</a:t>
            </a:r>
            <a:endParaRPr lang="en-US" sz="1800" dirty="0"/>
          </a:p>
        </p:txBody>
      </p:sp>
      <p:sp>
        <p:nvSpPr>
          <p:cNvPr id="13" name="Shape 10"/>
          <p:cNvSpPr/>
          <p:nvPr/>
        </p:nvSpPr>
        <p:spPr>
          <a:xfrm>
            <a:off x="731520" y="3995928"/>
            <a:ext cx="475488" cy="475488"/>
          </a:xfrm>
          <a:prstGeom prst="ellipse">
            <a:avLst/>
          </a:prstGeom>
          <a:solidFill>
            <a:srgbClr val="C40000"/>
          </a:solidFill>
          <a:ln/>
        </p:spPr>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多かったのは選手のvlog系・スパイクレビュー＝強い人がひしめく場所</a:t>
            </a:r>
            <a:endParaRPr lang="en-US" sz="1800" dirty="0"/>
          </a:p>
        </p:txBody>
      </p:sp>
      <p:sp>
        <p:nvSpPr>
          <p:cNvPr id="17" name="Shape 14"/>
          <p:cNvSpPr/>
          <p:nvPr/>
        </p:nvSpPr>
        <p:spPr>
          <a:xfrm>
            <a:off x="731520" y="5047488"/>
            <a:ext cx="475488" cy="475488"/>
          </a:xfrm>
          <a:prstGeom prst="ellipse">
            <a:avLst/>
          </a:prstGeom>
          <a:solidFill>
            <a:srgbClr val="8A0000"/>
          </a:solidFill>
          <a:ln/>
        </p:spPr>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プロ陸上選手の「解説動画」がなかった →「これなら勝てる」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この道筋に沿った3本で、登録者1,000人以上増。道筋が見つからなければ、再生数では競合に勝てない。</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レッスンや商品販売につなげる予定だったが、彼も会社員。時間が取れず、</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YouTubeに全振りすることを嫌って途中で止まってしまった。……惜しい。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一番致命的な失敗と、知っておきたい2つの注意点</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COPYRIGHT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注意点②：素材の著作権</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他人の音楽・映像・画像は、原則そのまま使えない</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市販の音楽やテレビ番組の映像を無断で使うと、著作権の申し立てで収益が権利者に回ったり、動画が削除されたりする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違反が重なるとチャンネル自体が停止されることも。1本の失敗で、積み上げたものが全部なくなる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使うならYouTubeオーディオライブラリなど「利用OK」と明記された素材を。迷ったら使わない</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MINDSET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注意点③：挫折しやすいポイント</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txBody>
          <a:bodyPr/>
          <a:p/>
        </p:txBody>
      </p:sp>
      <p:sp>
        <p:nvSpPr>
          <p:cNvPr id="6" name="Shape 3"/>
          <p:cNvSpPr/>
          <p:nvPr/>
        </p:nvSpPr>
        <p:spPr>
          <a:xfrm>
            <a:off x="1051560" y="2286000"/>
            <a:ext cx="475488" cy="475488"/>
          </a:xfrm>
          <a:prstGeom prst="ellipse">
            <a:avLst/>
          </a:prstGeom>
          <a:solidFill>
            <a:srgbClr val="C40000"/>
          </a:solidFill>
          <a:ln/>
        </p:spPr>
        <p:txBody>
          <a:bodyPr/>
          <a:p/>
        </p:txBody>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最初は伸びなくて当たり前</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伸びないのは失敗ではなく、データ集め。</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見直して改善した回数が、実力になる。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txBody>
          <a:bodyPr/>
          <a:p/>
        </p:txBody>
      </p:sp>
      <p:sp>
        <p:nvSpPr>
          <p:cNvPr id="11" name="Shape 8"/>
          <p:cNvSpPr/>
          <p:nvPr/>
        </p:nvSpPr>
        <p:spPr>
          <a:xfrm>
            <a:off x="6720840" y="2286000"/>
            <a:ext cx="475488" cy="475488"/>
          </a:xfrm>
          <a:prstGeom prst="ellipse">
            <a:avLst/>
          </a:prstGeom>
          <a:solidFill>
            <a:srgbClr val="8A0000"/>
          </a:solidFill>
          <a:ln/>
        </p:spPr>
        <p:txBody>
          <a:bodyPr/>
          <a:p/>
        </p:txBody>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比べる相手を間違えない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伸びているチャンネルの「今」と比べない。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比べるのは、先月の自分。</a:t>
            </a:r>
            <a:endParaRPr lang="en-US" sz="1800" dirty="0"/>
          </a:p>
        </p:txBody>
      </p:sp>
      <p:sp>
        <p:nvSpPr>
          <p:cNvPr id="15" name="Text 12"/>
          <p:cNvSpPr txBox="1"/>
          <p:nvPr/>
        </p:nvSpPr>
        <p:spPr>
          <a:xfrm>
            <a:off x="640080" y="539496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止めた時点で止まる。続けられるペースで、打席に立ち続ける</a:t>
            </a:r>
            <a:endParaRPr lang="en-US" sz="2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10607040" cy="91440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