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99" r:id="rId50"/>
    <p:sldId id="278" r:id="rId24"/>
    <p:sldId id="279" r:id="rId25"/>
    <p:sldId id="280" r:id="rId26"/>
    <p:sldId id="281" r:id="rId27"/>
    <p:sldId id="282" r:id="rId28"/>
    <p:sldId id="283" r:id="rId29"/>
    <p:sldId id="297" r:id="rId48"/>
    <p:sldId id="296" r:id="rId47"/>
    <p:sldId id="284" r:id="rId30"/>
    <p:sldId id="285" r:id="rId31"/>
    <p:sldId id="298" r:id="rId49"/>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3.xml"/><Relationship Id="rId31" Type="http://schemas.openxmlformats.org/officeDocument/2006/relationships/slide" Target="slides/slide34.xml"/><Relationship Id="rId32" Type="http://schemas.openxmlformats.org/officeDocument/2006/relationships/slide" Target="slides/slide36.xml"/><Relationship Id="rId33" Type="http://schemas.openxmlformats.org/officeDocument/2006/relationships/slide" Target="slides/slide37.xml"/><Relationship Id="rId34" Type="http://schemas.openxmlformats.org/officeDocument/2006/relationships/slide" Target="slides/slide40.xml"/><Relationship Id="rId35" Type="http://schemas.openxmlformats.org/officeDocument/2006/relationships/slide" Target="slides/slide41.xml"/><Relationship Id="rId36" Type="http://schemas.openxmlformats.org/officeDocument/2006/relationships/slide" Target="slides/slide42.xml"/><Relationship Id="rId37" Type="http://schemas.openxmlformats.org/officeDocument/2006/relationships/slide" Target="slides/slide43.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32.xml"/><Relationship Id="rId48" Type="http://schemas.openxmlformats.org/officeDocument/2006/relationships/slide" Target="slides/slide31.xml"/><Relationship Id="rId49" Type="http://schemas.openxmlformats.org/officeDocument/2006/relationships/slide" Target="slides/slide35.xml"/><Relationship Id="rId5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から逆算。プロの走りの解説だけなら、取れても1本10万再生くらいが上限。週1本なら月40万再生。10分弱の動画で1再生あたり約0.3円→月10万円前後＝彼の目標に届く。さらに、競技場を借りて1人1,000円などで走り方の講習会をしているチャンネルもあったので、それを絡める。自分の商品の開発も話していた。彼自身、社会人から100m 11秒台→10秒台になった実績があり、体の構造にも詳しい→説得力がある。「これはいける」と思った。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今日か昨日、何かしらのSNSを開きませんでしたか？→ほとんど開いている。お客さんも同じ。お客さんが毎日いる場所に看板を出せる。一番大事：SNSは無料で広告を打てる。撮影・編集はかかるが、編集はAIで下げられる。実例：弟（個人事業主）が高砂に絞ってGoogle広告→月20万円ほど、問い合わせはちょこちょこ、成果はそこまで。全国ならもっと必要。広告が合う業種もあるが、ほとんどの会社はSNSをやった方がいい。YouTube動画はGoogle検索にも出る→信用・信頼→依頼・見積もり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でも、数年後はまったく違う運営スタイルに。片方は直接営業しなくてもSNSからお客さんが来る＝看板を置いておいたら立ち寄ってくれる状態。片方は集客のたびに支払い続ける。SNSで集客できれば、同業者と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業種に当てはまるわけではない。1対1で話してお客さんを取る方が合う業種もある。伸びやすい／伸びにくいジャンルがある。ジャンルを見れば「この業種はきついかな」「こうすれば集客につながるかも」が大体分かる。（ちょっといやらしい話だが）後半の個別相談で手伝える。まず自分のジャンルの相場を把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す以上、やってはいけないことをすれば必ず炎上。有名YouTuberでもちょくちょく炎上。企業ほどリスクは大きい。初期に「やってはいけないこと／やるべきこと」を押さえればそこまでの炎上はない。自分のチャンネルは名前が批判されやすい→逆手にとって動画のクオリティを上げている。ただ会社のイメージに良いかは別。最後はご自身の判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集客だけじゃない。(1)広告収益：再生数が伸びるジャンルなら広告収益。種銭にもなる (2)案件：影響力がつくと企業から「商品を使ってもらえませんか」。自分にもよく来る (3)幅が広がる：一番大きい。このセミナーもYouTubeを伸ばせたから話が来た＝選択肢が増えた。会社でも選択肢が増えれば評価・事業の幅に。→ここまでは皆さんご存じのこと。ここから作り方・伸ばし方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ンネルの作り方…と言いつつ、あまりこだわらない。他のセミナーで「まず強みは？」「ペルソナを作ろう」と言われるが、最初はやらない。理由：チャレンジできなくなる（一番のデメリット）。視聴者が何を思っているか分からないままペルソナを作ると、結局自分が思ったものを作ってしまう。代わりに、そのジャンルで求められていること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などの細かい手順はこの参考動画で大体分かる（本当に細かく説明されている）。URLは配布資料にも。今日はそれ以外に時間を使いたい。この動画でチャンネルを作って、運営中の相談は私に。なぜ詳しくやらないか→チャンネルページは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wawa1840を表示）パッと見て何のチャンネルか分からない（反応を見る）。アートもコンセプトも作り込まれていない。でも最高250万再生超、コンスタントに再生。中身：お酒好きのおじさんが炊飯器に味の素と具材、ハイボールをほぼロックで一気飲み…はちゃめちゃだが行動が面白い。動画を出すほど「こういうチャンネル」と伝わる→好きな視聴者はついてくる。チャンネルページは「どういうチャンネルか」が伝われば十分。アイコンは目立つもの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チャンネルページは少し整える程度。作ってすぐ出すスピード優先。会社はチャンネルページ＝看板。概要欄・チャンネルページに「何をしている会社か」と連絡先。気になった人は概要欄からHPへ＝お客さんへの入り口。HPリンク・事業内容・問い合わせ先はしっか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収益は「おすすめ」経由と、Google検索など外部検索経由がある。YouTubeはGoogleのサービス→検索結果に動画が出る。（実演：「シロアリ 対策」で動画枠を見せる。予備スクショ／出にくければ「ネクタイ 結び方」）悩みの多いジャンルは検索に強い。建設・建築なら「シロアリが出たら？」「こういう時どうする？」。動画の質が良いと上位に載りやすい。良い動画の形は大体決まっている→そこに自社ならどう解決するかを乗せる。ジャンル選び＋中身の設計が大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でも初期はアナリティクスをほぼ見ない。クリック率を少し見る程度。見るのは視聴者の年齢・属性＝届けたい人に届いているか。合っていないと、クリック率や維持率が良くても違う人に届いている→成果につながらない。だから出す前に視聴者理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一番大事なのは視聴者理解。看板の例え：店名だけで何をしているか書いていない看板（当てはまる会社さんがいたらすみません）。「不動産 賃貸」と書けば分かるのに。フックが取れていない、本気で売りたいのかなと思ってしまう。YouTubeなら、伝えたいことをサムネに書いていない（白黒で文字だけ、イラストなし）状態。数値は出した「あと」、視聴者理解は出す「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釣りサムネはやめた方がいい。飲食店：「めちゃくちゃ美味しい、ここが一番」と書いてあっても、求める味じゃなければもう行かない（お寿司屋・洋食屋・中華も同じ）。美味しければまた来る。YouTubeもほぼ同じ。見た目で手に取っても、使い続けるかは中身。スマホもパソコンも（Mac・Windows）使いやすいから使ってい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第1問は外構のサムネ3つ（実在の動画。タイトルと再生数は隠している）。A・B・Cで挙手。考え込まずに直感で。建設・外構の方にとっては身近なテーマ。</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直感で挙手してもらう。例：モノ・風景だけ vs 人の顔・表情入り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直感で挙手してもらう。例：内容を説明 vs 続きが気になる（自分のチャンネルのビフォーアフターが最適）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公開の許可あり）。「月10万円稼ぎたい」という相談。(1)俯瞰：陸上の動画を片っ端から。多いのはスパイクのレビュー、練習vlog、速く走るコツ。プロの走りを解説するチャンネルはない。(2)成功ライン：ジャンル平均1〜2万再生。このチャンネルで3〜4年前に出したコールマンの走りの解説が3万再生＝平均より上＝需要あり。その後は本人のvlogになっていた。(3)激戦区：スパイクレビュー・vlog系。(4)空いている場所：プロの走りの徹底解説→「これなら勝てる」。結果：3本目で登録者1,000人以上増・4,000時間の見込み→4本目を出して、4本で合計約9万再生。コメントに「すごく分か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講習会や商品開発につなげる予定だった。でも会社員とYouTubeの両立では身が入りきらず、YouTubeの大変さも知って熱量が下がり、連絡も返ってこなくなって更新が止まった。動画は熱量が伝わる良い動画なので、ぜひ家で見てほしい。惜しい。教訓：正しい道筋＋無理なく続けられる体制。この2つが揃って初めて育つ。全振り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いる人はわずかなのに数値だけ良く見える。逆に需要のある大きいジャンルは母数が大きく、数値は高くならない。自分のジャンルでは伸びている動画でもクリック率3〜4%。10%だから良い評価とは限らない（初心者によくある勘違い、自分も最初はそうだった）。思い込んで続けるとこける。大事なのは届けたい人に届いているか、視聴者を意識して作れているか。自分はガチガチに設計せず、仮説を立ててすぐ作る。会社の提案は緻密に詰めて上司OKで出すが、YouTubeでそれをやると数が打てず当たる確率が下が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正しい順番：(1)視聴者理解（出す前）(2)仮説を立てて動画を作る (3)出したあと数値を見て改善。ただし数値にとらわれすぎない。一番大切なのは、やるべきことができているか。年齢などのデータの見方は最初は分からない→相談を。視聴者理解に基づいた仮説で作ることは誰でもできる。ここが一番時間がかかる。実際にお店をやっている人が感じる「お客さんの求めるもの」とも違ったりする。地道に。→次は体験ワー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出した4本（@haman100m）。どれもプロ選手の走りを「科学的に分析」する企画。ノア・ライルズ（股関節）1.4万、桐生（室内60m日本記録）1.9万、蘇炳添（10秒16→9秒83、31歳でアジア記録）3.6万、サニブラウン（ナンバ走り）1.7万。平均1〜2万のジャンルで4本とも平均以上。サムネは「選手名＋実績の数字＋〇〇で答えを隠す」型で統一→続きが気になる（ワーク第3問とつながる）。コメントにも「すごく分かりやすい」。帰って他のvlog系と見比べてみて。</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を見せて）この広告、見たことありますか？YouTubeの「好きなことで、生きていく」。ヒカキンさんのあれです。……でも、今日お伝えしたいのは、実はこの逆なんです（間）。「視聴者の」好きなことで、生きていく（笑いを取る）。自分が好きなものではなく、視聴者が好きな動画を作っていく。これが伸びるチャンネルの考え方。→次のスライドで「失敗の正体」へ。</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答え合わせ：A 7.5万／B 2.1万／C 1,086再生。Aは①「外構専門店が解説」＝誰が話すか②「これだけ抑えて！」＝初心者でも見やすい③「スタートガイド」＝何が分かるか④完成した庭の実写＝見たい結果、が一目で伝わる。Bも「外構業者の見つけ方」「抑えるべきポイント2点」で何が分かるかが明確、人の表情と実際の家の外構も入っている→2.1万。Cは「必ず見て！」だけで何が分かるか伝わらない→1,086。※チャンネル規模の差もあるが、サムネの差は見て分かる。外構・建築の会社ならA・Bの型はすぐ真似できる。 【動画を見せる】サムネをクリックするとYouTubeが開く。A→B→Cの順に、冒頭1分ずつ再生。会場の方はQRコードから手元のスマホで見られる。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43.xml"/><Relationship Id="rId6" Type="http://schemas.openxmlformats.org/officeDocument/2006/relationships/image" Target="../media/image17.png"/><Relationship Id="rId7" Type="http://schemas.openxmlformats.org/officeDocument/2006/relationships/hyperlink" Target="https://youtu.be/pu3-B_kIUVE" TargetMode="External"/><Relationship Id="rId8" Type="http://schemas.openxmlformats.org/officeDocument/2006/relationships/hyperlink" Target="https://youtu.be/S7CIe6k3ED0" TargetMode="External"/><Relationship Id="rId9" Type="http://schemas.openxmlformats.org/officeDocument/2006/relationships/hyperlink" Target="https://youtu.be/43ak-26J18M" TargetMode="External"/><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sp>
      <p:sp>
        <p:nvSpPr>
          <p:cNvPr id="9" name="Shape 7"/>
          <p:cNvSpPr/>
          <p:nvPr/>
        </p:nvSpPr>
        <p:spPr>
          <a:xfrm rot="5400000">
            <a:off x="9921240" y="1262604"/>
            <a:ext cx="548640" cy="547177"/>
          </a:xfrm>
          <a:prstGeom prst="triangle">
            <a:avLst/>
          </a:prstGeom>
          <a:solidFill>
            <a:srgbClr val="FFFFFF"/>
          </a:solidFill>
          <a:ln/>
        </p:spPr>
      </p:sp>
      <p:sp>
        <p:nvSpPr>
          <p:cNvPr id="7" name="Text 5"/>
          <p:cNvSpPr txBox="1"/>
          <p:nvPr/>
        </p:nvSpPr>
        <p:spPr>
          <a:xfrm>
            <a:off x="822960" y="5532120"/>
            <a:ext cx="10058400" cy="548640"/>
          </a:xfrm>
          <a:prstGeom prst="rect">
            <a:avLst/>
          </a:prstGeom>
          <a:noFill/>
          <a:ln/>
        </p:spPr>
        <p:txBody>
          <a:bodyPr wrap="square" lIns="0" tIns="0" rIns="0" bIns="0" rtlCol="0" anchor="ctr"/>
          <a:lstStyle/>
          <a:p>
            <a:pPr indent="0" marL="0">
              <a:buNone/>
            </a:pPr>
            <a:r>
              <a:rPr lang="en-US" sz="2400" dirty="0" b="1">
                <a:solidFill>
                  <a:srgbClr val="FFFFFF"/>
                </a:solidFill>
                <a:latin typeface="Meiryo" pitchFamily="34" charset="0"/>
                <a:ea typeface="Meiryo" pitchFamily="34" charset="-122"/>
                <a:cs typeface="Meiryo" pitchFamily="34" charset="-120"/>
              </a:rPr>
              <a:t>講師：Ykkn</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自己紹介：Ykkn（会社員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196596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74320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20040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16052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493776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34924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txBody>
          <a:bodyPr/>
          <a:p/>
        </p:txBody>
      </p:sp>
      <p:sp>
        <p:nvSpPr>
          <p:cNvPr id="6" name="Text 3"/>
          <p:cNvSpPr txBox="1"/>
          <p:nvPr/>
        </p:nvSpPr>
        <p:spPr>
          <a:xfrm>
            <a:off x="1005840" y="2103120"/>
            <a:ext cx="530352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1005840" y="2560320"/>
            <a:ext cx="530352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youtube.com/@wawawa1840</a:t>
            </a:r>
            <a:endParaRPr lang="en-US" sz="1900" dirty="0"/>
          </a:p>
        </p:txBody>
      </p:sp>
      <p:sp>
        <p:nvSpPr>
          <p:cNvPr id="9" name="Text 6"/>
          <p:cNvSpPr txBox="1"/>
          <p:nvPr/>
        </p:nvSpPr>
        <p:spPr>
          <a:xfrm>
            <a:off x="1005840" y="4023360"/>
            <a:ext cx="530352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チャンネルアートも概要欄も</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250万再生超</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しかも一発屋ではなく、コンスタントに再生を獲得</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txBody>
          <a:bodyPr/>
          <a:p/>
        </p:txBody>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txBody>
          <a:bodyPr/>
          <a:p/>
        </p:txBody>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txBody>
          <a:bodyPr/>
          <a:p/>
        </p:txBody>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概要欄は「視聴者をお客さんに変える入り口」。HP・事業内容・問い合わせ先を必ず書く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txBody>
          <a:bodyPr/>
          <a:p/>
        </p:txBody>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txBody>
          <a:bodyPr/>
          <a:p/>
        </p:txBody>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例：「シロアリ 対策」と検索すると、検索結果に動画が出てくる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あなたなら、どちらをクリック？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第1問：あなたなら、どれをクリック？</a:t>
            </a:r>
            <a:endParaRPr lang="en-US" sz="30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直感でどうぞ！　A・B・C、クリックしたいものに手を挙げてください</a:t>
            </a:r>
            <a:endParaRPr lang="en-US" sz="2000" dirty="0"/>
          </a:p>
        </p:txBody>
      </p:sp>
      <p:pic>
        <p:nvPicPr>
          <p:cNvPr id="12" name="Picture 11" descr="q1_1.png"/>
          <p:cNvPicPr>
            <a:picLocks noChangeAspect="1"/>
          </p:cNvPicPr>
          <p:nvPr/>
        </p:nvPicPr>
        <p:blipFill>
          <a:blip r:embed="rId3"/>
          <a:stretch>
            <a:fillRect/>
          </a:stretch>
        </p:blipFill>
        <p:spPr>
          <a:xfrm>
            <a:off x="640080" y="1828800"/>
            <a:ext cx="3520440" cy="1980247"/>
          </a:xfrm>
          <a:prstGeom prst="rect">
            <a:avLst/>
          </a:prstGeom>
        </p:spPr>
      </p:pic>
      <p:sp>
        <p:nvSpPr>
          <p:cNvPr id="13" name="TextBox 12"/>
          <p:cNvSpPr txBox="1"/>
          <p:nvPr/>
        </p:nvSpPr>
        <p:spPr>
          <a:xfrm>
            <a:off x="640080" y="3991927"/>
            <a:ext cx="3520440" cy="548640"/>
          </a:xfrm>
          <a:prstGeom prst="rect">
            <a:avLst/>
          </a:prstGeom>
          <a:noFill/>
        </p:spPr>
        <p:txBody>
          <a:bodyPr wrap="square" lIns="0" rIns="0" tIns="0" bIns="0">
            <a:spAutoFit/>
          </a:bodyPr>
          <a:lstStyle/>
          <a:p>
            <a:pPr algn="ctr"/>
            <a:r>
              <a:rPr sz="3200" b="1">
                <a:solidFill>
                  <a:srgbClr val="C40000"/>
                </a:solidFill>
              </a:rPr>
              <a:t>A</a:t>
            </a:r>
          </a:p>
        </p:txBody>
      </p:sp>
      <p:pic>
        <p:nvPicPr>
          <p:cNvPr id="18" name="Picture 17" descr="q1_2new.png"/>
          <p:cNvPicPr>
            <a:picLocks noChangeAspect="1"/>
          </p:cNvPicPr>
          <p:nvPr/>
        </p:nvPicPr>
        <p:blipFill>
          <a:blip r:embed="rId6"/>
          <a:stretch>
            <a:fillRect/>
          </a:stretch>
        </p:blipFill>
        <p:spPr>
          <a:xfrm>
            <a:off x="4366260" y="1828800"/>
            <a:ext cx="3520440" cy="1980247"/>
          </a:xfrm>
          <a:prstGeom prst="rect">
            <a:avLst/>
          </a:prstGeom>
        </p:spPr>
      </p:pic>
      <p:sp>
        <p:nvSpPr>
          <p:cNvPr id="15" name="TextBox 14"/>
          <p:cNvSpPr txBox="1"/>
          <p:nvPr/>
        </p:nvSpPr>
        <p:spPr>
          <a:xfrm>
            <a:off x="4366260" y="3991927"/>
            <a:ext cx="3520440" cy="548640"/>
          </a:xfrm>
          <a:prstGeom prst="rect">
            <a:avLst/>
          </a:prstGeom>
          <a:noFill/>
        </p:spPr>
        <p:txBody>
          <a:bodyPr wrap="square" lIns="0" rIns="0" tIns="0" bIns="0">
            <a:spAutoFit/>
          </a:bodyPr>
          <a:lstStyle/>
          <a:p>
            <a:pPr algn="ctr"/>
            <a:r>
              <a:rPr sz="3200" b="1">
                <a:solidFill>
                  <a:srgbClr val="C40000"/>
                </a:solidFill>
              </a:rPr>
              <a:t>B</a:t>
            </a:r>
          </a:p>
        </p:txBody>
      </p:sp>
      <p:pic>
        <p:nvPicPr>
          <p:cNvPr id="16" name="Picture 15" descr="q1_3.png"/>
          <p:cNvPicPr>
            <a:picLocks noChangeAspect="1"/>
          </p:cNvPicPr>
          <p:nvPr/>
        </p:nvPicPr>
        <p:blipFill>
          <a:blip r:embed="rId5"/>
          <a:stretch>
            <a:fillRect/>
          </a:stretch>
        </p:blipFill>
        <p:spPr>
          <a:xfrm>
            <a:off x="8092440" y="1828800"/>
            <a:ext cx="3520440" cy="1980247"/>
          </a:xfrm>
          <a:prstGeom prst="rect">
            <a:avLst/>
          </a:prstGeom>
        </p:spPr>
      </p:pic>
      <p:sp>
        <p:nvSpPr>
          <p:cNvPr id="17" name="TextBox 16"/>
          <p:cNvSpPr txBox="1"/>
          <p:nvPr/>
        </p:nvSpPr>
        <p:spPr>
          <a:xfrm>
            <a:off x="8092440" y="3991927"/>
            <a:ext cx="3520440" cy="548640"/>
          </a:xfrm>
          <a:prstGeom prst="rect">
            <a:avLst/>
          </a:prstGeom>
          <a:noFill/>
        </p:spPr>
        <p:txBody>
          <a:bodyPr wrap="square" lIns="0" rIns="0" tIns="0" bIns="0">
            <a:spAutoFit/>
          </a:bodyPr>
          <a:lstStyle/>
          <a:p>
            <a:pPr algn="ctr"/>
            <a:r>
              <a:rPr sz="3200" b="1">
                <a:solidFill>
                  <a:srgbClr val="C40000"/>
                </a:solidFill>
              </a:rPr>
              <a:t>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　答え合わせ</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第1問の答え：再生数はこれだけ違う</a:t>
            </a:r>
            <a:endParaRPr lang="en-US" sz="30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b="1">
                <a:solidFill>
                  <a:srgbClr val="C40000"/>
                </a:solidFill>
                <a:latin typeface="Meiryo" pitchFamily="34" charset="0"/>
                <a:ea typeface="Meiryo" pitchFamily="34" charset="-122"/>
                <a:cs typeface="Meiryo" pitchFamily="34" charset="-120"/>
              </a:rPr>
              <a:t>「誰が」「何を教えてくれるか」が一目で分かるサムネが、選ばれる</a:t>
            </a:r>
            <a:endParaRPr lang="en-US" sz="2000" dirty="0"/>
          </a:p>
        </p:txBody>
      </p:sp>
      <p:pic>
        <p:nvPicPr>
          <p:cNvPr id="12" name="Picture 11" descr="q1_1.png">
            <a:hlinkClick r:id="rId7"/>
          </p:cNvPr>
          <p:cNvPicPr>
            <a:picLocks noChangeAspect="1"/>
          </p:cNvPicPr>
          <p:nvPr/>
        </p:nvPicPr>
        <p:blipFill>
          <a:blip r:embed="rId2"/>
          <a:stretch>
            <a:fillRect/>
          </a:stretch>
        </p:blipFill>
        <p:spPr>
          <a:xfrm>
            <a:off x="640080" y="1828800"/>
            <a:ext cx="3520440" cy="1980247"/>
          </a:xfrm>
          <a:prstGeom prst="rect">
            <a:avLst/>
          </a:prstGeom>
        </p:spPr>
      </p:pic>
      <p:sp>
        <p:nvSpPr>
          <p:cNvPr id="13" name="TextBox 12"/>
          <p:cNvSpPr txBox="1"/>
          <p:nvPr/>
        </p:nvSpPr>
        <p:spPr>
          <a:xfrm>
            <a:off x="640080" y="3991927"/>
            <a:ext cx="2331720" cy="548640"/>
          </a:xfrm>
          <a:prstGeom prst="rect">
            <a:avLst/>
          </a:prstGeom>
          <a:noFill/>
        </p:spPr>
        <p:txBody>
          <a:bodyPr wrap="square" lIns="0" rIns="0" tIns="0" bIns="0">
            <a:spAutoFit/>
          </a:bodyPr>
          <a:lstStyle/>
          <a:p>
            <a:pPr algn="l"/>
            <a:r>
              <a:rPr sz="3200" b="1">
                <a:solidFill>
                  <a:srgbClr val="C40000"/>
                </a:solidFill>
              </a:rPr>
              <a:t>A</a:t>
            </a:r>
          </a:p>
        </p:txBody>
      </p:sp>
      <p:pic>
        <p:nvPicPr>
          <p:cNvPr id="22" name="Picture 21" descr="q1_2new.png">
            <a:hlinkClick r:id="rId8"/>
          </p:cNvPr>
          <p:cNvPicPr>
            <a:picLocks noChangeAspect="1"/>
          </p:cNvPicPr>
          <p:nvPr/>
        </p:nvPicPr>
        <p:blipFill>
          <a:blip r:embed="rId6"/>
          <a:stretch>
            <a:fillRect/>
          </a:stretch>
        </p:blipFill>
        <p:spPr>
          <a:xfrm>
            <a:off x="4366260" y="1828800"/>
            <a:ext cx="3520440" cy="1980247"/>
          </a:xfrm>
          <a:prstGeom prst="rect">
            <a:avLst/>
          </a:prstGeom>
        </p:spPr>
      </p:pic>
      <p:sp>
        <p:nvSpPr>
          <p:cNvPr id="15" name="TextBox 14"/>
          <p:cNvSpPr txBox="1"/>
          <p:nvPr/>
        </p:nvSpPr>
        <p:spPr>
          <a:xfrm>
            <a:off x="4366260" y="3991927"/>
            <a:ext cx="2331720" cy="548640"/>
          </a:xfrm>
          <a:prstGeom prst="rect">
            <a:avLst/>
          </a:prstGeom>
          <a:noFill/>
        </p:spPr>
        <p:txBody>
          <a:bodyPr wrap="square" lIns="0" rIns="0" tIns="0" bIns="0">
            <a:spAutoFit/>
          </a:bodyPr>
          <a:lstStyle/>
          <a:p>
            <a:pPr algn="l"/>
            <a:r>
              <a:rPr sz="3200" b="1">
                <a:solidFill>
                  <a:srgbClr val="C40000"/>
                </a:solidFill>
              </a:rPr>
              <a:t>B</a:t>
            </a:r>
          </a:p>
        </p:txBody>
      </p:sp>
      <p:pic>
        <p:nvPicPr>
          <p:cNvPr id="16" name="Picture 15" descr="q1_3.png">
            <a:hlinkClick r:id="rId9"/>
          </p:cNvPr>
          <p:cNvPicPr>
            <a:picLocks noChangeAspect="1"/>
          </p:cNvPicPr>
          <p:nvPr/>
        </p:nvPicPr>
        <p:blipFill>
          <a:blip r:embed="rId4"/>
          <a:stretch>
            <a:fillRect/>
          </a:stretch>
        </p:blipFill>
        <p:spPr>
          <a:xfrm>
            <a:off x="8092440" y="1828800"/>
            <a:ext cx="3520440" cy="1980247"/>
          </a:xfrm>
          <a:prstGeom prst="rect">
            <a:avLst/>
          </a:prstGeom>
        </p:spPr>
      </p:pic>
      <p:sp>
        <p:nvSpPr>
          <p:cNvPr id="17" name="TextBox 16"/>
          <p:cNvSpPr txBox="1"/>
          <p:nvPr/>
        </p:nvSpPr>
        <p:spPr>
          <a:xfrm>
            <a:off x="8092440" y="3991927"/>
            <a:ext cx="2331720" cy="548640"/>
          </a:xfrm>
          <a:prstGeom prst="rect">
            <a:avLst/>
          </a:prstGeom>
          <a:noFill/>
        </p:spPr>
        <p:txBody>
          <a:bodyPr wrap="square" lIns="0" rIns="0" tIns="0" bIns="0">
            <a:spAutoFit/>
          </a:bodyPr>
          <a:lstStyle/>
          <a:p>
            <a:pPr algn="l"/>
            <a:r>
              <a:rPr sz="3200" b="1">
                <a:solidFill>
                  <a:srgbClr val="C40000"/>
                </a:solidFill>
              </a:rPr>
              <a:t>C</a:t>
            </a:r>
          </a:p>
        </p:txBody>
      </p:sp>
      <p:sp>
        <p:nvSpPr>
          <p:cNvPr id="18" name="TextBox 17"/>
          <p:cNvSpPr txBox="1"/>
          <p:nvPr/>
        </p:nvSpPr>
        <p:spPr>
          <a:xfrm>
            <a:off x="640080" y="4540567"/>
            <a:ext cx="2331720" cy="548640"/>
          </a:xfrm>
          <a:prstGeom prst="rect">
            <a:avLst/>
          </a:prstGeom>
          <a:noFill/>
        </p:spPr>
        <p:txBody>
          <a:bodyPr wrap="square" lIns="0" rIns="0" tIns="0" bIns="0">
            <a:spAutoFit/>
          </a:bodyPr>
          <a:lstStyle/>
          <a:p>
            <a:pPr algn="l"/>
            <a:r>
              <a:rPr sz="3000" b="1">
                <a:solidFill>
                  <a:srgbClr val="C40000"/>
                </a:solidFill>
              </a:rPr>
              <a:t>7.5万再生</a:t>
            </a:r>
          </a:p>
        </p:txBody>
      </p:sp>
      <p:sp>
        <p:nvSpPr>
          <p:cNvPr id="19" name="Rectangle 18"/>
          <p:cNvSpPr/>
          <p:nvPr/>
        </p:nvSpPr>
        <p:spPr>
          <a:xfrm>
            <a:off x="585215" y="1773936"/>
            <a:ext cx="3630168" cy="2089975"/>
          </a:xfrm>
          <a:prstGeom prst="rect">
            <a:avLst/>
          </a:prstGeom>
          <a:noFill/>
          <a:ln w="635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66260" y="4540567"/>
            <a:ext cx="2331720" cy="548640"/>
          </a:xfrm>
          <a:prstGeom prst="rect">
            <a:avLst/>
          </a:prstGeom>
          <a:noFill/>
        </p:spPr>
        <p:txBody>
          <a:bodyPr wrap="square" lIns="0" rIns="0" tIns="0" bIns="0">
            <a:spAutoFit/>
          </a:bodyPr>
          <a:lstStyle/>
          <a:p>
            <a:pPr algn="l"/>
            <a:r>
              <a:rPr sz="2400" b="1">
                <a:solidFill>
                  <a:srgbClr val="555555"/>
                </a:solidFill>
              </a:rPr>
              <a:t>2.1万再生</a:t>
            </a:r>
          </a:p>
        </p:txBody>
      </p:sp>
      <p:sp>
        <p:nvSpPr>
          <p:cNvPr id="21" name="TextBox 20"/>
          <p:cNvSpPr txBox="1"/>
          <p:nvPr/>
        </p:nvSpPr>
        <p:spPr>
          <a:xfrm>
            <a:off x="8092440" y="4540567"/>
            <a:ext cx="2331720" cy="548640"/>
          </a:xfrm>
          <a:prstGeom prst="rect">
            <a:avLst/>
          </a:prstGeom>
          <a:noFill/>
        </p:spPr>
        <p:txBody>
          <a:bodyPr wrap="square" lIns="0" rIns="0" tIns="0" bIns="0">
            <a:spAutoFit/>
          </a:bodyPr>
          <a:lstStyle/>
          <a:p>
            <a:pPr algn="l"/>
            <a:r>
              <a:rPr sz="2400" b="1">
                <a:solidFill>
                  <a:srgbClr val="555555"/>
                </a:solidFill>
              </a:rPr>
              <a:t>1,086再生</a:t>
            </a:r>
          </a:p>
        </p:txBody>
      </p:sp>
      <p:pic>
        <p:nvPicPr>
          <p:cNvPr id="23" name="Picture 22" descr="qr_q1_0.png">
            <a:hlinkClick r:id="rId7"/>
          </p:cNvPr>
          <p:cNvPicPr>
            <a:picLocks noChangeAspect="1"/>
          </p:cNvPicPr>
          <p:nvPr/>
        </p:nvPicPr>
        <p:blipFill>
          <a:blip r:embed="rId10"/>
          <a:stretch>
            <a:fillRect/>
          </a:stretch>
        </p:blipFill>
        <p:spPr>
          <a:xfrm>
            <a:off x="3108960" y="3946207"/>
            <a:ext cx="1051560" cy="1051560"/>
          </a:xfrm>
          <a:prstGeom prst="rect">
            <a:avLst/>
          </a:prstGeom>
        </p:spPr>
      </p:pic>
      <p:pic>
        <p:nvPicPr>
          <p:cNvPr id="24" name="Picture 23" descr="qr_q1_1.png">
            <a:hlinkClick r:id="rId8"/>
          </p:cNvPr>
          <p:cNvPicPr>
            <a:picLocks noChangeAspect="1"/>
          </p:cNvPicPr>
          <p:nvPr/>
        </p:nvPicPr>
        <p:blipFill>
          <a:blip r:embed="rId11"/>
          <a:stretch>
            <a:fillRect/>
          </a:stretch>
        </p:blipFill>
        <p:spPr>
          <a:xfrm>
            <a:off x="6835140" y="3946207"/>
            <a:ext cx="1051560" cy="1051560"/>
          </a:xfrm>
          <a:prstGeom prst="rect">
            <a:avLst/>
          </a:prstGeom>
        </p:spPr>
      </p:pic>
      <p:pic>
        <p:nvPicPr>
          <p:cNvPr id="25" name="Picture 24" descr="qr_q1_2.png">
            <a:hlinkClick r:id="rId9"/>
          </p:cNvPr>
          <p:cNvPicPr>
            <a:picLocks noChangeAspect="1"/>
          </p:cNvPicPr>
          <p:nvPr/>
        </p:nvPicPr>
        <p:blipFill>
          <a:blip r:embed="rId12"/>
          <a:stretch>
            <a:fillRect/>
          </a:stretch>
        </p:blipFill>
        <p:spPr>
          <a:xfrm>
            <a:off x="10561319" y="3946207"/>
            <a:ext cx="1051560" cy="10515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2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第2問：あなたなら、どちらをクリック？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3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第3問：あなたなら、どちらをクリック？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txBody>
          <a:bodyPr/>
          <a:p/>
        </p:txBody>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陸上の動画を片っ端から見る。</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多いのはスパイクのレビュー、練習vlog、走り方のコツ</a:t>
            </a:r>
            <a:endParaRPr lang="en-US" sz="1800" dirty="0"/>
          </a:p>
        </p:txBody>
      </p:sp>
      <p:sp>
        <p:nvSpPr>
          <p:cNvPr id="9" name="Shape 6"/>
          <p:cNvSpPr/>
          <p:nvPr/>
        </p:nvSpPr>
        <p:spPr>
          <a:xfrm>
            <a:off x="731520" y="2944368"/>
            <a:ext cx="475488" cy="475488"/>
          </a:xfrm>
          <a:prstGeom prst="ellipse">
            <a:avLst/>
          </a:prstGeom>
          <a:solidFill>
            <a:srgbClr val="C40000"/>
          </a:solidFill>
          <a:ln/>
        </p:spPr>
        <p:txBody>
          <a:bodyPr/>
          <a:p/>
        </p:txBody>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ジャンルの平均は1〜2万再生。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過去のコールマン解説は3万再生＝需要あり</a:t>
            </a:r>
            <a:endParaRPr lang="en-US" sz="1800" dirty="0"/>
          </a:p>
        </p:txBody>
      </p:sp>
      <p:sp>
        <p:nvSpPr>
          <p:cNvPr id="13" name="Shape 10"/>
          <p:cNvSpPr/>
          <p:nvPr/>
        </p:nvSpPr>
        <p:spPr>
          <a:xfrm>
            <a:off x="731520" y="3995928"/>
            <a:ext cx="475488" cy="475488"/>
          </a:xfrm>
          <a:prstGeom prst="ellipse">
            <a:avLst/>
          </a:prstGeom>
          <a:solidFill>
            <a:srgbClr val="C40000"/>
          </a:solidFill>
          <a:ln/>
        </p:spPr>
        <p:txBody>
          <a:bodyPr/>
          <a:p/>
        </p:txBody>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スパイクのレビューや練習vlogは、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強い人がひしめく激戦区</a:t>
            </a:r>
            <a:endParaRPr lang="en-US" sz="1800" dirty="0"/>
          </a:p>
        </p:txBody>
      </p:sp>
      <p:sp>
        <p:nvSpPr>
          <p:cNvPr id="17" name="Shape 14"/>
          <p:cNvSpPr/>
          <p:nvPr/>
        </p:nvSpPr>
        <p:spPr>
          <a:xfrm>
            <a:off x="731520" y="5047488"/>
            <a:ext cx="475488" cy="475488"/>
          </a:xfrm>
          <a:prstGeom prst="ellipse">
            <a:avLst/>
          </a:prstGeom>
          <a:solidFill>
            <a:srgbClr val="8A0000"/>
          </a:solidFill>
          <a:ln/>
        </p:spPr>
        <p:txBody>
          <a:bodyPr/>
          <a:p/>
        </p:txBody>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プロの走りを徹底解説するチャンネルがない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3本で登録者1,000人以上増・4,000時間達成。4本で合計約9万再生</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ACTUAL VIDEOS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実際に出した4本：プロの走りを「科学的に分析」</a:t>
            </a:r>
            <a:endParaRPr lang="en-US" sz="30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平均1〜2万再生のジャンルで、4本すべてが平均以上。蘇炳添は3.6万再生</a:t>
            </a:r>
            <a:endParaRPr lang="en-US" sz="1900" dirty="0"/>
          </a:p>
        </p:txBody>
      </p:sp>
      <p:pic>
        <p:nvPicPr>
          <p:cNvPr id="22" name="Picture 21" descr="th_lyles_f.png"/>
          <p:cNvPicPr>
            <a:picLocks noChangeAspect="1"/>
          </p:cNvPicPr>
          <p:nvPr/>
        </p:nvPicPr>
        <p:blipFill>
          <a:blip r:embed="rId2"/>
          <a:stretch>
            <a:fillRect/>
          </a:stretch>
        </p:blipFill>
        <p:spPr>
          <a:xfrm>
            <a:off x="640080" y="1965960"/>
            <a:ext cx="2606040" cy="1465897"/>
          </a:xfrm>
          <a:prstGeom prst="rect">
            <a:avLst/>
          </a:prstGeom>
        </p:spPr>
      </p:pic>
      <p:sp>
        <p:nvSpPr>
          <p:cNvPr id="23" name="TextBox 22"/>
          <p:cNvSpPr txBox="1"/>
          <p:nvPr/>
        </p:nvSpPr>
        <p:spPr>
          <a:xfrm>
            <a:off x="640080" y="3569017"/>
            <a:ext cx="2606040" cy="822960"/>
          </a:xfrm>
          <a:prstGeom prst="rect">
            <a:avLst/>
          </a:prstGeom>
          <a:noFill/>
        </p:spPr>
        <p:txBody>
          <a:bodyPr wrap="square" lIns="0" rIns="0" tIns="0" bIns="0">
            <a:spAutoFit/>
          </a:bodyPr>
          <a:lstStyle/>
          <a:p>
            <a:r>
              <a:rPr sz="1600" b="1">
                <a:solidFill>
                  <a:srgbClr val="222222"/>
                </a:solidFill>
              </a:rPr>
              <a:t>ノア・ライルズ</a:t>
            </a:r>
          </a:p>
          <a:p>
            <a:r>
              <a:rPr sz="2200" b="1">
                <a:solidFill>
                  <a:srgbClr val="C40000"/>
                </a:solidFill>
              </a:rPr>
              <a:t>1.4万再生</a:t>
            </a:r>
          </a:p>
        </p:txBody>
      </p:sp>
      <p:pic>
        <p:nvPicPr>
          <p:cNvPr id="24" name="Picture 23" descr="th_kiryu_f.png"/>
          <p:cNvPicPr>
            <a:picLocks noChangeAspect="1"/>
          </p:cNvPicPr>
          <p:nvPr/>
        </p:nvPicPr>
        <p:blipFill>
          <a:blip r:embed="rId3"/>
          <a:stretch>
            <a:fillRect/>
          </a:stretch>
        </p:blipFill>
        <p:spPr>
          <a:xfrm>
            <a:off x="3429000" y="1965960"/>
            <a:ext cx="2606040" cy="1465897"/>
          </a:xfrm>
          <a:prstGeom prst="rect">
            <a:avLst/>
          </a:prstGeom>
        </p:spPr>
      </p:pic>
      <p:sp>
        <p:nvSpPr>
          <p:cNvPr id="25" name="TextBox 24"/>
          <p:cNvSpPr txBox="1"/>
          <p:nvPr/>
        </p:nvSpPr>
        <p:spPr>
          <a:xfrm>
            <a:off x="3429000" y="3569017"/>
            <a:ext cx="2606040" cy="822960"/>
          </a:xfrm>
          <a:prstGeom prst="rect">
            <a:avLst/>
          </a:prstGeom>
          <a:noFill/>
        </p:spPr>
        <p:txBody>
          <a:bodyPr wrap="square" lIns="0" rIns="0" tIns="0" bIns="0">
            <a:spAutoFit/>
          </a:bodyPr>
          <a:lstStyle/>
          <a:p>
            <a:r>
              <a:rPr sz="1600" b="1">
                <a:solidFill>
                  <a:srgbClr val="222222"/>
                </a:solidFill>
              </a:rPr>
              <a:t>桐生祥秀</a:t>
            </a:r>
          </a:p>
          <a:p>
            <a:r>
              <a:rPr sz="2200" b="1">
                <a:solidFill>
                  <a:srgbClr val="C40000"/>
                </a:solidFill>
              </a:rPr>
              <a:t>1.9万再生</a:t>
            </a:r>
          </a:p>
        </p:txBody>
      </p:sp>
      <p:pic>
        <p:nvPicPr>
          <p:cNvPr id="26" name="Picture 25" descr="th_su_f.png"/>
          <p:cNvPicPr>
            <a:picLocks noChangeAspect="1"/>
          </p:cNvPicPr>
          <p:nvPr/>
        </p:nvPicPr>
        <p:blipFill>
          <a:blip r:embed="rId4"/>
          <a:stretch>
            <a:fillRect/>
          </a:stretch>
        </p:blipFill>
        <p:spPr>
          <a:xfrm>
            <a:off x="6217920" y="1965960"/>
            <a:ext cx="2606040" cy="1465897"/>
          </a:xfrm>
          <a:prstGeom prst="rect">
            <a:avLst/>
          </a:prstGeom>
        </p:spPr>
      </p:pic>
      <p:sp>
        <p:nvSpPr>
          <p:cNvPr id="27" name="TextBox 26"/>
          <p:cNvSpPr txBox="1"/>
          <p:nvPr/>
        </p:nvSpPr>
        <p:spPr>
          <a:xfrm>
            <a:off x="6217920" y="3569017"/>
            <a:ext cx="2606040" cy="822960"/>
          </a:xfrm>
          <a:prstGeom prst="rect">
            <a:avLst/>
          </a:prstGeom>
          <a:noFill/>
        </p:spPr>
        <p:txBody>
          <a:bodyPr wrap="square" lIns="0" rIns="0" tIns="0" bIns="0">
            <a:spAutoFit/>
          </a:bodyPr>
          <a:lstStyle/>
          <a:p>
            <a:r>
              <a:rPr sz="1600" b="1">
                <a:solidFill>
                  <a:srgbClr val="222222"/>
                </a:solidFill>
              </a:rPr>
              <a:t>蘇炳添</a:t>
            </a:r>
          </a:p>
          <a:p>
            <a:r>
              <a:rPr sz="2200" b="1">
                <a:solidFill>
                  <a:srgbClr val="C40000"/>
                </a:solidFill>
              </a:rPr>
              <a:t>3.6万再生</a:t>
            </a:r>
          </a:p>
        </p:txBody>
      </p:sp>
      <p:pic>
        <p:nvPicPr>
          <p:cNvPr id="28" name="Picture 27" descr="th_sani_f.png"/>
          <p:cNvPicPr>
            <a:picLocks noChangeAspect="1"/>
          </p:cNvPicPr>
          <p:nvPr/>
        </p:nvPicPr>
        <p:blipFill>
          <a:blip r:embed="rId5"/>
          <a:stretch>
            <a:fillRect/>
          </a:stretch>
        </p:blipFill>
        <p:spPr>
          <a:xfrm>
            <a:off x="9006840" y="1965960"/>
            <a:ext cx="2606040" cy="1465897"/>
          </a:xfrm>
          <a:prstGeom prst="rect">
            <a:avLst/>
          </a:prstGeom>
        </p:spPr>
      </p:pic>
      <p:sp>
        <p:nvSpPr>
          <p:cNvPr id="29" name="TextBox 28"/>
          <p:cNvSpPr txBox="1"/>
          <p:nvPr/>
        </p:nvSpPr>
        <p:spPr>
          <a:xfrm>
            <a:off x="9006840" y="3569017"/>
            <a:ext cx="2606040" cy="822960"/>
          </a:xfrm>
          <a:prstGeom prst="rect">
            <a:avLst/>
          </a:prstGeom>
          <a:noFill/>
        </p:spPr>
        <p:txBody>
          <a:bodyPr wrap="square" lIns="0" rIns="0" tIns="0" bIns="0">
            <a:spAutoFit/>
          </a:bodyPr>
          <a:lstStyle/>
          <a:p>
            <a:r>
              <a:rPr sz="1600" b="1">
                <a:solidFill>
                  <a:srgbClr val="222222"/>
                </a:solidFill>
              </a:rPr>
              <a:t>サニブラウン</a:t>
            </a:r>
          </a:p>
          <a:p>
            <a:r>
              <a:rPr sz="2200" b="1">
                <a:solidFill>
                  <a:srgbClr val="C40000"/>
                </a:solidFill>
              </a:rPr>
              <a:t>1.7万再生</a:t>
            </a:r>
          </a:p>
        </p:txBody>
      </p:sp>
      <p:sp>
        <p:nvSpPr>
          <p:cNvPr id="7" name="Shape 4"/>
          <p:cNvSpPr/>
          <p:nvPr/>
        </p:nvSpPr>
        <p:spPr>
          <a:xfrm>
            <a:off x="640080" y="4480560"/>
            <a:ext cx="10972800" cy="1143000"/>
          </a:xfrm>
          <a:prstGeom prst="roundRect">
            <a:avLst>
              <a:gd name="adj" fmla="val 5455"/>
            </a:avLst>
          </a:prstGeom>
          <a:solidFill>
            <a:srgbClr val="FFF3C4"/>
          </a:solidFill>
          <a:ln/>
        </p:spPr>
      </p:sp>
      <p:sp>
        <p:nvSpPr>
          <p:cNvPr id="30" name="TextBox 29"/>
          <p:cNvSpPr txBox="1"/>
          <p:nvPr/>
        </p:nvSpPr>
        <p:spPr>
          <a:xfrm>
            <a:off x="1005840" y="4480560"/>
            <a:ext cx="10241280" cy="1143000"/>
          </a:xfrm>
          <a:prstGeom prst="rect">
            <a:avLst/>
          </a:prstGeom>
          <a:noFill/>
        </p:spPr>
        <p:txBody>
          <a:bodyPr wrap="square" anchor="ctr" lIns="0" rIns="0" tIns="0" bIns="0">
            <a:spAutoFit/>
          </a:bodyPr>
          <a:lstStyle/>
          <a:p>
            <a:r>
              <a:rPr sz="1400" b="1">
                <a:solidFill>
                  <a:srgbClr val="C40000"/>
                </a:solidFill>
              </a:rPr>
              <a:t>サムネの共通の型</a:t>
            </a:r>
          </a:p>
          <a:p>
            <a:r>
              <a:rPr sz="2000" b="1">
                <a:solidFill>
                  <a:srgbClr val="222222"/>
                </a:solidFill>
              </a:rPr>
              <a:t>選手名 ＋ 実績の数字 ＋「〇〇」で答えを隠す → 続きが気になって、クリックしたくなる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PLAN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目標「月10万円」から逆算する</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上限を見積もる</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プロの走りの解説は、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1本あたり最大10万再生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くらいが上限の見込み</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収益を計算する</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週1本×10万再生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＝月40万再生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×1再生 約0.3円</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＝月10万円前後</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上乗せする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走り方の講習会</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（1人1,000円など）や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自社商品の開発につなげる</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本人の実績（社会人から100m 11秒台→10秒台）が、解説の説得力になる</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講習会や商品開発につなげる予定だったが、会社員とYouTubeの両立で熱量が下がり、</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連絡も途絶えがちに。途中で更新が止まってしまった。……惜しい。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よくある失敗：「好きなことで、生きていく」？</a:t>
            </a:r>
            <a:endParaRPr lang="en-US" sz="3000" dirty="0"/>
          </a:p>
        </p:txBody>
      </p:sp>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自分の「好き」ではなく、視聴者の「好き」を動画にする</a:t>
            </a:r>
          </a:p>
        </p:txBody>
      </p:sp>
      <p:pic>
        <p:nvPicPr>
          <p:cNvPr id="6" name="Picture 5" descr="hikakin_ad.png"/>
          <p:cNvPicPr>
            <a:picLocks noChangeAspect="1"/>
          </p:cNvPicPr>
          <p:nvPr/>
        </p:nvPicPr>
        <p:blipFill>
          <a:blip r:embed="rId2"/>
          <a:stretch>
            <a:fillRect/>
          </a:stretch>
        </p:blipFill>
        <p:spPr>
          <a:xfrm>
            <a:off x="822960" y="1783080"/>
            <a:ext cx="3840480" cy="3200400"/>
          </a:xfrm>
          <a:prstGeom prst="rect">
            <a:avLst/>
          </a:prstGeom>
        </p:spPr>
      </p:pic>
      <p:sp>
        <p:nvSpPr>
          <p:cNvPr id="7" name="TextBox 6"/>
          <p:cNvSpPr txBox="1"/>
          <p:nvPr/>
        </p:nvSpPr>
        <p:spPr>
          <a:xfrm>
            <a:off x="822960" y="5074920"/>
            <a:ext cx="3840480" cy="320040"/>
          </a:xfrm>
          <a:prstGeom prst="rect">
            <a:avLst/>
          </a:prstGeom>
          <a:noFill/>
        </p:spPr>
        <p:txBody>
          <a:bodyPr wrap="square" anchor="t" lIns="0" rIns="0" tIns="0" bIns="0">
            <a:spAutoFit/>
          </a:bodyPr>
          <a:lstStyle/>
          <a:p>
            <a:pPr algn="l"/>
            <a:r>
              <a:rPr sz="1000" b="0">
                <a:solidFill>
                  <a:srgbClr val="777777"/>
                </a:solidFill>
              </a:rPr>
              <a:t>出典：YouTube「好きなことで、生きていく」広告（2014年）</a:t>
            </a:r>
          </a:p>
        </p:txBody>
      </p:sp>
      <p:sp>
        <p:nvSpPr>
          <p:cNvPr id="8" name="TextBox 7"/>
          <p:cNvSpPr txBox="1"/>
          <p:nvPr/>
        </p:nvSpPr>
        <p:spPr>
          <a:xfrm>
            <a:off x="5212080" y="1783080"/>
            <a:ext cx="6309360" cy="3200400"/>
          </a:xfrm>
          <a:prstGeom prst="rect">
            <a:avLst/>
          </a:prstGeom>
          <a:noFill/>
        </p:spPr>
        <p:txBody>
          <a:bodyPr wrap="square" anchor="ctr" lIns="0" rIns="0" tIns="0" bIns="0">
            <a:spAutoFit/>
          </a:bodyPr>
          <a:lstStyle/>
          <a:p>
            <a:pPr algn="l">
              <a:spcAft>
                <a:spcPts val="1400"/>
              </a:spcAft>
            </a:pPr>
            <a:r>
              <a:rPr sz="1800" b="1">
                <a:solidFill>
                  <a:srgbClr val="555555"/>
                </a:solidFill>
              </a:rPr>
              <a:t>YouTubeで伸ばしたいなら…</a:t>
            </a:r>
          </a:p>
          <a:p>
            <a:pPr algn="l">
              <a:spcAft>
                <a:spcPts val="600"/>
              </a:spcAft>
            </a:pPr>
            <a:r>
              <a:rPr sz="2800" b="1" strike="sngStrike">
                <a:solidFill>
                  <a:srgbClr val="999999"/>
                </a:solidFill>
              </a:rPr>
              <a:t>好きなことで、生きていく</a:t>
            </a:r>
          </a:p>
          <a:p>
            <a:pPr algn="l">
              <a:spcAft>
                <a:spcPts val="600"/>
              </a:spcAft>
            </a:pPr>
            <a:r>
              <a:rPr sz="2800" b="1">
                <a:solidFill>
                  <a:srgbClr val="C40000"/>
                </a:solidFill>
              </a:rPr>
              <a:t>↓</a:t>
            </a:r>
          </a:p>
          <a:p>
            <a:pPr algn="l">
              <a:spcAft>
                <a:spcPts val="0"/>
              </a:spcAft>
            </a:pPr>
            <a:r>
              <a:rPr sz="4000" b="1">
                <a:solidFill>
                  <a:srgbClr val="C40000"/>
                </a:solidFill>
              </a:rPr>
              <a:t>視聴者の</a:t>
            </a:r>
          </a:p>
          <a:p>
            <a:pPr algn="l">
              <a:spcAft>
                <a:spcPts val="0"/>
              </a:spcAft>
            </a:pPr>
            <a:r>
              <a:rPr sz="3600" b="1">
                <a:solidFill>
                  <a:srgbClr val="222222"/>
                </a:solidFill>
              </a:rPr>
              <a:t>好きなことで、生きていく</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注意点①：素材の著作権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txBody>
          <a:bodyPr/>
          <a:p/>
        </p:txBody>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10607040" cy="91440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