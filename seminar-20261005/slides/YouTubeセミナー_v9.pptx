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78" r:id="rId24"/>
    <p:sldId id="279" r:id="rId25"/>
    <p:sldId id="280" r:id="rId26"/>
    <p:sldId id="281" r:id="rId27"/>
    <p:sldId id="282" r:id="rId28"/>
    <p:sldId id="283" r:id="rId29"/>
    <p:sldId id="284" r:id="rId30"/>
    <p:sldId id="285" r:id="rId31"/>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6.xml"/><Relationship Id="rId35" Type="http://schemas.openxmlformats.org/officeDocument/2006/relationships/slide" Target="slides/slide37.xml"/><Relationship Id="rId36" Type="http://schemas.openxmlformats.org/officeDocument/2006/relationships/slide" Target="slides/slide38.xml"/><Relationship Id="rId37" Type="http://schemas.openxmlformats.org/officeDocument/2006/relationships/slide" Target="slides/slide39.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4.xml"/><Relationship Id="rId46"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昨日、YouTubeかInstagramかX、どれか開きませんでしたか？→ほとんど開いている。お客さんも同じ。SNSは無料で広告を打てる＝競合優位性。企業なら広告を打つ策が必要な場面もあるが、再生数さえ伸ばせば自社の打ち手が出てくる。自分の例：広告収益のみ＋楽天などのアフィリエイトで少し。これも再生数を取ってからの舵取り。土台があれば選べる手が増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の2店。片方はSNSで毎週発信して集客、片方は何もしない。数年後は全然違う運営に。片方は広告費ゼロで客が来る仕組み、片方は集客のたびに支払い続ける。SNSで集客できれば、同業者とまったく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すべてのジャンルが同じようにバズりやすいわけではない。取りやすいジャンル・取りにくいジャンルがある。自分のジャンルの相場を把握することが先。個別相談でも伝えられる部分。</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して発信する＝やってはいけないことをすれば炎上につながる。発信力・競合優位性の分だけデメリットも生まれる。リスクを分かっていれば、やるべき事・やってはいけない事が見える。最後はご自身の考えを大事に判断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メリットは集客だけじゃない。(1)広告収益：YouTube自体から金が入る。その収益を「種銭」として事業に充てられる（設備・仕入れ・発信への再投資） (2)案件：影響力がつくと企業から向こうから仕事が来る (3)幅が広がる：入り口が増える＝事業の選択肢が増える。まとめ：SNSを伸ばせる力がつけば、そのまま事業を大きくできる。SNS運用は事業の武器。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ここから「チャンネルの作り方」…と言いつつ、今日は開設手順の細かい説明はしません。「え、それを聞きに来たんだけど」と思った方も安心を。ちゃんと理由がある→次スライドで。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概要欄などの手順はこの動画でOK。配布資料にもリンクあり。帰ってからこの通りに進めれば開設できる。なぜ今日詳しくやらないか→チャンネルページはそこまで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の画面を見せる）パッと見て、何のチャンネルか分からないですよね？（会場の反応を見る）アートも概要欄も作り込まれていない。でも最高250万再生超、しかもコンスタントに再生が取れている。古いチャンネルだが、こういう例もある。結論：チャンネルページの役割は「どういうチャンネルか」を知ってもらうだけで十分。世界観は動画の中で伝えるもの。視聴者は動画を見てファン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動画の質さえ担保すればアートはそこそこでいい。会社はチャンネルページ＝看板。何の会社か伝わる程度に作り込む。概要欄は特に大事：気になった人はHPへ行く＝お客さんへの入り口。装飾に凝る必要はないが、何の会社か＋HP導線だけはきち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はGoogleのサービス。Google検索の結果に動画が出る。ここで実際にGoogle検索を見せる。自分のチャンネルにもGoogle検索から多くの視聴者が来ている。会社チャンネルなら、きちんと書くことがそのまま検索からの入り口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を見る）どの教材でも出てくる。もちろん大事。でも今日はあえて言う：それよりもっと大事なことが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れは視聴者理解。極端に言えば最初の段階ではデータは全く関係ない。整理：数値は「自分が出した動画がどんな数値を取れたか」＝出した後の話。その前に、出す前にやるべきこと＝「視聴者はどんな動画のどんな要素を好んで見ているのか」を知ること。伸びる動画には必ず好まれている要素がある（テンポ・企画・雰囲気・情報の濃さ）。数値分析はそのあ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Tubeは「視聴者が何を求めているかを探すゲーム」。釣りサムネはクリックされても中身が伴わなければ離れる。商品を買うときと同じ：見た目で手に取るが、愛用し続けるかは中身の良さ。スマホもパソコンも、使い続けているのは中身が良いから。</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直感で挙手してもらう。例：文字が小さく情報量が多い vs 大きな文字で一言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月10万円稼ぎたい」という相談→競合分析して道しるべを示した。手順1：俯瞰。陸上ジャンルを片っ端から見る。プロの結果映像は省き、同じ土俵（解説系・個人ch）に絞る。手順2：成功ライン。平均1〜3万再生で成功と判明。手順3：激戦区。vlog系・スパイクレビューが多い。手順4：空いている場所。プロ選手の解説動画がなかった→「これなら勝てる」。この道筋の3本で1,000人以上増。大事なのは道筋を自分のジャンルで立てられること。見つからなければ再生数では勝てない（商品を売る場合は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彼はレッスン・商品販売・指導につなげる予定だった。でも彼も会社員。時間が取れず、全振りを嫌って途中で更新が止まった。惜しい。道筋は合っていて数字も出ていた。それでも続けられなければ止まる。教訓：正しい道筋＋無理なく続けられる体制。この2つが揃って初めて育つ。全振りは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のスライドの補足。需要のない動画は見る人が少ない＝視聴データが少ない。そのぶんクリック率・維持率は高く出やすい。「数値いいじゃん」と勘違いして自己満足で終わる。数値は母数が小さいと当てにならない、という話。</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順番が大事。①視聴者理解＝動画を出す「前」にやること。②その理解をもとに動画を作る。③出したあとに数値を見て改善する。多くの人は③から入ってしまう。</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sp>
      <p:sp>
        <p:nvSpPr>
          <p:cNvPr id="6" name="Text 3"/>
          <p:cNvSpPr txBox="1"/>
          <p:nvPr/>
        </p:nvSpPr>
        <p:spPr>
          <a:xfrm>
            <a:off x="1005840" y="2103120"/>
            <a:ext cx="530352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1005840" y="2560320"/>
            <a:ext cx="530352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youtube.com/@wawawa1840</a:t>
            </a:r>
            <a:endParaRPr lang="en-US" sz="1900" dirty="0"/>
          </a:p>
        </p:txBody>
      </p:sp>
      <p:sp>
        <p:nvSpPr>
          <p:cNvPr id="8" name="Text 5"/>
          <p:cNvSpPr txBox="1"/>
          <p:nvPr/>
        </p:nvSpPr>
        <p:spPr>
          <a:xfrm>
            <a:off x="1005840" y="3108960"/>
            <a:ext cx="5303520" cy="457200"/>
          </a:xfrm>
          <a:prstGeom prst="rect">
            <a:avLst/>
          </a:prstGeom>
          <a:noFill/>
          <a:ln/>
        </p:spPr>
        <p:txBody>
          <a:bodyPr wrap="square" lIns="0" tIns="0" rIns="0" bIns="0" rtlCol="0" anchor="ctr"/>
          <a:lstStyle/>
          <a:p>
            <a:pPr indent="0" marL="0">
              <a:buNone/>
            </a:pPr>
            <a:r>
              <a:rPr lang="en-US" sz="1700" dirty="0">
                <a:solidFill>
                  <a:srgbClr val="666666"/>
                </a:solidFill>
                <a:latin typeface="Meiryo" pitchFamily="34" charset="0"/>
                <a:ea typeface="Meiryo" pitchFamily="34" charset="-122"/>
                <a:cs typeface="Meiryo" pitchFamily="34" charset="-120"/>
              </a:rPr>
              <a:t>（当日、実際の画面を表示）</a:t>
            </a:r>
            <a:endParaRPr lang="en-US" sz="1700" dirty="0"/>
          </a:p>
        </p:txBody>
      </p:sp>
      <p:sp>
        <p:nvSpPr>
          <p:cNvPr id="9" name="Text 6"/>
          <p:cNvSpPr txBox="1"/>
          <p:nvPr/>
        </p:nvSpPr>
        <p:spPr>
          <a:xfrm>
            <a:off x="1005840" y="4023360"/>
            <a:ext cx="530352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チャンネルアートも概要欄も</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250万再生超</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しかも一発屋ではなく、コンスタントに再生を獲得</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概要欄は「視聴者をお客さんに変える入り口」。HPリンク・事業内容・問い合わせ先はしっかり書く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（この場でGoogle検索を実演 → 検索結果に動画が表示されることを見せる）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陸上ジャンルの動画を片っ端から見る。同じ土俵（解説系・個人チャンネル）に絞る</a:t>
            </a:r>
            <a:endParaRPr lang="en-US" sz="1800" dirty="0"/>
          </a:p>
        </p:txBody>
      </p:sp>
      <p:sp>
        <p:nvSpPr>
          <p:cNvPr id="9" name="Shape 6"/>
          <p:cNvSpPr/>
          <p:nvPr/>
        </p:nvSpPr>
        <p:spPr>
          <a:xfrm>
            <a:off x="731520" y="2944368"/>
            <a:ext cx="475488" cy="475488"/>
          </a:xfrm>
          <a:prstGeom prst="ellipse">
            <a:avLst/>
          </a:prstGeom>
          <a:solidFill>
            <a:srgbClr val="C40000"/>
          </a:solidFill>
          <a:ln/>
        </p:spPr>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このジャンルは平均1〜3万再生で成功、という相場を掴む</a:t>
            </a:r>
            <a:endParaRPr lang="en-US" sz="1800" dirty="0"/>
          </a:p>
        </p:txBody>
      </p:sp>
      <p:sp>
        <p:nvSpPr>
          <p:cNvPr id="13" name="Shape 10"/>
          <p:cNvSpPr/>
          <p:nvPr/>
        </p:nvSpPr>
        <p:spPr>
          <a:xfrm>
            <a:off x="731520" y="3995928"/>
            <a:ext cx="475488" cy="475488"/>
          </a:xfrm>
          <a:prstGeom prst="ellipse">
            <a:avLst/>
          </a:prstGeom>
          <a:solidFill>
            <a:srgbClr val="C40000"/>
          </a:solidFill>
          <a:ln/>
        </p:spPr>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多かったのは選手のvlog系・スパイクレビュー＝強い人がひしめく場所</a:t>
            </a:r>
            <a:endParaRPr lang="en-US" sz="1800" dirty="0"/>
          </a:p>
        </p:txBody>
      </p:sp>
      <p:sp>
        <p:nvSpPr>
          <p:cNvPr id="17" name="Shape 14"/>
          <p:cNvSpPr/>
          <p:nvPr/>
        </p:nvSpPr>
        <p:spPr>
          <a:xfrm>
            <a:off x="731520" y="5047488"/>
            <a:ext cx="475488" cy="475488"/>
          </a:xfrm>
          <a:prstGeom prst="ellipse">
            <a:avLst/>
          </a:prstGeom>
          <a:solidFill>
            <a:srgbClr val="8A0000"/>
          </a:solidFill>
          <a:ln/>
        </p:spPr>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プロ陸上選手の「解説動画」がなかった →「これなら勝てる」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この道筋に沿った3本で、登録者1,000人以上増。道筋が見つからなければ、再生数では競合に勝てない。</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レッスンや商品販売につなげる予定だったが、彼も会社員。時間が取れず、</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YouTubeに全振りすることを嫌って途中で止まってしまった。……惜しい。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注意点③：挫折しやすいポイント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10607040" cy="91440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