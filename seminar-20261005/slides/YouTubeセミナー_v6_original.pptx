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92" r:id="rId43"/>
    <p:sldId id="293" r:id="rId44"/>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43" Type="http://schemas.openxmlformats.org/officeDocument/2006/relationships/slide" Target="slides/slide37.xml"/><Relationship Id="rId44"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皆さん、おはようございます。本日は「ゼロから始めるYouTubeチャンネル運用セミナー」にお越しいただき、ありがとうございます。まず簡単に自己紹介をさせてください。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私は普段は会社員で、YouTubeは副業。本業を持ちながらでも、やり方さえ間違えなければ伸ばせる。実績3つ：(1)顔出しなしで7ch収益化→顔を出さなくても大丈夫 (2)友人のチャンネル：2〜3年で500人→私が入って3本で1,000人増。何が違ったかは後半で（伏線） (1)の強み：会社員をやりながら7ch収益化。キャラや知名度でなく企画に頼って伸ばした＝誰にでも使える部分がある。(3)親のチャンネル：今は9,000人近く。私がやるのはサムネに手を入れることとアドバイスだけ、内容は本人にお任せ。正しい考え方を共有できれば作り手が自分でなくても結果は出る。※次のスライドで、親のチャンネル（今も運営中）から学んだ教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学んだこと2つ：(1)最低限の継続作業が必要＝止めればそこで止まる (2)正しいルートがないと伸ばせない→再生数が取れない→生き残れない。誤ったやり方を繰り返すと遠回り。正しいルートはジャンルごとに違う。正直、私も全ジャンルが分かるわけではないが、積み上げた知識を今日共有した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ゴールは2つ。(1)「再生を回すには地道な作業が必要なんだな」と実感すること。裏ワザは一切ない、本当に作業でやっている。(2)「伸びるための思考」を少しでも学ぶこと。90分で全部マスターしなくていい。視点を1つ持ち帰れたら今日は成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なぜこのセミナーをやろうと思ったか。一番は地域貢献がしたかったから。私一人ではチャンネルをいくつも作れない。でもYouTube・SNSで成果を上げたい気持ちはあるので、地域の皆さんと一緒に成果を出せたらと考えた。場を設けていただいた塩谷先生には本当に感謝。企業の皆さんと関わりながら成果を出し、最終的に良い商品を届けられるようになるのが今の目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前に「セミナーをやる理由」を話す：地域貢献がしたかった／一人ではチャンネルを作りきれない／塩谷先生に感謝／企業と関わり良い商品を届けたい）ここが腹落ちしないと後の話が全部「やれたらいいよね」で終わる。理由はシンプル：みんなが使っているか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問いかけ）昨日、YouTubeかInstagramかX、どれか開きませんでしたか？→ほとんど開いている。お客さんも同じ。SNSは無料で広告を打てる＝競合優位性。企業なら広告を打つ策が必要な場面もあるが、再生数さえ伸ばせば自社の打ち手が出てくる。自分の例：広告収益のみ＋楽天などのアフィリエイトで少し。これも再生数を取ってからの舵取り。土台があれば選べる手が増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同じ地域・同じ業種の2店。片方はSNSで毎週発信して集客、片方は何もしない。数年後は全然違う運営に。片方は広告費ゼロで客が来る仕組み、片方は集客のたびに支払い続ける。SNSで集客できれば、同業者とまったく違う土俵で戦える。</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すべてのジャンルが同じようにバズりやすいわけではない。取りやすいジャンル・取りにくいジャンルがある。自分のジャンルの相場を把握することが先。個別相談でも伝えられる部分。</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自社を表に出して発信する＝やってはいけないことをすれば炎上につながる。発信力・競合優位性の分だけデメリットも生まれる。リスクを分かっていれば、やるべき事・やってはいけない事が見える。最後はご自身の考えを大事に判断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メリットは集客だけじゃない。(1)広告収益：YouTube自体から金が入る。その収益を「種銭」として事業に充てられる（設備・仕入れ・発信への再投資） (2)案件：影響力がつくと企業から向こうから仕事が来る (3)幅が広がる：入り口が増える＝事業の選択肢が増える。まとめ：SNSを伸ばせる力がつけば、そのまま事業を大きくできる。SNS運用は事業の武器。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（問いかけ）「アルゴリズム」「クリック率」「視聴維持率」が大事、と言われたことありませんか？どの教材でも出てくる。もちろん大事。でも今日はあえて言う：それよりもっと大事なことがある。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カウント作成・チャンネルアート・概要欄などの手順はこの動画でOK。配布資料にもリンクあり。帰ってからこの通りに進めれば開設できる。なぜ今日詳しくやらないか→チャンネルページはそこまで作り込みが要らないから。実例を見せ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実際の画面を見せる）パッと見て、何のチャンネルか分からないですよね？（会場の反応を見る）アートも概要欄も作り込まれていない。でも最高250万再生超、しかもコンスタントに再生が取れている。古いチャンネルだが、こういう例もある。結論：チャンネルページの役割は「どういうチャンネルか」を知ってもらうだけで十分。世界観は動画の中で伝えるもの。視聴者は動画を見てファンにな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広告収益型（自分）は動画の質さえ担保すればアートはそこそこでいい。会社はチャンネルページ＝看板。何の会社か伝わる程度に作り込む。概要欄は特に大事：気になった人はHPへ行く＝お客さんへの入り口。装飾に凝る必要はないが、何の会社か＋HP導線だけはきちん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TubeはGoogleのサービス。Google検索の結果に動画が出る。ここで実際にGoogle検索を見せる。自分のチャンネルにもGoogle検索から多くの視聴者が来ている。会社チャンネルなら、きちんと書くことがそのまま検索からの入り口にな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ここから体験ワーク。2枚のサムネを見比べて「自分ならどっちをクリックするか」を選ぶだけ。A/Bで挙手。正解も不正解もない。直感で。考え込んだ時点で視聴者の感覚から離れる。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それは視聴者理解。極端に言えば最初の段階ではデータは全く関係ない。整理：数値は「自分が出した動画がどんな数値を取れたか」＝出した後の話。その前に、出す前にやるべきこと＝「視聴者はどんな動画のどんな要素を好んで見ているのか」を知ること。伸びる動画には必ず好まれている要素がある（テンポ・企画・雰囲気・情報の濃さ）。数値分析はそのあ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YouTubeは「視聴者が何を求めているかを探すゲーム」。釣りサムネはクリックされても中身が伴わなければ離れる。商品を買うときと同じ：見た目で手に取るが、愛用し続けるかは中身の良さ。スマホもパソコンも、使い続けているのは中身が良いから。</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順番を間違えると怖いことが起きる。視聴者理解なしで数値だけ分析すると：需要のない動画→見る人が少ない→視聴データが少ないと数値は高く出やすい（身内や熱心な人だけならCTRも維持率も立派に見える）→「数値いいじゃん」と勘違い→需要がないので伸びない→自己満足で終わる。順番：視聴者理解→動画を作る→そのうえで数値を見て改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直感で挙手してもらう。例：文字が小さく情報量が多い vs 大きな文字で一言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直感で挙手してもらう。例：モノ・風景だけ vs 人の顔・表情入り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直感で挙手してもらう。例：内容を説明 vs 続きが気になる（自分のチャンネルのビフォーアフターが最適）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ワーク終了。気づいてほしいこと：口で「大きい文字がいい」と説明されるのと、自分で見比べて「こっちをクリックしたくなる」と感じるのは全然違う。体験しないと分からないことがある——今日一番感じてほしかったのはこれ。視聴者も理屈でなく一瞬の感覚で動く。そしてもう1つ：多くの人は「何を発信したいか」から考えるが順番が逆。視聴者がまず何を求めているかの把握が先。そのために：発信を考える前に、同じジャンルの競合が何を発信し視聴者がどう感じているかを徹底分析する。地道な作業とはまさにこ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伸ばすために重要なのは「ジャンルを俯瞰して見ること」＝競合チャンネルの動画を見ること。拍子抜けしましたか？でも断言します、ここが本質。(1)サムネは「企画の看板」。同じ企画のサムネを体験ワークの目線で見る→良し悪しがはっきり分かる (2)「どう再現すれば伸びやすい状態になるか」まで分解できれば、伸びた理由を根拠で語れる (3)根拠がないと長期運営できないし、商品を継続的に売るのも難しい。</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種明かし。友人の陸上チャンネル（@haman100m）。「月10万円稼ぎたい」という相談→競合分析して道しるべを示した。手順1：俯瞰。陸上ジャンルを片っ端から見る。プロの結果映像は省き、同じ土俵（解説系・個人ch）に絞る。手順2：成功ライン。平均1〜3万再生で成功と判明。手順3：激戦区。vlog系・スパイクレビューが多い。手順4：空いている場所。プロ選手の解説動画がなかった→「これなら勝てる」。この道筋の3本で1,000人以上増。大事なのは道筋を自分のジャンルで立てられること。見つからなければ再生数では勝てない（商品を売る場合は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正直な後日談。彼はレッスン・商品販売・指導につなげる予定だった。でも彼も会社員。時間が取れず、全振りを嫌って途中で更新が止まった。惜しい。道筋は合っていて数字も出ていた。それでも続けられなければ止まる。教訓：正しい道筋＋無理なく続けられる体制。この2つが揃って初めて育つ。全振りは不要、続けられるペース設計か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私は普段は会社員で、YouTubeは副業。本業を持ちながらでも、やり方さえ間違えなければ伸ばせる。実績3つ：(1)顔出しなしで7ch収益化→顔を出さなくても大丈夫 (2)友人のチャンネル：2〜3年で500人→私が入って3本で1,000人増。何が違ったかは後半で（伏線） (1)の強み：会社員をやりながら7ch収益化。キャラや知名度でなく企画に頼って伸ばした＝誰にでも使える部分がある。(3)親のチャンネル：今は9,000人近く。私がやるのはサムネに手を入れることとアドバイスだけ、内容は本人にお任せ。正しい考え方を共有できれば作り手が自分でなくても結果は出る。※次のスライドで、親のチャンネル（今も運営中）から学んだ教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一番多くて致命的な失敗＝自分のやりたいことをやってしまうこと。「何が悪いの？」→ここが初心者に一番理解されないポイント。SNSの大原則：視聴者が求めていることを運営者が再現してあげる。主役は視聴者。自分軸で作ると心に響かない動画に→出し続けるとチャンネル全体が「伸びにくい環境」になる。1本の失敗で終わらないのが怖いところ。</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ルゴリズムが見ているのは結局「視聴者の求めていることに運営者が動画で対応できているか」。CTRも維持率もこれを測る数値。良ければ拡散、悪ければ伸びない。それだけ。攻略は不要。視聴者に応える動画を作れば勝手に味方する。「自分軸で作らない」を一番覚えて帰っ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冒頭のゴール2つ（地道な作業・伸びる思考）がつながって見えているはず。今日の話は1本の線。(1)視聴者理解：自分のやりたい事ではなく視聴者の求める事を再現。ワークの感覚が出発点 (2)俯瞰して道筋：競合を見る→成功ライン→激戦区→空いている場所。陸上チャンネルの3本で1,000人はこの道筋の結果 (3)続けられる体制：道筋が正しくても続かなければ止まる。全振り不要、続けられるペース設計も実力のうち。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帰ってからやってほしいことを1つだけ。動画を撮らなくていい、機材も買わなくていい。まず自分がやろうと思っているジャンルの動画を、視聴者として見る。ワークの目線で——自分ならどっちをクリックするか、なぜこの動画は見続けてしまうのか。それが地道な作業の第一歩であり、伸びるチャンネルへの最短ル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日は考え方中心。でも成功ライン・空いている場所・続けられるペースは一人ひとり全く違う。そこで参加者特典：あなたのチャンネルに合わせた個別相談。業種・目的を聞いて道筋づくりとペース設計を一緒に整理。集客・商品販売・収益化で戦い方が変わる。通常30,000円→本日参加の方は15,000円（希望者のみ）。終了後に私か塩谷会計事務所さんまで。その後、質疑応答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のスライドの補足。需要のない動画は見る人が少ない＝視聴データが少ない。そのぶんクリック率・維持率は高く出やすい。「数値いいじゃん」と勘違いして自己満足で終わる。数値は母数が小さいと当てにならない、という話。</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順番が大事。①視聴者理解＝動画を出す「前」にやること。②その理解をもとに動画を作る。③出したあとに数値を見て改善する。多くの人は③から入ってしまう。</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822960" y="914400"/>
            <a:ext cx="3291840" cy="502920"/>
          </a:xfrm>
          <a:prstGeom prst="roundRect">
            <a:avLst>
              <a:gd name="adj" fmla="val 49091"/>
            </a:avLst>
          </a:prstGeom>
          <a:solidFill>
            <a:srgbClr val="FFFFFF"/>
          </a:solidFill>
          <a:ln/>
        </p:spPr>
      </p:sp>
      <p:sp>
        <p:nvSpPr>
          <p:cNvPr id="3" name="Text 1"/>
          <p:cNvSpPr txBox="1"/>
          <p:nvPr/>
        </p:nvSpPr>
        <p:spPr>
          <a:xfrm>
            <a:off x="822960" y="914400"/>
            <a:ext cx="3291840" cy="502920"/>
          </a:xfrm>
          <a:prstGeom prst="rect">
            <a:avLst/>
          </a:prstGeom>
          <a:noFill/>
          <a:ln/>
        </p:spPr>
        <p:txBody>
          <a:bodyPr wrap="square" lIns="0" tIns="0" rIns="0" bIns="0" rtlCol="0" anchor="ctr"/>
          <a:lstStyle/>
          <a:p>
            <a:pPr algn="ctr" indent="0" marL="0">
              <a:buNone/>
            </a:pPr>
            <a:r>
              <a:rPr lang="en-US" sz="1900" b="1" dirty="0">
                <a:solidFill>
                  <a:srgbClr val="C40000"/>
                </a:solidFill>
                <a:latin typeface="Meiryo" pitchFamily="34" charset="0"/>
                <a:ea typeface="Meiryo" pitchFamily="34" charset="-122"/>
                <a:cs typeface="Meiryo" pitchFamily="34" charset="-120"/>
              </a:rPr>
              <a:t>初心者大歓迎セミナー</a:t>
            </a:r>
            <a:endParaRPr lang="en-US" sz="1900" dirty="0"/>
          </a:p>
        </p:txBody>
      </p:sp>
      <p:sp>
        <p:nvSpPr>
          <p:cNvPr id="4" name="Text 2"/>
          <p:cNvSpPr txBox="1"/>
          <p:nvPr/>
        </p:nvSpPr>
        <p:spPr>
          <a:xfrm>
            <a:off x="822960" y="1920240"/>
            <a:ext cx="7315200" cy="640080"/>
          </a:xfrm>
          <a:prstGeom prst="rect">
            <a:avLst/>
          </a:prstGeom>
          <a:noFill/>
          <a:ln/>
        </p:spPr>
        <p:txBody>
          <a:bodyPr wrap="square" lIns="0" tIns="0" rIns="0" bIns="0" rtlCol="0" anchor="ctr"/>
          <a:lstStyle/>
          <a:p>
            <a:pPr indent="0" marL="0">
              <a:buNone/>
            </a:pPr>
            <a:r>
              <a:rPr lang="en-US" sz="3000" b="1" dirty="0">
                <a:solidFill>
                  <a:srgbClr val="FFFFFF"/>
                </a:solidFill>
                <a:latin typeface="Meiryo" pitchFamily="34" charset="0"/>
                <a:ea typeface="Meiryo" pitchFamily="34" charset="-122"/>
                <a:cs typeface="Meiryo" pitchFamily="34" charset="-120"/>
              </a:rPr>
              <a:t>ゼロから始める</a:t>
            </a:r>
            <a:endParaRPr lang="en-US" sz="3000" dirty="0"/>
          </a:p>
        </p:txBody>
      </p:sp>
      <p:sp>
        <p:nvSpPr>
          <p:cNvPr id="5" name="Text 3"/>
          <p:cNvSpPr txBox="1"/>
          <p:nvPr/>
        </p:nvSpPr>
        <p:spPr>
          <a:xfrm>
            <a:off x="804672" y="2560320"/>
            <a:ext cx="10515600" cy="1005840"/>
          </a:xfrm>
          <a:prstGeom prst="rect">
            <a:avLst/>
          </a:prstGeom>
          <a:noFill/>
          <a:ln/>
        </p:spPr>
        <p:txBody>
          <a:bodyPr wrap="square" lIns="0" tIns="0" rIns="0" bIns="0" rtlCol="0" anchor="ctr"/>
          <a:lstStyle/>
          <a:p>
            <a:pPr indent="0" marL="0">
              <a:buNone/>
            </a:pPr>
            <a:r>
              <a:rPr lang="en-US" sz="5400" b="1" dirty="0">
                <a:solidFill>
                  <a:srgbClr val="FFD400"/>
                </a:solidFill>
                <a:latin typeface="Meiryo" pitchFamily="34" charset="0"/>
                <a:ea typeface="Meiryo" pitchFamily="34" charset="-122"/>
                <a:cs typeface="Meiryo" pitchFamily="34" charset="-120"/>
              </a:rPr>
              <a:t>YouTube</a:t>
            </a:r>
            <a:pPr indent="0" marL="0">
              <a:buNone/>
            </a:pPr>
            <a:r>
              <a:rPr lang="en-US" sz="5400" b="1" dirty="0">
                <a:solidFill>
                  <a:srgbClr val="FFFFFF"/>
                </a:solidFill>
                <a:latin typeface="Meiryo" pitchFamily="34" charset="0"/>
                <a:ea typeface="Meiryo" pitchFamily="34" charset="-122"/>
                <a:cs typeface="Meiryo" pitchFamily="34" charset="-120"/>
              </a:rPr>
              <a:t>チャンネル</a:t>
            </a:r>
            <a:endParaRPr lang="en-US" sz="5400" dirty="0"/>
          </a:p>
        </p:txBody>
      </p:sp>
      <p:sp>
        <p:nvSpPr>
          <p:cNvPr id="6" name="Text 4"/>
          <p:cNvSpPr txBox="1"/>
          <p:nvPr/>
        </p:nvSpPr>
        <p:spPr>
          <a:xfrm>
            <a:off x="804672" y="3566160"/>
            <a:ext cx="10515600" cy="1005840"/>
          </a:xfrm>
          <a:prstGeom prst="rect">
            <a:avLst/>
          </a:prstGeom>
          <a:noFill/>
          <a:ln/>
        </p:spPr>
        <p:txBody>
          <a:bodyPr wrap="square" lIns="0" tIns="0" rIns="0" bIns="0" rtlCol="0" anchor="ctr"/>
          <a:lstStyle/>
          <a:p>
            <a:pPr indent="0" marL="0">
              <a:buNone/>
            </a:pPr>
            <a:r>
              <a:rPr lang="en-US" sz="5400" b="1" dirty="0">
                <a:solidFill>
                  <a:srgbClr val="FFFFFF"/>
                </a:solidFill>
                <a:latin typeface="Meiryo" pitchFamily="34" charset="0"/>
                <a:ea typeface="Meiryo" pitchFamily="34" charset="-122"/>
                <a:cs typeface="Meiryo" pitchFamily="34" charset="-120"/>
              </a:rPr>
              <a:t>運用セミナー</a:t>
            </a:r>
            <a:endParaRPr lang="en-US" sz="5400" dirty="0"/>
          </a:p>
        </p:txBody>
      </p:sp>
      <p:sp>
        <p:nvSpPr>
          <p:cNvPr id="7" name="Text 5"/>
          <p:cNvSpPr txBox="1"/>
          <p:nvPr/>
        </p:nvSpPr>
        <p:spPr>
          <a:xfrm>
            <a:off x="822960" y="4846320"/>
            <a:ext cx="10058400" cy="54864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ゼロから始めて、伸ばすための基礎知識と実践ステップ</a:t>
            </a:r>
            <a:endParaRPr lang="en-US" sz="2100" dirty="0"/>
          </a:p>
        </p:txBody>
      </p:sp>
      <p:sp>
        <p:nvSpPr>
          <p:cNvPr id="8" name="Shape 6"/>
          <p:cNvSpPr/>
          <p:nvPr/>
        </p:nvSpPr>
        <p:spPr>
          <a:xfrm>
            <a:off x="9262872" y="914400"/>
            <a:ext cx="1828800" cy="1243584"/>
          </a:xfrm>
          <a:prstGeom prst="roundRect">
            <a:avLst>
              <a:gd name="adj" fmla="val 28000"/>
            </a:avLst>
          </a:prstGeom>
          <a:solidFill>
            <a:srgbClr val="E60000"/>
          </a:solidFill>
          <a:ln/>
        </p:spPr>
      </p:sp>
      <p:sp>
        <p:nvSpPr>
          <p:cNvPr id="9" name="Shape 7"/>
          <p:cNvSpPr/>
          <p:nvPr/>
        </p:nvSpPr>
        <p:spPr>
          <a:xfrm rot="5400000">
            <a:off x="9921240" y="1262604"/>
            <a:ext cx="548640" cy="547177"/>
          </a:xfrm>
          <a:prstGeom prst="triangle">
            <a:avLst/>
          </a:prstGeom>
          <a:solidFill>
            <a:srgbClr val="FFFFFF"/>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SPEAKER</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自己紹介：会社員 × 副業YouTube</a:t>
            </a:r>
            <a:endParaRPr lang="en-US" sz="3000" dirty="0"/>
          </a:p>
        </p:txBody>
      </p:sp>
      <p:sp>
        <p:nvSpPr>
          <p:cNvPr id="5" name="Shape 2"/>
          <p:cNvSpPr/>
          <p:nvPr/>
        </p:nvSpPr>
        <p:spPr>
          <a:xfrm>
            <a:off x="640080" y="1737360"/>
            <a:ext cx="3291840" cy="2011680"/>
          </a:xfrm>
          <a:prstGeom prst="roundRect">
            <a:avLst>
              <a:gd name="adj" fmla="val 5455"/>
            </a:avLst>
          </a:prstGeom>
          <a:solidFill>
            <a:srgbClr val="C40000"/>
          </a:solidFill>
          <a:ln/>
        </p:spPr>
      </p:sp>
      <p:sp>
        <p:nvSpPr>
          <p:cNvPr id="6" name="Text 3"/>
          <p:cNvSpPr txBox="1"/>
          <p:nvPr/>
        </p:nvSpPr>
        <p:spPr>
          <a:xfrm>
            <a:off x="822960" y="1965960"/>
            <a:ext cx="2926080" cy="731520"/>
          </a:xfrm>
          <a:prstGeom prst="rect">
            <a:avLst/>
          </a:prstGeom>
          <a:noFill/>
          <a:ln/>
        </p:spPr>
        <p:txBody>
          <a:bodyPr wrap="square" lIns="0" tIns="0" rIns="0" bIns="0" rtlCol="0" anchor="ctr"/>
          <a:lstStyle/>
          <a:p>
            <a:pPr indent="0" marL="0">
              <a:buNone/>
            </a:pPr>
            <a:r>
              <a:rPr lang="en-US" sz="4000" b="1" dirty="0">
                <a:solidFill>
                  <a:srgbClr val="FFD400"/>
                </a:solidFill>
                <a:latin typeface="Meiryo" pitchFamily="34" charset="0"/>
                <a:ea typeface="Meiryo" pitchFamily="34" charset="-122"/>
                <a:cs typeface="Meiryo" pitchFamily="34" charset="-120"/>
              </a:rPr>
              <a:t>70万人超</a:t>
            </a:r>
            <a:endParaRPr lang="en-US" sz="4000" dirty="0"/>
          </a:p>
        </p:txBody>
      </p:sp>
      <p:sp>
        <p:nvSpPr>
          <p:cNvPr id="7" name="Text 4"/>
          <p:cNvSpPr txBox="1"/>
          <p:nvPr/>
        </p:nvSpPr>
        <p:spPr>
          <a:xfrm>
            <a:off x="822960" y="2743200"/>
            <a:ext cx="2926080" cy="365760"/>
          </a:xfrm>
          <a:prstGeom prst="rect">
            <a:avLst/>
          </a:prstGeom>
          <a:noFill/>
          <a:ln/>
        </p:spPr>
        <p:txBody>
          <a:bodyPr wrap="square" lIns="0" tIns="0" rIns="0" bIns="0" rtlCol="0" anchor="ctr"/>
          <a:lstStyle/>
          <a:p>
            <a:pPr indent="0" marL="0">
              <a:buNone/>
            </a:pPr>
            <a:r>
              <a:rPr lang="en-US" sz="1400" dirty="0">
                <a:solidFill>
                  <a:srgbClr val="FFFFFF"/>
                </a:solidFill>
                <a:latin typeface="Meiryo" pitchFamily="34" charset="0"/>
                <a:ea typeface="Meiryo" pitchFamily="34" charset="-122"/>
                <a:cs typeface="Meiryo" pitchFamily="34" charset="-120"/>
              </a:rPr>
              <a:t>YouTube総登録者数</a:t>
            </a:r>
            <a:endParaRPr lang="en-US" sz="1400" dirty="0"/>
          </a:p>
        </p:txBody>
      </p:sp>
      <p:sp>
        <p:nvSpPr>
          <p:cNvPr id="8" name="Text 5"/>
          <p:cNvSpPr txBox="1"/>
          <p:nvPr/>
        </p:nvSpPr>
        <p:spPr>
          <a:xfrm>
            <a:off x="822960" y="3200400"/>
            <a:ext cx="3017520" cy="365760"/>
          </a:xfrm>
          <a:prstGeom prst="rect">
            <a:avLst/>
          </a:prstGeom>
          <a:noFill/>
          <a:ln/>
        </p:spPr>
        <p:txBody>
          <a:bodyPr wrap="square" lIns="0" tIns="0" rIns="0" bIns="0" rtlCol="0" anchor="ctr"/>
          <a:lstStyle/>
          <a:p>
            <a:pPr indent="0" marL="0">
              <a:buNone/>
            </a:pPr>
            <a:r>
              <a:rPr lang="en-US" sz="1300" dirty="0">
                <a:solidFill>
                  <a:srgbClr val="FFE9A8"/>
                </a:solidFill>
                <a:latin typeface="Meiryo" pitchFamily="34" charset="0"/>
                <a:ea typeface="Meiryo" pitchFamily="34" charset="-122"/>
                <a:cs typeface="Meiryo" pitchFamily="34" charset="-120"/>
              </a:rPr>
              <a:t>TikTok・Instagramでも約3万人</a:t>
            </a:r>
            <a:endParaRPr lang="en-US" sz="1300" dirty="0"/>
          </a:p>
        </p:txBody>
      </p:sp>
      <p:sp>
        <p:nvSpPr>
          <p:cNvPr id="9" name="Shape 6"/>
          <p:cNvSpPr/>
          <p:nvPr/>
        </p:nvSpPr>
        <p:spPr>
          <a:xfrm>
            <a:off x="640080" y="3931920"/>
            <a:ext cx="3291840" cy="2011680"/>
          </a:xfrm>
          <a:prstGeom prst="roundRect">
            <a:avLst>
              <a:gd name="adj" fmla="val 5455"/>
            </a:avLst>
          </a:prstGeom>
          <a:solidFill>
            <a:srgbClr val="C40000"/>
          </a:solidFill>
          <a:ln/>
        </p:spPr>
      </p:sp>
      <p:sp>
        <p:nvSpPr>
          <p:cNvPr id="10" name="Text 7"/>
          <p:cNvSpPr txBox="1"/>
          <p:nvPr/>
        </p:nvSpPr>
        <p:spPr>
          <a:xfrm>
            <a:off x="822960" y="4160520"/>
            <a:ext cx="2926080" cy="7315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1.2億回</a:t>
            </a:r>
            <a:endParaRPr lang="en-US" sz="4000" dirty="0"/>
          </a:p>
        </p:txBody>
      </p:sp>
      <p:sp>
        <p:nvSpPr>
          <p:cNvPr id="11" name="Text 8"/>
          <p:cNvSpPr txBox="1"/>
          <p:nvPr/>
        </p:nvSpPr>
        <p:spPr>
          <a:xfrm>
            <a:off x="822960" y="4937760"/>
            <a:ext cx="2926080" cy="320040"/>
          </a:xfrm>
          <a:prstGeom prst="rect">
            <a:avLst/>
          </a:prstGeom>
          <a:noFill/>
          <a:ln/>
        </p:spPr>
        <p:txBody>
          <a:bodyPr wrap="square" lIns="0" tIns="0" rIns="0" bIns="0" rtlCol="0" anchor="ctr"/>
          <a:lstStyle/>
          <a:p>
            <a:pPr indent="0" marL="0">
              <a:buNone/>
            </a:pPr>
            <a:r>
              <a:rPr lang="en-US" sz="1300" dirty="0">
                <a:solidFill>
                  <a:srgbClr val="FFFFFF"/>
                </a:solidFill>
                <a:latin typeface="Meiryo" pitchFamily="34" charset="0"/>
                <a:ea typeface="Meiryo" pitchFamily="34" charset="-122"/>
                <a:cs typeface="Meiryo" pitchFamily="34" charset="-120"/>
              </a:rPr>
              <a:t>総再生回数（1チャンネルのみ）</a:t>
            </a:r>
            <a:endParaRPr lang="en-US" sz="1300" dirty="0"/>
          </a:p>
        </p:txBody>
      </p:sp>
      <p:sp>
        <p:nvSpPr>
          <p:cNvPr id="12" name="Text 9"/>
          <p:cNvSpPr txBox="1"/>
          <p:nvPr/>
        </p:nvSpPr>
        <p:spPr>
          <a:xfrm>
            <a:off x="822960" y="5349240"/>
            <a:ext cx="3017520" cy="320040"/>
          </a:xfrm>
          <a:prstGeom prst="rect">
            <a:avLst/>
          </a:prstGeom>
          <a:noFill/>
          <a:ln/>
        </p:spPr>
        <p:txBody>
          <a:bodyPr wrap="square" lIns="0" tIns="0" rIns="0" bIns="0" rtlCol="0" anchor="ctr"/>
          <a:lstStyle/>
          <a:p>
            <a:pPr indent="0" marL="0">
              <a:buNone/>
            </a:pPr>
            <a:r>
              <a:rPr lang="en-US" sz="1200" dirty="0">
                <a:solidFill>
                  <a:srgbClr val="FFD9D9"/>
                </a:solidFill>
                <a:latin typeface="Meiryo" pitchFamily="34" charset="0"/>
                <a:ea typeface="Meiryo" pitchFamily="34" charset="-122"/>
                <a:cs typeface="Meiryo" pitchFamily="34" charset="-120"/>
              </a:rPr>
              <a:t>※Shortsではなく通常動画の実績</a:t>
            </a:r>
            <a:endParaRPr lang="en-US" sz="1200" dirty="0"/>
          </a:p>
        </p:txBody>
      </p:sp>
      <p:sp>
        <p:nvSpPr>
          <p:cNvPr id="13" name="Shape 10"/>
          <p:cNvSpPr/>
          <p:nvPr/>
        </p:nvSpPr>
        <p:spPr>
          <a:xfrm>
            <a:off x="4389120" y="1874520"/>
            <a:ext cx="475488" cy="475488"/>
          </a:xfrm>
          <a:prstGeom prst="ellipse">
            <a:avLst/>
          </a:prstGeom>
          <a:solidFill>
            <a:srgbClr val="C40000"/>
          </a:solidFill>
          <a:ln/>
        </p:spPr>
      </p:sp>
      <p:sp>
        <p:nvSpPr>
          <p:cNvPr id="14" name="Text 11"/>
          <p:cNvSpPr txBox="1"/>
          <p:nvPr/>
        </p:nvSpPr>
        <p:spPr>
          <a:xfrm>
            <a:off x="4389120" y="18653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15" name="Text 12"/>
          <p:cNvSpPr txBox="1"/>
          <p:nvPr/>
        </p:nvSpPr>
        <p:spPr>
          <a:xfrm>
            <a:off x="5074920" y="173736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顔出しなしで 7チャンネルを収益化</a:t>
            </a:r>
            <a:endParaRPr lang="en-US" sz="2200" dirty="0"/>
          </a:p>
        </p:txBody>
      </p:sp>
      <p:sp>
        <p:nvSpPr>
          <p:cNvPr id="16" name="Text 13"/>
          <p:cNvSpPr txBox="1"/>
          <p:nvPr/>
        </p:nvSpPr>
        <p:spPr>
          <a:xfrm>
            <a:off x="5074920" y="224028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強み：会社員をやりながら。キャラではなく企画に頼って伸ばした</a:t>
            </a:r>
            <a:endParaRPr lang="en-US" sz="1800" dirty="0"/>
          </a:p>
        </p:txBody>
      </p:sp>
      <p:sp>
        <p:nvSpPr>
          <p:cNvPr id="17" name="Shape 14"/>
          <p:cNvSpPr/>
          <p:nvPr/>
        </p:nvSpPr>
        <p:spPr>
          <a:xfrm>
            <a:off x="4389120" y="3337560"/>
            <a:ext cx="475488" cy="475488"/>
          </a:xfrm>
          <a:prstGeom prst="ellipse">
            <a:avLst/>
          </a:prstGeom>
          <a:solidFill>
            <a:srgbClr val="C40000"/>
          </a:solidFill>
          <a:ln/>
        </p:spPr>
      </p:sp>
      <p:sp>
        <p:nvSpPr>
          <p:cNvPr id="18" name="Text 15"/>
          <p:cNvSpPr txBox="1"/>
          <p:nvPr/>
        </p:nvSpPr>
        <p:spPr>
          <a:xfrm>
            <a:off x="4389120" y="332841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9" name="Text 16"/>
          <p:cNvSpPr txBox="1"/>
          <p:nvPr/>
        </p:nvSpPr>
        <p:spPr>
          <a:xfrm>
            <a:off x="5074920" y="320040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登録者500人 → 動画3本で1,000人増</a:t>
            </a:r>
            <a:endParaRPr lang="en-US" sz="2200" dirty="0"/>
          </a:p>
        </p:txBody>
      </p:sp>
      <p:sp>
        <p:nvSpPr>
          <p:cNvPr id="20" name="Text 17"/>
          <p:cNvSpPr txBox="1"/>
          <p:nvPr/>
        </p:nvSpPr>
        <p:spPr>
          <a:xfrm>
            <a:off x="5074920" y="370332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2〜3年伸び悩んだ友人のチャンネル。種明かしは後半で</a:t>
            </a:r>
            <a:endParaRPr lang="en-US" sz="1800" dirty="0"/>
          </a:p>
        </p:txBody>
      </p:sp>
      <p:sp>
        <p:nvSpPr>
          <p:cNvPr id="21" name="Shape 18"/>
          <p:cNvSpPr/>
          <p:nvPr/>
        </p:nvSpPr>
        <p:spPr>
          <a:xfrm>
            <a:off x="4389120" y="4800600"/>
            <a:ext cx="475488" cy="475488"/>
          </a:xfrm>
          <a:prstGeom prst="ellipse">
            <a:avLst/>
          </a:prstGeom>
          <a:solidFill>
            <a:srgbClr val="C40000"/>
          </a:solidFill>
          <a:ln/>
        </p:spPr>
      </p:sp>
      <p:sp>
        <p:nvSpPr>
          <p:cNvPr id="22" name="Text 19"/>
          <p:cNvSpPr txBox="1"/>
          <p:nvPr/>
        </p:nvSpPr>
        <p:spPr>
          <a:xfrm>
            <a:off x="4389120" y="47914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23" name="Text 20"/>
          <p:cNvSpPr txBox="1"/>
          <p:nvPr/>
        </p:nvSpPr>
        <p:spPr>
          <a:xfrm>
            <a:off x="5074920" y="466344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親のチャンネルは 登録者9,000人近く</a:t>
            </a:r>
            <a:endParaRPr lang="en-US" sz="2200" dirty="0"/>
          </a:p>
        </p:txBody>
      </p:sp>
      <p:sp>
        <p:nvSpPr>
          <p:cNvPr id="24" name="Text 21"/>
          <p:cNvSpPr txBox="1"/>
          <p:nvPr/>
        </p:nvSpPr>
        <p:spPr>
          <a:xfrm>
            <a:off x="5074920" y="516636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サムネ＋アドバイスのみ。内容は本人にお任せでも結果は出る</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LESSON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親のチャンネルから学んだこと</a:t>
            </a:r>
            <a:endParaRPr lang="en-US" sz="3000" dirty="0"/>
          </a:p>
        </p:txBody>
      </p:sp>
      <p:sp>
        <p:nvSpPr>
          <p:cNvPr id="5" name="Shape 2"/>
          <p:cNvSpPr/>
          <p:nvPr/>
        </p:nvSpPr>
        <p:spPr>
          <a:xfrm>
            <a:off x="640080" y="1920240"/>
            <a:ext cx="5257800" cy="3017520"/>
          </a:xfrm>
          <a:prstGeom prst="roundRect">
            <a:avLst>
              <a:gd name="adj" fmla="val 3636"/>
            </a:avLst>
          </a:prstGeom>
          <a:solidFill>
            <a:srgbClr val="FFF3C4"/>
          </a:solidFill>
          <a:ln/>
        </p:spPr>
      </p:sp>
      <p:sp>
        <p:nvSpPr>
          <p:cNvPr id="6" name="Shape 3"/>
          <p:cNvSpPr/>
          <p:nvPr/>
        </p:nvSpPr>
        <p:spPr>
          <a:xfrm>
            <a:off x="1051560" y="2286000"/>
            <a:ext cx="475488" cy="475488"/>
          </a:xfrm>
          <a:prstGeom prst="ellipse">
            <a:avLst/>
          </a:prstGeom>
          <a:solidFill>
            <a:srgbClr val="C40000"/>
          </a:solidFill>
          <a:ln/>
        </p:spPr>
      </p:sp>
      <p:sp>
        <p:nvSpPr>
          <p:cNvPr id="7" name="Text 4"/>
          <p:cNvSpPr txBox="1"/>
          <p:nvPr/>
        </p:nvSpPr>
        <p:spPr>
          <a:xfrm>
            <a:off x="10515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51560" y="2926080"/>
            <a:ext cx="4572000" cy="64008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最低限の継続作業が必要</a:t>
            </a:r>
            <a:endParaRPr lang="en-US" sz="2400" dirty="0"/>
          </a:p>
        </p:txBody>
      </p:sp>
      <p:sp>
        <p:nvSpPr>
          <p:cNvPr id="9" name="Text 6"/>
          <p:cNvSpPr txBox="1"/>
          <p:nvPr/>
        </p:nvSpPr>
        <p:spPr>
          <a:xfrm>
            <a:off x="1051560" y="3657600"/>
            <a:ext cx="457200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YouTubeは、止めた時点で止まる。</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地道な作業を続ける仕組みが要る。</a:t>
            </a:r>
            <a:endParaRPr lang="en-US" sz="1800" dirty="0"/>
          </a:p>
        </p:txBody>
      </p:sp>
      <p:sp>
        <p:nvSpPr>
          <p:cNvPr id="10" name="Shape 7"/>
          <p:cNvSpPr/>
          <p:nvPr/>
        </p:nvSpPr>
        <p:spPr>
          <a:xfrm>
            <a:off x="6309360" y="1920240"/>
            <a:ext cx="5257800" cy="3017520"/>
          </a:xfrm>
          <a:prstGeom prst="roundRect">
            <a:avLst>
              <a:gd name="adj" fmla="val 3636"/>
            </a:avLst>
          </a:prstGeom>
          <a:solidFill>
            <a:srgbClr val="C40000"/>
          </a:solidFill>
          <a:ln/>
        </p:spPr>
      </p:sp>
      <p:sp>
        <p:nvSpPr>
          <p:cNvPr id="11" name="Shape 8"/>
          <p:cNvSpPr/>
          <p:nvPr/>
        </p:nvSpPr>
        <p:spPr>
          <a:xfrm>
            <a:off x="6720840" y="2286000"/>
            <a:ext cx="475488" cy="475488"/>
          </a:xfrm>
          <a:prstGeom prst="ellipse">
            <a:avLst/>
          </a:prstGeom>
          <a:solidFill>
            <a:srgbClr val="8A0000"/>
          </a:solidFill>
          <a:ln/>
        </p:spPr>
      </p:sp>
      <p:sp>
        <p:nvSpPr>
          <p:cNvPr id="12" name="Text 9"/>
          <p:cNvSpPr txBox="1"/>
          <p:nvPr/>
        </p:nvSpPr>
        <p:spPr>
          <a:xfrm>
            <a:off x="6720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6720840" y="2926080"/>
            <a:ext cx="4572000" cy="640080"/>
          </a:xfrm>
          <a:prstGeom prst="rect">
            <a:avLst/>
          </a:prstGeom>
          <a:noFill/>
          <a:ln/>
        </p:spPr>
        <p:txBody>
          <a:bodyPr wrap="square" lIns="0" tIns="0" rIns="0" bIns="0" rtlCol="0" anchor="ctr"/>
          <a:lstStyle/>
          <a:p>
            <a:pPr indent="0" marL="0">
              <a:buNone/>
            </a:pPr>
            <a:r>
              <a:rPr lang="en-US" sz="2400" b="1" dirty="0">
                <a:solidFill>
                  <a:srgbClr val="FFFFFF"/>
                </a:solidFill>
                <a:latin typeface="Meiryo" pitchFamily="34" charset="0"/>
                <a:ea typeface="Meiryo" pitchFamily="34" charset="-122"/>
                <a:cs typeface="Meiryo" pitchFamily="34" charset="-120"/>
              </a:rPr>
              <a:t>正しいルートがないと伸ばせない</a:t>
            </a:r>
            <a:endParaRPr lang="en-US" sz="2400" dirty="0"/>
          </a:p>
        </p:txBody>
      </p:sp>
      <p:sp>
        <p:nvSpPr>
          <p:cNvPr id="14" name="Text 11"/>
          <p:cNvSpPr txBox="1"/>
          <p:nvPr/>
        </p:nvSpPr>
        <p:spPr>
          <a:xfrm>
            <a:off x="6720840" y="3657600"/>
            <a:ext cx="4572000" cy="109728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再生数が取れない＝生き残れない。</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正しいルートはジャンルごとに違う。</a:t>
            </a:r>
            <a:endParaRPr lang="en-US" sz="1800" dirty="0"/>
          </a:p>
        </p:txBody>
      </p:sp>
      <p:sp>
        <p:nvSpPr>
          <p:cNvPr id="15" name="Text 12"/>
          <p:cNvSpPr txBox="1"/>
          <p:nvPr/>
        </p:nvSpPr>
        <p:spPr>
          <a:xfrm>
            <a:off x="640080" y="5394960"/>
            <a:ext cx="10972800" cy="64008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今日は、自分のジャンルの「正しい道」を見極める力を持ち帰る時間です</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GOAL</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今日のゴール</a:t>
            </a:r>
            <a:endParaRPr lang="en-US" sz="3000" dirty="0"/>
          </a:p>
        </p:txBody>
      </p:sp>
      <p:sp>
        <p:nvSpPr>
          <p:cNvPr id="5" name="Shape 2"/>
          <p:cNvSpPr/>
          <p:nvPr/>
        </p:nvSpPr>
        <p:spPr>
          <a:xfrm>
            <a:off x="640080" y="1920240"/>
            <a:ext cx="5257800" cy="3931920"/>
          </a:xfrm>
          <a:prstGeom prst="roundRect">
            <a:avLst>
              <a:gd name="adj" fmla="val 2791"/>
            </a:avLst>
          </a:prstGeom>
          <a:solidFill>
            <a:srgbClr val="FFF3C4"/>
          </a:solidFill>
          <a:ln/>
        </p:spPr>
      </p:sp>
      <p:sp>
        <p:nvSpPr>
          <p:cNvPr id="6" name="Text 3"/>
          <p:cNvSpPr txBox="1"/>
          <p:nvPr/>
        </p:nvSpPr>
        <p:spPr>
          <a:xfrm>
            <a:off x="1051560" y="2286000"/>
            <a:ext cx="1828800" cy="73152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01</a:t>
            </a:r>
            <a:endParaRPr lang="en-US" sz="4400" dirty="0"/>
          </a:p>
        </p:txBody>
      </p:sp>
      <p:sp>
        <p:nvSpPr>
          <p:cNvPr id="7" name="Text 4"/>
          <p:cNvSpPr txBox="1"/>
          <p:nvPr/>
        </p:nvSpPr>
        <p:spPr>
          <a:xfrm>
            <a:off x="1051560" y="3200400"/>
            <a:ext cx="4480560" cy="118872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「地道な作業が必要」だと</a:t>
            </a:r>
            <a:endParaRPr lang="en-US" sz="2400" dirty="0"/>
          </a:p>
          <a:p>
            <a:pPr indent="0" marL="0">
              <a:buNone/>
            </a:pPr>
            <a:r>
              <a:rPr lang="en-US" sz="2400" b="1" dirty="0">
                <a:solidFill>
                  <a:srgbClr val="222222"/>
                </a:solidFill>
                <a:latin typeface="Meiryo" pitchFamily="34" charset="0"/>
                <a:ea typeface="Meiryo" pitchFamily="34" charset="-122"/>
                <a:cs typeface="Meiryo" pitchFamily="34" charset="-120"/>
              </a:rPr>
              <a:t>実感すること</a:t>
            </a:r>
            <a:endParaRPr lang="en-US" sz="2400" dirty="0"/>
          </a:p>
        </p:txBody>
      </p:sp>
      <p:sp>
        <p:nvSpPr>
          <p:cNvPr id="8" name="Text 5"/>
          <p:cNvSpPr txBox="1"/>
          <p:nvPr/>
        </p:nvSpPr>
        <p:spPr>
          <a:xfrm>
            <a:off x="1051560" y="4480560"/>
            <a:ext cx="448056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裏ワザは一切ありません。</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本当に作業でやっています。</a:t>
            </a:r>
            <a:endParaRPr lang="en-US" sz="1800" dirty="0"/>
          </a:p>
        </p:txBody>
      </p:sp>
      <p:sp>
        <p:nvSpPr>
          <p:cNvPr id="9" name="Shape 6"/>
          <p:cNvSpPr/>
          <p:nvPr/>
        </p:nvSpPr>
        <p:spPr>
          <a:xfrm>
            <a:off x="6309360" y="1920240"/>
            <a:ext cx="5257800" cy="3931920"/>
          </a:xfrm>
          <a:prstGeom prst="roundRect">
            <a:avLst>
              <a:gd name="adj" fmla="val 2791"/>
            </a:avLst>
          </a:prstGeom>
          <a:solidFill>
            <a:srgbClr val="FFF3C4"/>
          </a:solidFill>
          <a:ln/>
        </p:spPr>
      </p:sp>
      <p:sp>
        <p:nvSpPr>
          <p:cNvPr id="10" name="Text 7"/>
          <p:cNvSpPr txBox="1"/>
          <p:nvPr/>
        </p:nvSpPr>
        <p:spPr>
          <a:xfrm>
            <a:off x="6720840" y="2286000"/>
            <a:ext cx="1828800" cy="73152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02</a:t>
            </a:r>
            <a:endParaRPr lang="en-US" sz="4400" dirty="0"/>
          </a:p>
        </p:txBody>
      </p:sp>
      <p:sp>
        <p:nvSpPr>
          <p:cNvPr id="11" name="Text 8"/>
          <p:cNvSpPr txBox="1"/>
          <p:nvPr/>
        </p:nvSpPr>
        <p:spPr>
          <a:xfrm>
            <a:off x="6720840" y="3200400"/>
            <a:ext cx="4480560" cy="118872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「伸びるための思考」を</a:t>
            </a:r>
            <a:endParaRPr lang="en-US" sz="2400" dirty="0"/>
          </a:p>
          <a:p>
            <a:pPr indent="0" marL="0">
              <a:buNone/>
            </a:pPr>
            <a:r>
              <a:rPr lang="en-US" sz="2400" b="1" dirty="0">
                <a:solidFill>
                  <a:srgbClr val="222222"/>
                </a:solidFill>
                <a:latin typeface="Meiryo" pitchFamily="34" charset="0"/>
                <a:ea typeface="Meiryo" pitchFamily="34" charset="-122"/>
                <a:cs typeface="Meiryo" pitchFamily="34" charset="-120"/>
              </a:rPr>
              <a:t>少しでも学ぶこと</a:t>
            </a:r>
            <a:endParaRPr lang="en-US" sz="2400" dirty="0"/>
          </a:p>
        </p:txBody>
      </p:sp>
      <p:sp>
        <p:nvSpPr>
          <p:cNvPr id="12" name="Text 9"/>
          <p:cNvSpPr txBox="1"/>
          <p:nvPr/>
        </p:nvSpPr>
        <p:spPr>
          <a:xfrm>
            <a:off x="6720840" y="4480560"/>
            <a:ext cx="448056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伸びるチャンネルがどういう考え方で</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作られているか、視点を持ち帰る。</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1097280"/>
            <a:ext cx="10515600" cy="640080"/>
          </a:xfrm>
          <a:prstGeom prst="rect">
            <a:avLst/>
          </a:prstGeom>
          <a:noFill/>
          <a:ln/>
        </p:spPr>
        <p:txBody>
          <a:bodyPr wrap="square" lIns="0" tIns="0" rIns="0" bIns="0" rtlCol="0" anchor="ctr"/>
          <a:lstStyle/>
          <a:p>
            <a:pPr indent="0" marL="0">
              <a:buNone/>
            </a:pPr>
            <a:r>
              <a:rPr lang="en-US" sz="2400" b="1" dirty="0">
                <a:solidFill>
                  <a:srgbClr val="FFD9D9"/>
                </a:solidFill>
                <a:latin typeface="Meiryo" pitchFamily="34" charset="0"/>
                <a:ea typeface="Meiryo" pitchFamily="34" charset="-122"/>
                <a:cs typeface="Meiryo" pitchFamily="34" charset="-120"/>
              </a:rPr>
              <a:t>最後に、このセミナーをやる理由</a:t>
            </a:r>
            <a:endParaRPr lang="en-US" sz="2400" dirty="0"/>
          </a:p>
        </p:txBody>
      </p:sp>
      <p:sp>
        <p:nvSpPr>
          <p:cNvPr id="3" name="Shape 1"/>
          <p:cNvSpPr/>
          <p:nvPr/>
        </p:nvSpPr>
        <p:spPr>
          <a:xfrm>
            <a:off x="822960" y="2011680"/>
            <a:ext cx="10515600" cy="1645920"/>
          </a:xfrm>
          <a:prstGeom prst="roundRect">
            <a:avLst>
              <a:gd name="adj" fmla="val 8333"/>
            </a:avLst>
          </a:prstGeom>
          <a:solidFill>
            <a:srgbClr val="FFD400"/>
          </a:solidFill>
          <a:ln/>
        </p:spPr>
      </p:sp>
      <p:sp>
        <p:nvSpPr>
          <p:cNvPr id="4" name="Text 2"/>
          <p:cNvSpPr txBox="1"/>
          <p:nvPr/>
        </p:nvSpPr>
        <p:spPr>
          <a:xfrm>
            <a:off x="1280160" y="2194560"/>
            <a:ext cx="9692640" cy="1280160"/>
          </a:xfrm>
          <a:prstGeom prst="rect">
            <a:avLst/>
          </a:prstGeom>
          <a:noFill/>
          <a:ln/>
        </p:spPr>
        <p:txBody>
          <a:bodyPr wrap="square" lIns="0" tIns="0" rIns="0" bIns="0" rtlCol="0" anchor="ctr"/>
          <a:lstStyle/>
          <a:p>
            <a:pPr indent="0" marL="0">
              <a:buNone/>
            </a:pPr>
            <a:r>
              <a:rPr lang="en-US" sz="3600" b="1" dirty="0">
                <a:solidFill>
                  <a:srgbClr val="C40000"/>
                </a:solidFill>
                <a:latin typeface="Meiryo" pitchFamily="34" charset="0"/>
                <a:ea typeface="Meiryo" pitchFamily="34" charset="-122"/>
                <a:cs typeface="Meiryo" pitchFamily="34" charset="-120"/>
              </a:rPr>
              <a:t>地域貢献がしたかった</a:t>
            </a:r>
            <a:endParaRPr lang="en-US" sz="3600" dirty="0"/>
          </a:p>
        </p:txBody>
      </p:sp>
      <p:sp>
        <p:nvSpPr>
          <p:cNvPr id="5" name="Text 3"/>
          <p:cNvSpPr txBox="1"/>
          <p:nvPr/>
        </p:nvSpPr>
        <p:spPr>
          <a:xfrm>
            <a:off x="822960" y="3931920"/>
            <a:ext cx="10515600" cy="109728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私一人ではチャンネルをいくつも作れません。</a:t>
            </a:r>
            <a:endParaRPr lang="en-US" sz="2000" dirty="0"/>
          </a:p>
          <a:p>
            <a:pPr indent="0" marL="0">
              <a:buNone/>
            </a:pPr>
            <a:r>
              <a:rPr lang="en-US" sz="2000" dirty="0">
                <a:solidFill>
                  <a:srgbClr val="FFFFFF"/>
                </a:solidFill>
                <a:latin typeface="Meiryo" pitchFamily="34" charset="0"/>
                <a:ea typeface="Meiryo" pitchFamily="34" charset="-122"/>
                <a:cs typeface="Meiryo" pitchFamily="34" charset="-120"/>
              </a:rPr>
              <a:t>それなら、この地域の皆さんと一緒に成果を出していけたら——と考えました。</a:t>
            </a:r>
            <a:endParaRPr lang="en-US" sz="2000" dirty="0"/>
          </a:p>
        </p:txBody>
      </p:sp>
      <p:sp>
        <p:nvSpPr>
          <p:cNvPr id="6" name="Text 4"/>
          <p:cNvSpPr txBox="1"/>
          <p:nvPr/>
        </p:nvSpPr>
        <p:spPr>
          <a:xfrm>
            <a:off x="822960" y="5212080"/>
            <a:ext cx="10515600" cy="640080"/>
          </a:xfrm>
          <a:prstGeom prst="rect">
            <a:avLst/>
          </a:prstGeom>
          <a:noFill/>
          <a:ln/>
        </p:spPr>
        <p:txBody>
          <a:bodyPr wrap="square" lIns="0" tIns="0" rIns="0" bIns="0" rtlCol="0" anchor="ctr"/>
          <a:lstStyle/>
          <a:p>
            <a:pPr indent="0" marL="0">
              <a:buNone/>
            </a:pPr>
            <a:r>
              <a:rPr lang="en-US" sz="2000" b="1" dirty="0">
                <a:solidFill>
                  <a:srgbClr val="FFD400"/>
                </a:solidFill>
                <a:latin typeface="Meiryo" pitchFamily="34" charset="0"/>
                <a:ea typeface="Meiryo" pitchFamily="34" charset="-122"/>
                <a:cs typeface="Meiryo" pitchFamily="34" charset="-120"/>
              </a:rPr>
              <a:t>こうして場を設けていただいた塩谷先生に、心から感謝しています。</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02</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なぜ今、SNS運営が必要なのか</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ここが腹落ちしないと、全部「やれたらいいよね」で終わる</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WHY SNS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理由はシンプル。みんなが使っているから</a:t>
            </a:r>
            <a:endParaRPr lang="en-US" sz="3000" dirty="0"/>
          </a:p>
        </p:txBody>
      </p:sp>
      <p:sp>
        <p:nvSpPr>
          <p:cNvPr id="5" name="Text 2"/>
          <p:cNvSpPr txBox="1"/>
          <p:nvPr/>
        </p:nvSpPr>
        <p:spPr>
          <a:xfrm>
            <a:off x="640080" y="1737360"/>
            <a:ext cx="109728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お客さんが毎日いる場所に、自分のお店・事業の看板を出せる。</a:t>
            </a:r>
            <a:endParaRPr lang="en-US" sz="2200" dirty="0"/>
          </a:p>
        </p:txBody>
      </p:sp>
      <p:sp>
        <p:nvSpPr>
          <p:cNvPr id="6" name="Shape 3"/>
          <p:cNvSpPr/>
          <p:nvPr/>
        </p:nvSpPr>
        <p:spPr>
          <a:xfrm>
            <a:off x="640080" y="2560320"/>
            <a:ext cx="10972800" cy="3291840"/>
          </a:xfrm>
          <a:prstGeom prst="roundRect">
            <a:avLst>
              <a:gd name="adj" fmla="val 3333"/>
            </a:avLst>
          </a:prstGeom>
          <a:solidFill>
            <a:srgbClr val="C40000"/>
          </a:solidFill>
          <a:ln/>
        </p:spPr>
      </p:sp>
      <p:sp>
        <p:nvSpPr>
          <p:cNvPr id="7" name="Text 4"/>
          <p:cNvSpPr txBox="1"/>
          <p:nvPr/>
        </p:nvSpPr>
        <p:spPr>
          <a:xfrm>
            <a:off x="1097280" y="3017520"/>
            <a:ext cx="10058400" cy="731520"/>
          </a:xfrm>
          <a:prstGeom prst="rect">
            <a:avLst/>
          </a:prstGeom>
          <a:noFill/>
          <a:ln/>
        </p:spPr>
        <p:txBody>
          <a:bodyPr wrap="square" lIns="0" tIns="0" rIns="0" bIns="0" rtlCol="0" anchor="ctr"/>
          <a:lstStyle/>
          <a:p>
            <a:pPr indent="0" marL="0">
              <a:buNone/>
            </a:pPr>
            <a:r>
              <a:rPr lang="en-US" sz="3200" b="1" dirty="0">
                <a:solidFill>
                  <a:srgbClr val="FFD400"/>
                </a:solidFill>
                <a:latin typeface="Meiryo" pitchFamily="34" charset="0"/>
                <a:ea typeface="Meiryo" pitchFamily="34" charset="-122"/>
                <a:cs typeface="Meiryo" pitchFamily="34" charset="-120"/>
              </a:rPr>
              <a:t>SNSは 無料で広告を打てる</a:t>
            </a:r>
            <a:endParaRPr lang="en-US" sz="3200" dirty="0"/>
          </a:p>
        </p:txBody>
      </p:sp>
      <p:sp>
        <p:nvSpPr>
          <p:cNvPr id="8" name="Text 5"/>
          <p:cNvSpPr txBox="1"/>
          <p:nvPr/>
        </p:nvSpPr>
        <p:spPr>
          <a:xfrm>
            <a:off x="1097280" y="3931920"/>
            <a:ext cx="10058400" cy="1280160"/>
          </a:xfrm>
          <a:prstGeom prst="rect">
            <a:avLst/>
          </a:prstGeom>
          <a:noFill/>
          <a:ln/>
        </p:spPr>
        <p:txBody>
          <a:bodyPr wrap="square" lIns="0" tIns="0" rIns="0" bIns="0" rtlCol="0" anchor="ctr"/>
          <a:lstStyle/>
          <a:p>
            <a:pPr indent="0" marL="0">
              <a:buNone/>
            </a:pPr>
            <a:r>
              <a:rPr lang="en-US" sz="2100" dirty="0">
                <a:solidFill>
                  <a:srgbClr val="FFFFFF"/>
                </a:solidFill>
                <a:latin typeface="Meiryo" pitchFamily="34" charset="0"/>
                <a:ea typeface="Meiryo" pitchFamily="34" charset="-122"/>
                <a:cs typeface="Meiryo" pitchFamily="34" charset="-120"/>
              </a:rPr>
              <a:t>チラシも看板もネット広告もお金がかかる。SNSの投稿は何本出してもタダ。</a:t>
            </a:r>
            <a:endParaRPr lang="en-US" sz="2100" dirty="0"/>
          </a:p>
          <a:p>
            <a:pPr indent="0" marL="0">
              <a:buNone/>
            </a:pPr>
            <a:r>
              <a:rPr lang="en-US" sz="2100" dirty="0">
                <a:solidFill>
                  <a:srgbClr val="FFFFFF"/>
                </a:solidFill>
                <a:latin typeface="Meiryo" pitchFamily="34" charset="0"/>
                <a:ea typeface="Meiryo" pitchFamily="34" charset="-122"/>
                <a:cs typeface="Meiryo" pitchFamily="34" charset="-120"/>
              </a:rPr>
              <a:t>これは、言い換えると「競合優位性」。</a:t>
            </a:r>
            <a:endParaRPr lang="en-US" sz="2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ADVANTAGE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数年後、まったく違う運営になる</a:t>
            </a:r>
            <a:endParaRPr lang="en-US" sz="3000" dirty="0"/>
          </a:p>
        </p:txBody>
      </p:sp>
      <p:pic>
        <p:nvPicPr>
          <p:cNvPr id="4" name="Picture 3" descr="ill_a.png"/>
          <p:cNvPicPr>
            <a:picLocks noChangeAspect="1"/>
          </p:cNvPicPr>
          <p:nvPr/>
        </p:nvPicPr>
        <p:blipFill>
          <a:blip r:embed="rId3"/>
          <a:stretch>
            <a:fillRect/>
          </a:stretch>
        </p:blipFill>
        <p:spPr>
          <a:xfrm>
            <a:off x="1400892" y="1783080"/>
            <a:ext cx="9390184"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SNSで集客できれば、他の同業者とはまったく違う土俵で戦える</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REALITY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ただし、ジャンルによって差があります</a:t>
            </a:r>
            <a:endParaRPr lang="en-US" sz="3000" dirty="0"/>
          </a:p>
        </p:txBody>
      </p:sp>
      <p:pic>
        <p:nvPicPr>
          <p:cNvPr id="4" name="Picture 3" descr="ill_b.png"/>
          <p:cNvPicPr>
            <a:picLocks noChangeAspect="1"/>
          </p:cNvPicPr>
          <p:nvPr/>
        </p:nvPicPr>
        <p:blipFill>
          <a:blip r:embed="rId3"/>
          <a:stretch>
            <a:fillRect/>
          </a:stretch>
        </p:blipFill>
        <p:spPr>
          <a:xfrm>
            <a:off x="788489" y="1783080"/>
            <a:ext cx="10614991"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まず、自分のジャンルの「相場」を把握することから</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CAUTION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ただし、メリットばかりではありません</a:t>
            </a:r>
            <a:endParaRPr lang="en-US" sz="3000" dirty="0"/>
          </a:p>
        </p:txBody>
      </p:sp>
      <p:sp>
        <p:nvSpPr>
          <p:cNvPr id="5" name="Shape 2"/>
          <p:cNvSpPr/>
          <p:nvPr/>
        </p:nvSpPr>
        <p:spPr>
          <a:xfrm>
            <a:off x="640080" y="1828800"/>
            <a:ext cx="10972800" cy="1737360"/>
          </a:xfrm>
          <a:prstGeom prst="roundRect">
            <a:avLst>
              <a:gd name="adj" fmla="val 6316"/>
            </a:avLst>
          </a:prstGeom>
          <a:solidFill>
            <a:srgbClr val="C40000"/>
          </a:solidFill>
          <a:ln/>
        </p:spPr>
      </p:sp>
      <p:sp>
        <p:nvSpPr>
          <p:cNvPr id="6" name="Text 3"/>
          <p:cNvSpPr txBox="1"/>
          <p:nvPr/>
        </p:nvSpPr>
        <p:spPr>
          <a:xfrm>
            <a:off x="1097280" y="2286000"/>
            <a:ext cx="10058400" cy="82296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発信力を持つ ＝ 炎上リスクも一緒に持つ</a:t>
            </a:r>
            <a:endParaRPr lang="en-US" sz="3000" dirty="0"/>
          </a:p>
        </p:txBody>
      </p:sp>
      <p:sp>
        <p:nvSpPr>
          <p:cNvPr id="7" name="Text 4"/>
          <p:cNvSpPr txBox="1"/>
          <p:nvPr/>
        </p:nvSpPr>
        <p:spPr>
          <a:xfrm>
            <a:off x="822960" y="3886200"/>
            <a:ext cx="10698480" cy="237744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自社を表に出す以上、やってはいけないことをすれば炎上につながる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リスクを分かっていれば「やるべきこと・やってはいけないこと」が見えてくる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売上には良い施策。でも自社に本当に合うかは、ご自身の考えを大事に判断を</a:t>
            </a:r>
            <a:endParaRPr lang="en-US" sz="2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MERIT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集客だけじゃない、3つの広がり</a:t>
            </a:r>
            <a:endParaRPr lang="en-US" sz="3000" dirty="0"/>
          </a:p>
        </p:txBody>
      </p:sp>
      <p:sp>
        <p:nvSpPr>
          <p:cNvPr id="5" name="Shape 2"/>
          <p:cNvSpPr/>
          <p:nvPr/>
        </p:nvSpPr>
        <p:spPr>
          <a:xfrm>
            <a:off x="640080" y="1920240"/>
            <a:ext cx="3520440" cy="3566160"/>
          </a:xfrm>
          <a:prstGeom prst="roundRect">
            <a:avLst>
              <a:gd name="adj" fmla="val 3117"/>
            </a:avLst>
          </a:prstGeom>
          <a:solidFill>
            <a:srgbClr val="FFF3C4"/>
          </a:solidFill>
          <a:ln/>
        </p:spPr>
      </p:sp>
      <p:sp>
        <p:nvSpPr>
          <p:cNvPr id="6" name="Shape 3"/>
          <p:cNvSpPr/>
          <p:nvPr/>
        </p:nvSpPr>
        <p:spPr>
          <a:xfrm>
            <a:off x="1005840" y="2286000"/>
            <a:ext cx="475488" cy="475488"/>
          </a:xfrm>
          <a:prstGeom prst="ellipse">
            <a:avLst/>
          </a:prstGeom>
          <a:solidFill>
            <a:srgbClr val="C40000"/>
          </a:solidFill>
          <a:ln/>
        </p:spPr>
      </p:sp>
      <p:sp>
        <p:nvSpPr>
          <p:cNvPr id="7" name="Text 4"/>
          <p:cNvSpPr txBox="1"/>
          <p:nvPr/>
        </p:nvSpPr>
        <p:spPr>
          <a:xfrm>
            <a:off x="1005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0584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広告収益</a:t>
            </a:r>
            <a:endParaRPr lang="en-US" sz="2400" dirty="0"/>
          </a:p>
        </p:txBody>
      </p:sp>
      <p:sp>
        <p:nvSpPr>
          <p:cNvPr id="9" name="Text 6"/>
          <p:cNvSpPr txBox="1"/>
          <p:nvPr/>
        </p:nvSpPr>
        <p:spPr>
          <a:xfrm>
            <a:off x="100584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YouTube自体からお金が入る。</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その収益を「種銭」として</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自分の事業に充てられる。</a:t>
            </a:r>
            <a:endParaRPr lang="en-US" sz="1800" dirty="0"/>
          </a:p>
        </p:txBody>
      </p:sp>
      <p:sp>
        <p:nvSpPr>
          <p:cNvPr id="10" name="Shape 7"/>
          <p:cNvSpPr/>
          <p:nvPr/>
        </p:nvSpPr>
        <p:spPr>
          <a:xfrm>
            <a:off x="4434840" y="1920240"/>
            <a:ext cx="3520440" cy="3566160"/>
          </a:xfrm>
          <a:prstGeom prst="roundRect">
            <a:avLst>
              <a:gd name="adj" fmla="val 3117"/>
            </a:avLst>
          </a:prstGeom>
          <a:solidFill>
            <a:srgbClr val="FFF3C4"/>
          </a:solidFill>
          <a:ln/>
        </p:spPr>
      </p:sp>
      <p:sp>
        <p:nvSpPr>
          <p:cNvPr id="11" name="Shape 8"/>
          <p:cNvSpPr/>
          <p:nvPr/>
        </p:nvSpPr>
        <p:spPr>
          <a:xfrm>
            <a:off x="4800600" y="2286000"/>
            <a:ext cx="475488" cy="475488"/>
          </a:xfrm>
          <a:prstGeom prst="ellipse">
            <a:avLst/>
          </a:prstGeom>
          <a:solidFill>
            <a:srgbClr val="C40000"/>
          </a:solidFill>
          <a:ln/>
        </p:spPr>
      </p:sp>
      <p:sp>
        <p:nvSpPr>
          <p:cNvPr id="12" name="Text 9"/>
          <p:cNvSpPr txBox="1"/>
          <p:nvPr/>
        </p:nvSpPr>
        <p:spPr>
          <a:xfrm>
            <a:off x="480060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480060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案件</a:t>
            </a:r>
            <a:endParaRPr lang="en-US" sz="2400" dirty="0"/>
          </a:p>
        </p:txBody>
      </p:sp>
      <p:sp>
        <p:nvSpPr>
          <p:cNvPr id="14" name="Text 11"/>
          <p:cNvSpPr txBox="1"/>
          <p:nvPr/>
        </p:nvSpPr>
        <p:spPr>
          <a:xfrm>
            <a:off x="480060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影響力がつくと、企業から</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商品紹介などの案件が</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向こうからやって来る。</a:t>
            </a:r>
            <a:endParaRPr lang="en-US" sz="1800" dirty="0"/>
          </a:p>
        </p:txBody>
      </p:sp>
      <p:sp>
        <p:nvSpPr>
          <p:cNvPr id="15" name="Shape 12"/>
          <p:cNvSpPr/>
          <p:nvPr/>
        </p:nvSpPr>
        <p:spPr>
          <a:xfrm>
            <a:off x="8229600" y="1920240"/>
            <a:ext cx="3520440" cy="3566160"/>
          </a:xfrm>
          <a:prstGeom prst="roundRect">
            <a:avLst>
              <a:gd name="adj" fmla="val 3117"/>
            </a:avLst>
          </a:prstGeom>
          <a:solidFill>
            <a:srgbClr val="FFF3C4"/>
          </a:solidFill>
          <a:ln/>
        </p:spPr>
      </p:sp>
      <p:sp>
        <p:nvSpPr>
          <p:cNvPr id="16" name="Shape 13"/>
          <p:cNvSpPr/>
          <p:nvPr/>
        </p:nvSpPr>
        <p:spPr>
          <a:xfrm>
            <a:off x="8595360" y="2286000"/>
            <a:ext cx="475488" cy="475488"/>
          </a:xfrm>
          <a:prstGeom prst="ellipse">
            <a:avLst/>
          </a:prstGeom>
          <a:solidFill>
            <a:srgbClr val="C40000"/>
          </a:solidFill>
          <a:ln/>
        </p:spPr>
      </p:sp>
      <p:sp>
        <p:nvSpPr>
          <p:cNvPr id="17" name="Text 14"/>
          <p:cNvSpPr txBox="1"/>
          <p:nvPr/>
        </p:nvSpPr>
        <p:spPr>
          <a:xfrm>
            <a:off x="85953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8" name="Text 15"/>
          <p:cNvSpPr txBox="1"/>
          <p:nvPr/>
        </p:nvSpPr>
        <p:spPr>
          <a:xfrm>
            <a:off x="859536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幅が広がる</a:t>
            </a:r>
            <a:endParaRPr lang="en-US" sz="2400" dirty="0"/>
          </a:p>
        </p:txBody>
      </p:sp>
      <p:sp>
        <p:nvSpPr>
          <p:cNvPr id="19" name="Text 16"/>
          <p:cNvSpPr txBox="1"/>
          <p:nvPr/>
        </p:nvSpPr>
        <p:spPr>
          <a:xfrm>
            <a:off x="859536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集客・収益・案件と</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入り口が増えることは、</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事業の選択肢が増えること。</a:t>
            </a:r>
            <a:endParaRPr lang="en-US" sz="1800" dirty="0"/>
          </a:p>
        </p:txBody>
      </p:sp>
      <p:sp>
        <p:nvSpPr>
          <p:cNvPr id="20" name="Text 17"/>
          <p:cNvSpPr txBox="1"/>
          <p:nvPr/>
        </p:nvSpPr>
        <p:spPr>
          <a:xfrm>
            <a:off x="640080" y="585216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SNSを伸ばせる力が身につけば、そのまま自分の事業を大きくできる</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03</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YouTubeチャンネルの作り方</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…実は今日、開設手順の細かい説明はしません</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HOW TO</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細かい手順は、この動画で全部わかります</a:t>
            </a:r>
            <a:endParaRPr lang="en-US" sz="3000" dirty="0"/>
          </a:p>
        </p:txBody>
      </p:sp>
      <p:sp>
        <p:nvSpPr>
          <p:cNvPr id="5" name="Shape 2"/>
          <p:cNvSpPr/>
          <p:nvPr/>
        </p:nvSpPr>
        <p:spPr>
          <a:xfrm>
            <a:off x="640080" y="2011680"/>
            <a:ext cx="10972800" cy="1828800"/>
          </a:xfrm>
          <a:prstGeom prst="roundRect">
            <a:avLst>
              <a:gd name="adj" fmla="val 6000"/>
            </a:avLst>
          </a:prstGeom>
          <a:solidFill>
            <a:srgbClr val="FFF3C4"/>
          </a:solidFill>
          <a:ln/>
        </p:spPr>
      </p:sp>
      <p:sp>
        <p:nvSpPr>
          <p:cNvPr id="6" name="Shape 3"/>
          <p:cNvSpPr/>
          <p:nvPr/>
        </p:nvSpPr>
        <p:spPr>
          <a:xfrm>
            <a:off x="1005840" y="2377440"/>
            <a:ext cx="1554480" cy="1057046"/>
          </a:xfrm>
          <a:prstGeom prst="roundRect">
            <a:avLst>
              <a:gd name="adj" fmla="val 28000"/>
            </a:avLst>
          </a:prstGeom>
          <a:solidFill>
            <a:srgbClr val="E60000"/>
          </a:solidFill>
          <a:ln/>
        </p:spPr>
      </p:sp>
      <p:sp>
        <p:nvSpPr>
          <p:cNvPr id="7" name="Shape 4"/>
          <p:cNvSpPr/>
          <p:nvPr/>
        </p:nvSpPr>
        <p:spPr>
          <a:xfrm rot="5400000">
            <a:off x="1565453" y="2673413"/>
            <a:ext cx="466344" cy="465100"/>
          </a:xfrm>
          <a:prstGeom prst="triangle">
            <a:avLst/>
          </a:prstGeom>
          <a:solidFill>
            <a:srgbClr val="FFFFFF"/>
          </a:solidFill>
          <a:ln/>
        </p:spPr>
      </p:sp>
      <p:sp>
        <p:nvSpPr>
          <p:cNvPr id="8" name="Text 5"/>
          <p:cNvSpPr txBox="1"/>
          <p:nvPr/>
        </p:nvSpPr>
        <p:spPr>
          <a:xfrm>
            <a:off x="2926080" y="2331720"/>
            <a:ext cx="8229600" cy="4572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参考動画（チャンネル開設・初期設定）</a:t>
            </a:r>
            <a:endParaRPr lang="en-US" sz="2100" dirty="0"/>
          </a:p>
        </p:txBody>
      </p:sp>
      <p:sp>
        <p:nvSpPr>
          <p:cNvPr id="9" name="Text 6"/>
          <p:cNvSpPr txBox="1"/>
          <p:nvPr/>
        </p:nvSpPr>
        <p:spPr>
          <a:xfrm>
            <a:off x="2926080" y="2880360"/>
            <a:ext cx="8229600" cy="457200"/>
          </a:xfrm>
          <a:prstGeom prst="rect">
            <a:avLst/>
          </a:prstGeom>
          <a:noFill/>
          <a:ln/>
        </p:spPr>
        <p:txBody>
          <a:bodyPr wrap="square" lIns="0" tIns="0" rIns="0" bIns="0" rtlCol="0" anchor="ctr"/>
          <a:lstStyle/>
          <a:p>
            <a:pPr indent="0" marL="0">
              <a:buNone/>
            </a:pPr>
            <a:r>
              <a:rPr lang="en-US" sz="1900" dirty="0">
                <a:solidFill>
                  <a:srgbClr val="C40000"/>
                </a:solidFill>
                <a:latin typeface="Meiryo" pitchFamily="34" charset="0"/>
                <a:ea typeface="Meiryo" pitchFamily="34" charset="-122"/>
                <a:cs typeface="Meiryo" pitchFamily="34" charset="-120"/>
              </a:rPr>
              <a:t>https://youtu.be/Yryn168rxGk</a:t>
            </a:r>
            <a:endParaRPr lang="en-US" sz="1900" dirty="0"/>
          </a:p>
        </p:txBody>
      </p:sp>
      <p:sp>
        <p:nvSpPr>
          <p:cNvPr id="10" name="Text 7"/>
          <p:cNvSpPr txBox="1"/>
          <p:nvPr/>
        </p:nvSpPr>
        <p:spPr>
          <a:xfrm>
            <a:off x="640080" y="4297680"/>
            <a:ext cx="10972800" cy="548640"/>
          </a:xfrm>
          <a:prstGeom prst="rect">
            <a:avLst/>
          </a:prstGeom>
          <a:noFill/>
          <a:ln/>
        </p:spPr>
        <p:txBody>
          <a:bodyPr wrap="square" lIns="0" tIns="0" rIns="0" bIns="0" rtlCol="0" anchor="ctr"/>
          <a:lstStyle/>
          <a:p>
            <a:pPr indent="0" marL="0">
              <a:buNone/>
            </a:pPr>
            <a:r>
              <a:rPr lang="en-US" sz="2100" dirty="0">
                <a:solidFill>
                  <a:srgbClr val="666666"/>
                </a:solidFill>
                <a:latin typeface="Meiryo" pitchFamily="34" charset="0"/>
                <a:ea typeface="Meiryo" pitchFamily="34" charset="-122"/>
                <a:cs typeface="Meiryo" pitchFamily="34" charset="-120"/>
              </a:rPr>
              <a:t>なぜ今日ここで詳しくやらないのか？</a:t>
            </a:r>
            <a:endParaRPr lang="en-US" sz="2100" dirty="0"/>
          </a:p>
        </p:txBody>
      </p:sp>
      <p:sp>
        <p:nvSpPr>
          <p:cNvPr id="11" name="Text 8"/>
          <p:cNvSpPr txBox="1"/>
          <p:nvPr/>
        </p:nvSpPr>
        <p:spPr>
          <a:xfrm>
            <a:off x="640080" y="4846320"/>
            <a:ext cx="10972800" cy="640080"/>
          </a:xfrm>
          <a:prstGeom prst="rect">
            <a:avLst/>
          </a:prstGeom>
          <a:noFill/>
          <a:ln/>
        </p:spPr>
        <p:txBody>
          <a:bodyPr wrap="square" lIns="0" tIns="0" rIns="0" bIns="0" rtlCol="0" anchor="ctr"/>
          <a:lstStyle/>
          <a:p>
            <a:pPr indent="0" marL="0">
              <a:buNone/>
            </a:pPr>
            <a:r>
              <a:rPr lang="en-US" sz="2800" b="1" dirty="0">
                <a:solidFill>
                  <a:srgbClr val="C40000"/>
                </a:solidFill>
                <a:latin typeface="Meiryo" pitchFamily="34" charset="0"/>
                <a:ea typeface="Meiryo" pitchFamily="34" charset="-122"/>
                <a:cs typeface="Meiryo" pitchFamily="34" charset="-120"/>
              </a:rPr>
              <a:t>チャンネルページは、そこまで作り込みが要らないから</a:t>
            </a:r>
            <a:endParaRPr lang="en-US"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CASE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何のチャンネルか分からない。でも——</a:t>
            </a:r>
            <a:endParaRPr lang="en-US" sz="3000" dirty="0"/>
          </a:p>
        </p:txBody>
      </p:sp>
      <p:sp>
        <p:nvSpPr>
          <p:cNvPr id="5" name="Shape 2"/>
          <p:cNvSpPr/>
          <p:nvPr/>
        </p:nvSpPr>
        <p:spPr>
          <a:xfrm>
            <a:off x="640080" y="1783080"/>
            <a:ext cx="6035040" cy="4023360"/>
          </a:xfrm>
          <a:prstGeom prst="roundRect">
            <a:avLst>
              <a:gd name="adj" fmla="val 2727"/>
            </a:avLst>
          </a:prstGeom>
          <a:solidFill>
            <a:srgbClr val="FFF3C4"/>
          </a:solidFill>
          <a:ln/>
        </p:spPr>
      </p:sp>
      <p:sp>
        <p:nvSpPr>
          <p:cNvPr id="6" name="Text 3"/>
          <p:cNvSpPr txBox="1"/>
          <p:nvPr/>
        </p:nvSpPr>
        <p:spPr>
          <a:xfrm>
            <a:off x="1005840" y="2103120"/>
            <a:ext cx="5303520" cy="457200"/>
          </a:xfrm>
          <a:prstGeom prst="rect">
            <a:avLst/>
          </a:prstGeom>
          <a:noFill/>
          <a:ln/>
        </p:spPr>
        <p:txBody>
          <a:bodyPr wrap="square" lIns="0" tIns="0" rIns="0" bIns="0" rtlCol="0" anchor="ctr"/>
          <a:lstStyle/>
          <a:p>
            <a:pPr indent="0" marL="0">
              <a:buNone/>
            </a:pPr>
            <a:r>
              <a:rPr lang="en-US" sz="1900" b="1" dirty="0">
                <a:solidFill>
                  <a:srgbClr val="222222"/>
                </a:solidFill>
                <a:latin typeface="Meiryo" pitchFamily="34" charset="0"/>
                <a:ea typeface="Meiryo" pitchFamily="34" charset="-122"/>
                <a:cs typeface="Meiryo" pitchFamily="34" charset="-120"/>
              </a:rPr>
              <a:t>実例チャンネル</a:t>
            </a:r>
            <a:endParaRPr lang="en-US" sz="1900" dirty="0"/>
          </a:p>
        </p:txBody>
      </p:sp>
      <p:sp>
        <p:nvSpPr>
          <p:cNvPr id="7" name="Text 4"/>
          <p:cNvSpPr txBox="1"/>
          <p:nvPr/>
        </p:nvSpPr>
        <p:spPr>
          <a:xfrm>
            <a:off x="1005840" y="2560320"/>
            <a:ext cx="5303520" cy="457200"/>
          </a:xfrm>
          <a:prstGeom prst="rect">
            <a:avLst/>
          </a:prstGeom>
          <a:noFill/>
          <a:ln/>
        </p:spPr>
        <p:txBody>
          <a:bodyPr wrap="square" lIns="0" tIns="0" rIns="0" bIns="0" rtlCol="0" anchor="ctr"/>
          <a:lstStyle/>
          <a:p>
            <a:pPr indent="0" marL="0">
              <a:buNone/>
            </a:pPr>
            <a:r>
              <a:rPr lang="en-US" sz="1900" dirty="0">
                <a:solidFill>
                  <a:srgbClr val="C40000"/>
                </a:solidFill>
                <a:latin typeface="Meiryo" pitchFamily="34" charset="0"/>
                <a:ea typeface="Meiryo" pitchFamily="34" charset="-122"/>
                <a:cs typeface="Meiryo" pitchFamily="34" charset="-120"/>
              </a:rPr>
              <a:t>youtube.com/@wawawa1840</a:t>
            </a:r>
            <a:endParaRPr lang="en-US" sz="1900" dirty="0"/>
          </a:p>
        </p:txBody>
      </p:sp>
      <p:sp>
        <p:nvSpPr>
          <p:cNvPr id="8" name="Text 5"/>
          <p:cNvSpPr txBox="1"/>
          <p:nvPr/>
        </p:nvSpPr>
        <p:spPr>
          <a:xfrm>
            <a:off x="1005840" y="3108960"/>
            <a:ext cx="5303520" cy="457200"/>
          </a:xfrm>
          <a:prstGeom prst="rect">
            <a:avLst/>
          </a:prstGeom>
          <a:noFill/>
          <a:ln/>
        </p:spPr>
        <p:txBody>
          <a:bodyPr wrap="square" lIns="0" tIns="0" rIns="0" bIns="0" rtlCol="0" anchor="ctr"/>
          <a:lstStyle/>
          <a:p>
            <a:pPr indent="0" marL="0">
              <a:buNone/>
            </a:pPr>
            <a:r>
              <a:rPr lang="en-US" sz="1700" dirty="0">
                <a:solidFill>
                  <a:srgbClr val="666666"/>
                </a:solidFill>
                <a:latin typeface="Meiryo" pitchFamily="34" charset="0"/>
                <a:ea typeface="Meiryo" pitchFamily="34" charset="-122"/>
                <a:cs typeface="Meiryo" pitchFamily="34" charset="-120"/>
              </a:rPr>
              <a:t>（当日、実際の画面を表示）</a:t>
            </a:r>
            <a:endParaRPr lang="en-US" sz="1700" dirty="0"/>
          </a:p>
        </p:txBody>
      </p:sp>
      <p:sp>
        <p:nvSpPr>
          <p:cNvPr id="9" name="Text 6"/>
          <p:cNvSpPr txBox="1"/>
          <p:nvPr/>
        </p:nvSpPr>
        <p:spPr>
          <a:xfrm>
            <a:off x="1005840" y="4023360"/>
            <a:ext cx="5303520" cy="1280160"/>
          </a:xfrm>
          <a:prstGeom prst="rect">
            <a:avLst/>
          </a:prstGeom>
          <a:noFill/>
          <a:ln/>
        </p:spPr>
        <p:txBody>
          <a:bodyPr wrap="square" lIns="0" tIns="0" rIns="0" bIns="0" rtlCol="0" anchor="ctr"/>
          <a:lstStyle/>
          <a:p>
            <a:pPr indent="0" marL="0">
              <a:buNone/>
            </a:pPr>
            <a:r>
              <a:rPr lang="en-US" sz="1900" dirty="0">
                <a:solidFill>
                  <a:srgbClr val="222222"/>
                </a:solidFill>
                <a:latin typeface="Meiryo" pitchFamily="34" charset="0"/>
                <a:ea typeface="Meiryo" pitchFamily="34" charset="-122"/>
                <a:cs typeface="Meiryo" pitchFamily="34" charset="-120"/>
              </a:rPr>
              <a:t>チャンネルアートも概要欄も</a:t>
            </a:r>
            <a:endParaRPr lang="en-US" sz="1900" dirty="0"/>
          </a:p>
          <a:p>
            <a:pPr indent="0" marL="0">
              <a:buNone/>
            </a:pPr>
            <a:r>
              <a:rPr lang="en-US" sz="1900" dirty="0">
                <a:solidFill>
                  <a:srgbClr val="222222"/>
                </a:solidFill>
                <a:latin typeface="Meiryo" pitchFamily="34" charset="0"/>
                <a:ea typeface="Meiryo" pitchFamily="34" charset="-122"/>
                <a:cs typeface="Meiryo" pitchFamily="34" charset="-120"/>
              </a:rPr>
              <a:t>作り込まれていない</a:t>
            </a:r>
            <a:endParaRPr lang="en-US" sz="1900" dirty="0"/>
          </a:p>
        </p:txBody>
      </p:sp>
      <p:sp>
        <p:nvSpPr>
          <p:cNvPr id="10" name="Text 7"/>
          <p:cNvSpPr txBox="1"/>
          <p:nvPr/>
        </p:nvSpPr>
        <p:spPr>
          <a:xfrm>
            <a:off x="7132320" y="2194560"/>
            <a:ext cx="18288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最高</a:t>
            </a:r>
            <a:endParaRPr lang="en-US" sz="2200" dirty="0"/>
          </a:p>
        </p:txBody>
      </p:sp>
      <p:sp>
        <p:nvSpPr>
          <p:cNvPr id="11" name="Text 8"/>
          <p:cNvSpPr txBox="1"/>
          <p:nvPr/>
        </p:nvSpPr>
        <p:spPr>
          <a:xfrm>
            <a:off x="7132320" y="2743200"/>
            <a:ext cx="4572000" cy="91440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250万再生超</a:t>
            </a:r>
            <a:endParaRPr lang="en-US" sz="4400" dirty="0"/>
          </a:p>
        </p:txBody>
      </p:sp>
      <p:sp>
        <p:nvSpPr>
          <p:cNvPr id="12" name="Text 9"/>
          <p:cNvSpPr txBox="1"/>
          <p:nvPr/>
        </p:nvSpPr>
        <p:spPr>
          <a:xfrm>
            <a:off x="7132320" y="3749040"/>
            <a:ext cx="4480560" cy="82296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しかも一発屋ではなく、コンスタントに再生を獲得</a:t>
            </a:r>
            <a:endParaRPr lang="en-US" sz="1900" dirty="0"/>
          </a:p>
        </p:txBody>
      </p:sp>
      <p:sp>
        <p:nvSpPr>
          <p:cNvPr id="13" name="Text 10"/>
          <p:cNvSpPr txBox="1"/>
          <p:nvPr/>
        </p:nvSpPr>
        <p:spPr>
          <a:xfrm>
            <a:off x="640080" y="5943600"/>
            <a:ext cx="10972800" cy="777240"/>
          </a:xfrm>
          <a:prstGeom prst="rect">
            <a:avLst/>
          </a:prstGeom>
          <a:noFill/>
          <a:ln/>
        </p:spPr>
        <p:txBody>
          <a:bodyPr wrap="square" lIns="0" tIns="0" rIns="0" bIns="0" rtlCol="0" anchor="ctr"/>
          <a:lstStyle/>
          <a:p>
            <a:pPr indent="0" marL="0">
              <a:buNone/>
            </a:pPr>
            <a:r>
              <a:rPr lang="en-US" sz="2000" b="1" dirty="0">
                <a:solidFill>
                  <a:srgbClr val="222222"/>
                </a:solidFill>
                <a:latin typeface="Meiryo" pitchFamily="34" charset="0"/>
                <a:ea typeface="Meiryo" pitchFamily="34" charset="-122"/>
                <a:cs typeface="Meiryo" pitchFamily="34" charset="-120"/>
              </a:rPr>
              <a:t>チャンネルページの役割は「どういうチャンネルか」を</a:t>
            </a:r>
            <a:endParaRPr lang="en-US" sz="2000" dirty="0"/>
          </a:p>
          <a:p>
            <a:pPr indent="0" marL="0">
              <a:buNone/>
            </a:pPr>
            <a:r>
              <a:rPr lang="en-US" sz="2000" b="1" dirty="0">
                <a:solidFill>
                  <a:srgbClr val="222222"/>
                </a:solidFill>
                <a:latin typeface="Meiryo" pitchFamily="34" charset="0"/>
                <a:ea typeface="Meiryo" pitchFamily="34" charset="-122"/>
                <a:cs typeface="Meiryo" pitchFamily="34" charset="-120"/>
              </a:rPr>
              <a:t>知ってもらうだけで十分。世界観は動画の中で伝える。</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FOR BUSINESS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ただし、会社のチャンネルは少し違います</a:t>
            </a:r>
            <a:endParaRPr lang="en-US" sz="3000" dirty="0"/>
          </a:p>
        </p:txBody>
      </p:sp>
      <p:sp>
        <p:nvSpPr>
          <p:cNvPr id="5" name="Shape 2"/>
          <p:cNvSpPr/>
          <p:nvPr/>
        </p:nvSpPr>
        <p:spPr>
          <a:xfrm>
            <a:off x="640080" y="1828800"/>
            <a:ext cx="5257800" cy="2926080"/>
          </a:xfrm>
          <a:prstGeom prst="roundRect">
            <a:avLst>
              <a:gd name="adj" fmla="val 3750"/>
            </a:avLst>
          </a:prstGeom>
          <a:solidFill>
            <a:srgbClr val="FFF3C4"/>
          </a:solidFill>
          <a:ln/>
        </p:spPr>
      </p:sp>
      <p:sp>
        <p:nvSpPr>
          <p:cNvPr id="6" name="Text 3"/>
          <p:cNvSpPr txBox="1"/>
          <p:nvPr/>
        </p:nvSpPr>
        <p:spPr>
          <a:xfrm>
            <a:off x="1051560" y="2148840"/>
            <a:ext cx="4572000" cy="64008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広告収益型（顔出しなし等）</a:t>
            </a:r>
            <a:endParaRPr lang="en-US" sz="2200" dirty="0"/>
          </a:p>
        </p:txBody>
      </p:sp>
      <p:sp>
        <p:nvSpPr>
          <p:cNvPr id="7" name="Text 4"/>
          <p:cNvSpPr txBox="1"/>
          <p:nvPr/>
        </p:nvSpPr>
        <p:spPr>
          <a:xfrm>
            <a:off x="1051560" y="2880360"/>
            <a:ext cx="457200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チャンネルアートはそこそこでOK。</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動画のクオリティさえ担保すれば</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収益は成り立つ。</a:t>
            </a:r>
            <a:endParaRPr lang="en-US" sz="1800" dirty="0"/>
          </a:p>
        </p:txBody>
      </p:sp>
      <p:sp>
        <p:nvSpPr>
          <p:cNvPr id="8" name="Shape 5"/>
          <p:cNvSpPr/>
          <p:nvPr/>
        </p:nvSpPr>
        <p:spPr>
          <a:xfrm>
            <a:off x="6309360" y="1828800"/>
            <a:ext cx="5257800" cy="2926080"/>
          </a:xfrm>
          <a:prstGeom prst="roundRect">
            <a:avLst>
              <a:gd name="adj" fmla="val 3750"/>
            </a:avLst>
          </a:prstGeom>
          <a:solidFill>
            <a:srgbClr val="C40000"/>
          </a:solidFill>
          <a:ln/>
        </p:spPr>
      </p:sp>
      <p:sp>
        <p:nvSpPr>
          <p:cNvPr id="9" name="Text 6"/>
          <p:cNvSpPr txBox="1"/>
          <p:nvPr/>
        </p:nvSpPr>
        <p:spPr>
          <a:xfrm>
            <a:off x="6720840" y="2148840"/>
            <a:ext cx="4572000" cy="64008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会社・お店のチャンネル</a:t>
            </a:r>
            <a:endParaRPr lang="en-US" sz="2200" dirty="0"/>
          </a:p>
        </p:txBody>
      </p:sp>
      <p:sp>
        <p:nvSpPr>
          <p:cNvPr id="10" name="Text 7"/>
          <p:cNvSpPr txBox="1"/>
          <p:nvPr/>
        </p:nvSpPr>
        <p:spPr>
          <a:xfrm>
            <a:off x="6720840" y="2880360"/>
            <a:ext cx="4572000" cy="164592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チャンネルページ＝会社の看板。</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「何をやっている会社か」が</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伝わる程度に作り込む。</a:t>
            </a:r>
            <a:endParaRPr lang="en-US" sz="1800" dirty="0"/>
          </a:p>
        </p:txBody>
      </p:sp>
      <p:sp>
        <p:nvSpPr>
          <p:cNvPr id="11" name="Shape 8"/>
          <p:cNvSpPr/>
          <p:nvPr/>
        </p:nvSpPr>
        <p:spPr>
          <a:xfrm>
            <a:off x="640080" y="5029200"/>
            <a:ext cx="10972800" cy="1280160"/>
          </a:xfrm>
          <a:prstGeom prst="roundRect">
            <a:avLst>
              <a:gd name="adj" fmla="val 8571"/>
            </a:avLst>
          </a:prstGeom>
          <a:solidFill>
            <a:srgbClr val="FFD400"/>
          </a:solidFill>
          <a:ln/>
        </p:spPr>
      </p:sp>
      <p:sp>
        <p:nvSpPr>
          <p:cNvPr id="12" name="Text 9"/>
          <p:cNvSpPr txBox="1"/>
          <p:nvPr/>
        </p:nvSpPr>
        <p:spPr>
          <a:xfrm>
            <a:off x="1005840" y="5120640"/>
            <a:ext cx="10241280" cy="109728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概要欄は「視聴者をお客さんに変える入り口」。HPリンク・事業内容・問い合わせ先はしっかり書く</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SEO</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概要欄は、Google検索の入り口にもなります</a:t>
            </a:r>
            <a:endParaRPr lang="en-US" sz="3000" dirty="0"/>
          </a:p>
        </p:txBody>
      </p:sp>
      <p:sp>
        <p:nvSpPr>
          <p:cNvPr id="5" name="Shape 2"/>
          <p:cNvSpPr/>
          <p:nvPr/>
        </p:nvSpPr>
        <p:spPr>
          <a:xfrm>
            <a:off x="640080" y="1828800"/>
            <a:ext cx="10972800" cy="1554480"/>
          </a:xfrm>
          <a:prstGeom prst="roundRect">
            <a:avLst>
              <a:gd name="adj" fmla="val 7059"/>
            </a:avLst>
          </a:prstGeom>
          <a:solidFill>
            <a:srgbClr val="C40000"/>
          </a:solidFill>
          <a:ln/>
        </p:spPr>
      </p:sp>
      <p:sp>
        <p:nvSpPr>
          <p:cNvPr id="6" name="Text 3"/>
          <p:cNvSpPr txBox="1"/>
          <p:nvPr/>
        </p:nvSpPr>
        <p:spPr>
          <a:xfrm>
            <a:off x="1097280" y="1965960"/>
            <a:ext cx="10058400" cy="1280160"/>
          </a:xfrm>
          <a:prstGeom prst="rect">
            <a:avLst/>
          </a:prstGeom>
          <a:noFill/>
          <a:ln/>
        </p:spPr>
        <p:txBody>
          <a:bodyPr wrap="square" lIns="0" tIns="0" rIns="0" bIns="0" rtlCol="0" anchor="ctr"/>
          <a:lstStyle/>
          <a:p>
            <a:pPr indent="0" marL="0">
              <a:buNone/>
            </a:pPr>
            <a:r>
              <a:rPr lang="en-US" sz="2600" b="1" dirty="0">
                <a:solidFill>
                  <a:srgbClr val="FFD400"/>
                </a:solidFill>
                <a:latin typeface="Meiryo" pitchFamily="34" charset="0"/>
                <a:ea typeface="Meiryo" pitchFamily="34" charset="-122"/>
                <a:cs typeface="Meiryo" pitchFamily="34" charset="-120"/>
              </a:rPr>
              <a:t>YouTubeはGoogleのサービス ＝ Google検索に動画が出る</a:t>
            </a:r>
            <a:endParaRPr lang="en-US" sz="2600" dirty="0"/>
          </a:p>
        </p:txBody>
      </p:sp>
      <p:sp>
        <p:nvSpPr>
          <p:cNvPr id="7" name="Shape 4"/>
          <p:cNvSpPr/>
          <p:nvPr/>
        </p:nvSpPr>
        <p:spPr>
          <a:xfrm>
            <a:off x="640080" y="3657600"/>
            <a:ext cx="10972800" cy="1371600"/>
          </a:xfrm>
          <a:prstGeom prst="roundRect">
            <a:avLst>
              <a:gd name="adj" fmla="val 8000"/>
            </a:avLst>
          </a:prstGeom>
          <a:solidFill>
            <a:srgbClr val="FFF3C4"/>
          </a:solidFill>
          <a:ln/>
        </p:spPr>
      </p:sp>
      <p:sp>
        <p:nvSpPr>
          <p:cNvPr id="8" name="Text 5"/>
          <p:cNvSpPr txBox="1"/>
          <p:nvPr/>
        </p:nvSpPr>
        <p:spPr>
          <a:xfrm>
            <a:off x="1005840" y="3749040"/>
            <a:ext cx="10241280" cy="1188720"/>
          </a:xfrm>
          <a:prstGeom prst="rect">
            <a:avLst/>
          </a:prstGeom>
          <a:noFill/>
          <a:ln/>
        </p:spPr>
        <p:txBody>
          <a:bodyPr wrap="square" lIns="0" tIns="0" rIns="0" bIns="0" rtlCol="0" anchor="ctr"/>
          <a:lstStyle/>
          <a:p>
            <a:pPr indent="0" marL="0">
              <a:buNone/>
            </a:pPr>
            <a:r>
              <a:rPr lang="en-US" sz="2000" b="1" dirty="0">
                <a:solidFill>
                  <a:srgbClr val="222222"/>
                </a:solidFill>
                <a:latin typeface="Meiryo" pitchFamily="34" charset="0"/>
                <a:ea typeface="Meiryo" pitchFamily="34" charset="-122"/>
                <a:cs typeface="Meiryo" pitchFamily="34" charset="-120"/>
              </a:rPr>
              <a:t>（この場でGoogle検索を実演 → 検索結果に動画が表示されることを見せる）</a:t>
            </a:r>
            <a:endParaRPr lang="en-US" sz="2000" dirty="0"/>
          </a:p>
        </p:txBody>
      </p:sp>
      <p:sp>
        <p:nvSpPr>
          <p:cNvPr id="9" name="Text 6"/>
          <p:cNvSpPr txBox="1"/>
          <p:nvPr/>
        </p:nvSpPr>
        <p:spPr>
          <a:xfrm>
            <a:off x="640080" y="5303520"/>
            <a:ext cx="10972800" cy="1097280"/>
          </a:xfrm>
          <a:prstGeom prst="rect">
            <a:avLst/>
          </a:prstGeom>
          <a:noFill/>
          <a:ln/>
        </p:spPr>
        <p:txBody>
          <a:bodyPr wrap="square" lIns="0" tIns="0" rIns="0" bIns="0" rtlCol="0" anchor="ctr"/>
          <a:lstStyle/>
          <a:p>
            <a:pPr indent="0" marL="0">
              <a:buNone/>
            </a:pPr>
            <a:r>
              <a:rPr lang="en-US" sz="1900" dirty="0">
                <a:solidFill>
                  <a:srgbClr val="222222"/>
                </a:solidFill>
                <a:latin typeface="Meiryo" pitchFamily="34" charset="0"/>
                <a:ea typeface="Meiryo" pitchFamily="34" charset="-122"/>
                <a:cs typeface="Meiryo" pitchFamily="34" charset="-120"/>
              </a:rPr>
              <a:t>私のチャンネルにも、Google検索から多くの視聴者が来ています。</a:t>
            </a:r>
            <a:endParaRPr lang="en-US" sz="1900" dirty="0"/>
          </a:p>
          <a:p>
            <a:pPr indent="0" marL="0">
              <a:buNone/>
            </a:pPr>
            <a:r>
              <a:rPr lang="en-US" sz="1900" dirty="0">
                <a:solidFill>
                  <a:srgbClr val="222222"/>
                </a:solidFill>
                <a:latin typeface="Meiryo" pitchFamily="34" charset="0"/>
                <a:ea typeface="Meiryo" pitchFamily="34" charset="-122"/>
                <a:cs typeface="Meiryo" pitchFamily="34" charset="-120"/>
              </a:rPr>
              <a:t>概要欄に「何をしている会社か」を書いておくことが、そのまま検索からの入り口になります。</a:t>
            </a:r>
            <a:endParaRPr lang="en-US" sz="1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04</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YouTubeが伸びる仕組み</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アルゴリズム・クリック率・視聴維持率…より大事なこと</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ESSENCE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一番大事なのは「視聴者理解」</a:t>
            </a:r>
            <a:endParaRPr lang="en-US" sz="3000" dirty="0"/>
          </a:p>
        </p:txBody>
      </p:sp>
      <p:sp>
        <p:nvSpPr>
          <p:cNvPr id="5" name="Shape 2"/>
          <p:cNvSpPr/>
          <p:nvPr/>
        </p:nvSpPr>
        <p:spPr>
          <a:xfrm>
            <a:off x="640080" y="1828800"/>
            <a:ext cx="5394960" cy="3840480"/>
          </a:xfrm>
          <a:prstGeom prst="roundRect">
            <a:avLst>
              <a:gd name="adj" fmla="val 2857"/>
            </a:avLst>
          </a:prstGeom>
          <a:solidFill>
            <a:srgbClr val="FFF3C4"/>
          </a:solidFill>
          <a:ln/>
        </p:spPr>
      </p:sp>
      <p:sp>
        <p:nvSpPr>
          <p:cNvPr id="6" name="Text 3"/>
          <p:cNvSpPr txBox="1"/>
          <p:nvPr/>
        </p:nvSpPr>
        <p:spPr>
          <a:xfrm>
            <a:off x="1005840" y="2194560"/>
            <a:ext cx="4663440" cy="548640"/>
          </a:xfrm>
          <a:prstGeom prst="rect">
            <a:avLst/>
          </a:prstGeom>
          <a:noFill/>
          <a:ln/>
        </p:spPr>
        <p:txBody>
          <a:bodyPr wrap="square" lIns="0" tIns="0" rIns="0" bIns="0" rtlCol="0" anchor="ctr"/>
          <a:lstStyle/>
          <a:p>
            <a:pPr indent="0" marL="0">
              <a:buNone/>
            </a:pPr>
            <a:r>
              <a:rPr lang="en-US" sz="2200" b="1" dirty="0">
                <a:solidFill>
                  <a:srgbClr val="666666"/>
                </a:solidFill>
                <a:latin typeface="Meiryo" pitchFamily="34" charset="0"/>
                <a:ea typeface="Meiryo" pitchFamily="34" charset="-122"/>
                <a:cs typeface="Meiryo" pitchFamily="34" charset="-120"/>
              </a:rPr>
              <a:t>数値（CTR・視聴維持率）</a:t>
            </a:r>
            <a:endParaRPr lang="en-US" sz="2200" dirty="0"/>
          </a:p>
        </p:txBody>
      </p:sp>
      <p:sp>
        <p:nvSpPr>
          <p:cNvPr id="7" name="Text 4"/>
          <p:cNvSpPr txBox="1"/>
          <p:nvPr/>
        </p:nvSpPr>
        <p:spPr>
          <a:xfrm>
            <a:off x="1005840" y="2834640"/>
            <a:ext cx="4663440" cy="128016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自分が出した動画がどんな数値を取れたか。</a:t>
            </a:r>
            <a:endParaRPr lang="en-US" sz="1900" dirty="0"/>
          </a:p>
          <a:p>
            <a:pPr indent="0" marL="0">
              <a:buNone/>
            </a:pPr>
            <a:r>
              <a:rPr lang="en-US" sz="1900" dirty="0">
                <a:solidFill>
                  <a:srgbClr val="666666"/>
                </a:solidFill>
                <a:latin typeface="Meiryo" pitchFamily="34" charset="0"/>
                <a:ea typeface="Meiryo" pitchFamily="34" charset="-122"/>
                <a:cs typeface="Meiryo" pitchFamily="34" charset="-120"/>
              </a:rPr>
              <a:t>つまり、動画を出した「あと」の話。</a:t>
            </a:r>
            <a:endParaRPr lang="en-US" sz="1900" dirty="0"/>
          </a:p>
        </p:txBody>
      </p:sp>
      <p:sp>
        <p:nvSpPr>
          <p:cNvPr id="8" name="Shape 5"/>
          <p:cNvSpPr/>
          <p:nvPr/>
        </p:nvSpPr>
        <p:spPr>
          <a:xfrm>
            <a:off x="6309360" y="1828800"/>
            <a:ext cx="5257800" cy="3840480"/>
          </a:xfrm>
          <a:prstGeom prst="roundRect">
            <a:avLst>
              <a:gd name="adj" fmla="val 2857"/>
            </a:avLst>
          </a:prstGeom>
          <a:solidFill>
            <a:srgbClr val="C40000"/>
          </a:solidFill>
          <a:ln/>
        </p:spPr>
      </p:sp>
      <p:sp>
        <p:nvSpPr>
          <p:cNvPr id="9" name="Text 6"/>
          <p:cNvSpPr txBox="1"/>
          <p:nvPr/>
        </p:nvSpPr>
        <p:spPr>
          <a:xfrm>
            <a:off x="6675120" y="2194560"/>
            <a:ext cx="4572000" cy="548640"/>
          </a:xfrm>
          <a:prstGeom prst="rect">
            <a:avLst/>
          </a:prstGeom>
          <a:noFill/>
          <a:ln/>
        </p:spPr>
        <p:txBody>
          <a:bodyPr wrap="square" lIns="0" tIns="0" rIns="0" bIns="0" rtlCol="0" anchor="ctr"/>
          <a:lstStyle/>
          <a:p>
            <a:pPr indent="0" marL="0">
              <a:buNone/>
            </a:pPr>
            <a:r>
              <a:rPr lang="en-US" sz="2400" b="1" dirty="0">
                <a:solidFill>
                  <a:srgbClr val="FFFFFF"/>
                </a:solidFill>
                <a:latin typeface="Meiryo" pitchFamily="34" charset="0"/>
                <a:ea typeface="Meiryo" pitchFamily="34" charset="-122"/>
                <a:cs typeface="Meiryo" pitchFamily="34" charset="-120"/>
              </a:rPr>
              <a:t>視聴者理解</a:t>
            </a:r>
            <a:endParaRPr lang="en-US" sz="2400" dirty="0"/>
          </a:p>
        </p:txBody>
      </p:sp>
      <p:sp>
        <p:nvSpPr>
          <p:cNvPr id="10" name="Text 7"/>
          <p:cNvSpPr txBox="1"/>
          <p:nvPr/>
        </p:nvSpPr>
        <p:spPr>
          <a:xfrm>
            <a:off x="6675120" y="2834640"/>
            <a:ext cx="4572000" cy="1463040"/>
          </a:xfrm>
          <a:prstGeom prst="rect">
            <a:avLst/>
          </a:prstGeom>
          <a:noFill/>
          <a:ln/>
        </p:spPr>
        <p:txBody>
          <a:bodyPr wrap="square" lIns="0" tIns="0" rIns="0" bIns="0" rtlCol="0" anchor="ctr"/>
          <a:lstStyle/>
          <a:p>
            <a:pPr indent="0" marL="0">
              <a:buNone/>
            </a:pPr>
            <a:r>
              <a:rPr lang="en-US" sz="1900" dirty="0">
                <a:solidFill>
                  <a:srgbClr val="FFFFFF"/>
                </a:solidFill>
                <a:latin typeface="Meiryo" pitchFamily="34" charset="0"/>
                <a:ea typeface="Meiryo" pitchFamily="34" charset="-122"/>
                <a:cs typeface="Meiryo" pitchFamily="34" charset="-120"/>
              </a:rPr>
              <a:t>視聴者は、どんな動画の、どんな要素を</a:t>
            </a:r>
            <a:endParaRPr lang="en-US" sz="1900" dirty="0"/>
          </a:p>
          <a:p>
            <a:pPr indent="0" marL="0">
              <a:buNone/>
            </a:pPr>
            <a:r>
              <a:rPr lang="en-US" sz="1900" dirty="0">
                <a:solidFill>
                  <a:srgbClr val="FFFFFF"/>
                </a:solidFill>
                <a:latin typeface="Meiryo" pitchFamily="34" charset="0"/>
                <a:ea typeface="Meiryo" pitchFamily="34" charset="-122"/>
                <a:cs typeface="Meiryo" pitchFamily="34" charset="-120"/>
              </a:rPr>
              <a:t>好んで見ているのか。</a:t>
            </a:r>
            <a:endParaRPr lang="en-US" sz="1900" dirty="0"/>
          </a:p>
          <a:p>
            <a:pPr indent="0" marL="0">
              <a:buNone/>
            </a:pPr>
            <a:r>
              <a:rPr lang="en-US" sz="1900" dirty="0">
                <a:solidFill>
                  <a:srgbClr val="FFFFFF"/>
                </a:solidFill>
                <a:latin typeface="Meiryo" pitchFamily="34" charset="0"/>
                <a:ea typeface="Meiryo" pitchFamily="34" charset="-122"/>
                <a:cs typeface="Meiryo" pitchFamily="34" charset="-120"/>
              </a:rPr>
              <a:t>動画を出す「前」にやるべきこと。</a:t>
            </a:r>
            <a:endParaRPr lang="en-US" sz="1900" dirty="0"/>
          </a:p>
        </p:txBody>
      </p:sp>
      <p:sp>
        <p:nvSpPr>
          <p:cNvPr id="11" name="Text 8"/>
          <p:cNvSpPr txBox="1"/>
          <p:nvPr/>
        </p:nvSpPr>
        <p:spPr>
          <a:xfrm>
            <a:off x="6675120" y="4754880"/>
            <a:ext cx="4572000" cy="640080"/>
          </a:xfrm>
          <a:prstGeom prst="rect">
            <a:avLst/>
          </a:prstGeom>
          <a:noFill/>
          <a:ln/>
        </p:spPr>
        <p:txBody>
          <a:bodyPr wrap="square" lIns="0" tIns="0" rIns="0" bIns="0" rtlCol="0" anchor="ctr"/>
          <a:lstStyle/>
          <a:p>
            <a:pPr indent="0" marL="0">
              <a:buNone/>
            </a:pPr>
            <a:r>
              <a:rPr lang="en-US" sz="2800" b="1" dirty="0">
                <a:solidFill>
                  <a:srgbClr val="FFD400"/>
                </a:solidFill>
                <a:latin typeface="Meiryo" pitchFamily="34" charset="0"/>
                <a:ea typeface="Meiryo" pitchFamily="34" charset="-122"/>
                <a:cs typeface="Meiryo" pitchFamily="34" charset="-120"/>
              </a:rPr>
              <a:t>こっちが先！</a:t>
            </a:r>
            <a:endParaRPr lang="en-US" sz="2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CAUTION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釣りサムネはやめた方がいい</a:t>
            </a:r>
            <a:endParaRPr lang="en-US" sz="3000" dirty="0"/>
          </a:p>
        </p:txBody>
      </p:sp>
      <p:pic>
        <p:nvPicPr>
          <p:cNvPr id="4" name="Picture 3" descr="illust_sample.png"/>
          <p:cNvPicPr>
            <a:picLocks noChangeAspect="1"/>
          </p:cNvPicPr>
          <p:nvPr/>
        </p:nvPicPr>
        <p:blipFill>
          <a:blip r:embed="rId3"/>
          <a:stretch>
            <a:fillRect/>
          </a:stretch>
        </p:blipFill>
        <p:spPr>
          <a:xfrm>
            <a:off x="1400892" y="1783080"/>
            <a:ext cx="9390184"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釣りサムネ＝見た目だけ良くて中身がスカスカの商品を売るのと同じこと</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TRAP</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データから入る「数値のワナ」</a:t>
            </a:r>
            <a:endParaRPr lang="en-US" sz="3000" dirty="0"/>
          </a:p>
        </p:txBody>
      </p:sp>
      <p:sp>
        <p:nvSpPr>
          <p:cNvPr id="5" name="Shape 2"/>
          <p:cNvSpPr/>
          <p:nvPr/>
        </p:nvSpPr>
        <p:spPr>
          <a:xfrm>
            <a:off x="731520" y="1920240"/>
            <a:ext cx="475488" cy="475488"/>
          </a:xfrm>
          <a:prstGeom prst="ellipse">
            <a:avLst/>
          </a:prstGeom>
          <a:solidFill>
            <a:srgbClr val="C40000"/>
          </a:solidFill>
          <a:ln/>
        </p:spPr>
      </p:sp>
      <p:sp>
        <p:nvSpPr>
          <p:cNvPr id="6" name="Text 3"/>
          <p:cNvSpPr txBox="1"/>
          <p:nvPr/>
        </p:nvSpPr>
        <p:spPr>
          <a:xfrm>
            <a:off x="731520" y="191109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82880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需要のない動画を出す</a:t>
            </a:r>
            <a:endParaRPr lang="en-US" sz="2200" dirty="0"/>
          </a:p>
        </p:txBody>
      </p:sp>
      <p:sp>
        <p:nvSpPr>
          <p:cNvPr id="8" name="Shape 5"/>
          <p:cNvSpPr/>
          <p:nvPr/>
        </p:nvSpPr>
        <p:spPr>
          <a:xfrm>
            <a:off x="731520" y="2971800"/>
            <a:ext cx="475488" cy="475488"/>
          </a:xfrm>
          <a:prstGeom prst="ellipse">
            <a:avLst/>
          </a:prstGeom>
          <a:solidFill>
            <a:srgbClr val="C40000"/>
          </a:solidFill>
          <a:ln/>
        </p:spPr>
      </p:sp>
      <p:sp>
        <p:nvSpPr>
          <p:cNvPr id="9" name="Text 6"/>
          <p:cNvSpPr txBox="1"/>
          <p:nvPr/>
        </p:nvSpPr>
        <p:spPr>
          <a:xfrm>
            <a:off x="731520" y="29626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0" name="Text 7"/>
          <p:cNvSpPr txBox="1"/>
          <p:nvPr/>
        </p:nvSpPr>
        <p:spPr>
          <a:xfrm>
            <a:off x="1463040" y="288036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見る人が少ない＝視聴データが少ない</a:t>
            </a:r>
            <a:endParaRPr lang="en-US" sz="2200" dirty="0"/>
          </a:p>
        </p:txBody>
      </p:sp>
      <p:sp>
        <p:nvSpPr>
          <p:cNvPr id="11" name="Shape 8"/>
          <p:cNvSpPr/>
          <p:nvPr/>
        </p:nvSpPr>
        <p:spPr>
          <a:xfrm>
            <a:off x="731520" y="4023360"/>
            <a:ext cx="475488" cy="475488"/>
          </a:xfrm>
          <a:prstGeom prst="ellipse">
            <a:avLst/>
          </a:prstGeom>
          <a:solidFill>
            <a:srgbClr val="C40000"/>
          </a:solidFill>
          <a:ln/>
        </p:spPr>
      </p:sp>
      <p:sp>
        <p:nvSpPr>
          <p:cNvPr id="12" name="Text 9"/>
          <p:cNvSpPr txBox="1"/>
          <p:nvPr/>
        </p:nvSpPr>
        <p:spPr>
          <a:xfrm>
            <a:off x="731520" y="401421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3" name="Text 10"/>
          <p:cNvSpPr txBox="1"/>
          <p:nvPr/>
        </p:nvSpPr>
        <p:spPr>
          <a:xfrm>
            <a:off x="1463040" y="393192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クリック率・維持率が高く出やすい</a:t>
            </a:r>
            <a:endParaRPr lang="en-US" sz="2200" dirty="0"/>
          </a:p>
        </p:txBody>
      </p:sp>
      <p:sp>
        <p:nvSpPr>
          <p:cNvPr id="14" name="Shape 11"/>
          <p:cNvSpPr/>
          <p:nvPr/>
        </p:nvSpPr>
        <p:spPr>
          <a:xfrm>
            <a:off x="731520" y="5074920"/>
            <a:ext cx="475488" cy="475488"/>
          </a:xfrm>
          <a:prstGeom prst="ellipse">
            <a:avLst/>
          </a:prstGeom>
          <a:solidFill>
            <a:srgbClr val="1A1A1A"/>
          </a:solidFill>
          <a:ln/>
        </p:spPr>
      </p:sp>
      <p:sp>
        <p:nvSpPr>
          <p:cNvPr id="15" name="Text 12"/>
          <p:cNvSpPr txBox="1"/>
          <p:nvPr/>
        </p:nvSpPr>
        <p:spPr>
          <a:xfrm>
            <a:off x="731520" y="50657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2200" dirty="0"/>
          </a:p>
        </p:txBody>
      </p:sp>
      <p:sp>
        <p:nvSpPr>
          <p:cNvPr id="16" name="Text 13"/>
          <p:cNvSpPr txBox="1"/>
          <p:nvPr/>
        </p:nvSpPr>
        <p:spPr>
          <a:xfrm>
            <a:off x="1463040" y="4983480"/>
            <a:ext cx="10058400" cy="640080"/>
          </a:xfrm>
          <a:prstGeom prst="rect">
            <a:avLst/>
          </a:prstGeom>
          <a:noFill/>
          <a:ln/>
        </p:spPr>
        <p:txBody>
          <a:bodyPr wrap="square" lIns="0" tIns="0" rIns="0" bIns="0" rtlCol="0" anchor="ctr"/>
          <a:lstStyle/>
          <a:p>
            <a:pPr indent="0" marL="0">
              <a:buNone/>
            </a:pPr>
            <a:r>
              <a:rPr lang="en-US" sz="2300" b="1" dirty="0">
                <a:solidFill>
                  <a:srgbClr val="C40000"/>
                </a:solidFill>
                <a:latin typeface="Meiryo" pitchFamily="34" charset="0"/>
                <a:ea typeface="Meiryo" pitchFamily="34" charset="-122"/>
                <a:cs typeface="Meiryo" pitchFamily="34" charset="-120"/>
              </a:rPr>
              <a:t>「数値いいじゃん」と勘違い → 自己満足で終わる</a:t>
            </a:r>
            <a:endParaRPr lang="en-US" sz="2300" dirty="0"/>
          </a:p>
        </p:txBody>
      </p:sp>
      <p:sp>
        <p:nvSpPr>
          <p:cNvPr id="17" name="Text 14"/>
          <p:cNvSpPr txBox="1"/>
          <p:nvPr/>
        </p:nvSpPr>
        <p:spPr>
          <a:xfrm>
            <a:off x="640080" y="603504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順番は：視聴者理解 → 動画を作る → そのうえで数値を見て改善</a:t>
            </a:r>
            <a:endParaRPr lang="en-US" sz="2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05</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体験ワーク</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あなたなら、どちらをクリック？</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WORK 1 / 3</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第1問：あなたなら、どちらをクリック？</a:t>
            </a:r>
            <a:endParaRPr lang="en-US" sz="3000" dirty="0"/>
          </a:p>
        </p:txBody>
      </p:sp>
      <p:sp>
        <p:nvSpPr>
          <p:cNvPr id="5" name="Shape 2"/>
          <p:cNvSpPr/>
          <p:nvPr/>
        </p:nvSpPr>
        <p:spPr>
          <a:xfrm>
            <a:off x="640080" y="1920240"/>
            <a:ext cx="5257800" cy="3291840"/>
          </a:xfrm>
          <a:prstGeom prst="roundRect">
            <a:avLst>
              <a:gd name="adj" fmla="val 3333"/>
            </a:avLst>
          </a:prstGeom>
          <a:solidFill>
            <a:srgbClr val="FFF3C4"/>
          </a:solidFill>
          <a:ln w="12700">
            <a:solidFill>
              <a:srgbClr val="CCCCCC"/>
            </a:solidFill>
            <a:prstDash val="dash"/>
          </a:ln>
        </p:spPr>
      </p:sp>
      <p:sp>
        <p:nvSpPr>
          <p:cNvPr id="6" name="Text 3"/>
          <p:cNvSpPr txBox="1"/>
          <p:nvPr/>
        </p:nvSpPr>
        <p:spPr>
          <a:xfrm>
            <a:off x="96012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A</a:t>
            </a:r>
            <a:endParaRPr lang="en-US" sz="4000" dirty="0"/>
          </a:p>
        </p:txBody>
      </p:sp>
      <p:sp>
        <p:nvSpPr>
          <p:cNvPr id="7" name="Text 4"/>
          <p:cNvSpPr txBox="1"/>
          <p:nvPr/>
        </p:nvSpPr>
        <p:spPr>
          <a:xfrm>
            <a:off x="64008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8" name="Shape 5"/>
          <p:cNvSpPr/>
          <p:nvPr/>
        </p:nvSpPr>
        <p:spPr>
          <a:xfrm>
            <a:off x="6309360" y="1920240"/>
            <a:ext cx="5257800" cy="3291840"/>
          </a:xfrm>
          <a:prstGeom prst="roundRect">
            <a:avLst>
              <a:gd name="adj" fmla="val 3333"/>
            </a:avLst>
          </a:prstGeom>
          <a:solidFill>
            <a:srgbClr val="FFF3C4"/>
          </a:solidFill>
          <a:ln w="12700">
            <a:solidFill>
              <a:srgbClr val="CCCCCC"/>
            </a:solidFill>
            <a:prstDash val="dash"/>
          </a:ln>
        </p:spPr>
      </p:sp>
      <p:sp>
        <p:nvSpPr>
          <p:cNvPr id="9" name="Text 6"/>
          <p:cNvSpPr txBox="1"/>
          <p:nvPr/>
        </p:nvSpPr>
        <p:spPr>
          <a:xfrm>
            <a:off x="662940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B</a:t>
            </a:r>
            <a:endParaRPr lang="en-US" sz="4000" dirty="0"/>
          </a:p>
        </p:txBody>
      </p:sp>
      <p:sp>
        <p:nvSpPr>
          <p:cNvPr id="10" name="Text 7"/>
          <p:cNvSpPr txBox="1"/>
          <p:nvPr/>
        </p:nvSpPr>
        <p:spPr>
          <a:xfrm>
            <a:off x="630936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11" name="Text 8"/>
          <p:cNvSpPr txBox="1"/>
          <p:nvPr/>
        </p:nvSpPr>
        <p:spPr>
          <a:xfrm>
            <a:off x="640080" y="5577840"/>
            <a:ext cx="10972800" cy="502920"/>
          </a:xfrm>
          <a:prstGeom prst="rect">
            <a:avLst/>
          </a:prstGeom>
          <a:noFill/>
          <a:ln/>
        </p:spPr>
        <p:txBody>
          <a:bodyPr wrap="square" lIns="0" tIns="0" rIns="0" bIns="0" rtlCol="0" anchor="ctr"/>
          <a:lstStyle/>
          <a:p>
            <a:pPr indent="0" marL="0">
              <a:buNone/>
            </a:pPr>
            <a:r>
              <a:rPr lang="en-US" sz="2000" dirty="0">
                <a:solidFill>
                  <a:srgbClr val="666666"/>
                </a:solidFill>
                <a:latin typeface="Meiryo" pitchFamily="34" charset="0"/>
                <a:ea typeface="Meiryo" pitchFamily="34" charset="-122"/>
                <a:cs typeface="Meiryo" pitchFamily="34" charset="-120"/>
              </a:rPr>
              <a:t>正解はありません。直感でどうぞ！</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WORK 2 / 3</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第2問：あなたなら、どちらをクリック？</a:t>
            </a:r>
            <a:endParaRPr lang="en-US" sz="3000" dirty="0"/>
          </a:p>
        </p:txBody>
      </p:sp>
      <p:sp>
        <p:nvSpPr>
          <p:cNvPr id="5" name="Shape 2"/>
          <p:cNvSpPr/>
          <p:nvPr/>
        </p:nvSpPr>
        <p:spPr>
          <a:xfrm>
            <a:off x="640080" y="1920240"/>
            <a:ext cx="5257800" cy="3291840"/>
          </a:xfrm>
          <a:prstGeom prst="roundRect">
            <a:avLst>
              <a:gd name="adj" fmla="val 3333"/>
            </a:avLst>
          </a:prstGeom>
          <a:solidFill>
            <a:srgbClr val="FFF3C4"/>
          </a:solidFill>
          <a:ln w="12700">
            <a:solidFill>
              <a:srgbClr val="CCCCCC"/>
            </a:solidFill>
            <a:prstDash val="dash"/>
          </a:ln>
        </p:spPr>
      </p:sp>
      <p:sp>
        <p:nvSpPr>
          <p:cNvPr id="6" name="Text 3"/>
          <p:cNvSpPr txBox="1"/>
          <p:nvPr/>
        </p:nvSpPr>
        <p:spPr>
          <a:xfrm>
            <a:off x="96012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A</a:t>
            </a:r>
            <a:endParaRPr lang="en-US" sz="4000" dirty="0"/>
          </a:p>
        </p:txBody>
      </p:sp>
      <p:sp>
        <p:nvSpPr>
          <p:cNvPr id="7" name="Text 4"/>
          <p:cNvSpPr txBox="1"/>
          <p:nvPr/>
        </p:nvSpPr>
        <p:spPr>
          <a:xfrm>
            <a:off x="64008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8" name="Shape 5"/>
          <p:cNvSpPr/>
          <p:nvPr/>
        </p:nvSpPr>
        <p:spPr>
          <a:xfrm>
            <a:off x="6309360" y="1920240"/>
            <a:ext cx="5257800" cy="3291840"/>
          </a:xfrm>
          <a:prstGeom prst="roundRect">
            <a:avLst>
              <a:gd name="adj" fmla="val 3333"/>
            </a:avLst>
          </a:prstGeom>
          <a:solidFill>
            <a:srgbClr val="FFF3C4"/>
          </a:solidFill>
          <a:ln w="12700">
            <a:solidFill>
              <a:srgbClr val="CCCCCC"/>
            </a:solidFill>
            <a:prstDash val="dash"/>
          </a:ln>
        </p:spPr>
      </p:sp>
      <p:sp>
        <p:nvSpPr>
          <p:cNvPr id="9" name="Text 6"/>
          <p:cNvSpPr txBox="1"/>
          <p:nvPr/>
        </p:nvSpPr>
        <p:spPr>
          <a:xfrm>
            <a:off x="662940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B</a:t>
            </a:r>
            <a:endParaRPr lang="en-US" sz="4000" dirty="0"/>
          </a:p>
        </p:txBody>
      </p:sp>
      <p:sp>
        <p:nvSpPr>
          <p:cNvPr id="10" name="Text 7"/>
          <p:cNvSpPr txBox="1"/>
          <p:nvPr/>
        </p:nvSpPr>
        <p:spPr>
          <a:xfrm>
            <a:off x="630936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11" name="Text 8"/>
          <p:cNvSpPr txBox="1"/>
          <p:nvPr/>
        </p:nvSpPr>
        <p:spPr>
          <a:xfrm>
            <a:off x="640080" y="5577840"/>
            <a:ext cx="10972800" cy="502920"/>
          </a:xfrm>
          <a:prstGeom prst="rect">
            <a:avLst/>
          </a:prstGeom>
          <a:noFill/>
          <a:ln/>
        </p:spPr>
        <p:txBody>
          <a:bodyPr wrap="square" lIns="0" tIns="0" rIns="0" bIns="0" rtlCol="0" anchor="ctr"/>
          <a:lstStyle/>
          <a:p>
            <a:pPr indent="0" marL="0">
              <a:buNone/>
            </a:pPr>
            <a:r>
              <a:rPr lang="en-US" sz="2000" dirty="0">
                <a:solidFill>
                  <a:srgbClr val="666666"/>
                </a:solidFill>
                <a:latin typeface="Meiryo" pitchFamily="34" charset="0"/>
                <a:ea typeface="Meiryo" pitchFamily="34" charset="-122"/>
                <a:cs typeface="Meiryo" pitchFamily="34" charset="-120"/>
              </a:rPr>
              <a:t>正解はありません。直感でどうぞ！</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WORK 3 / 3</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第3問：あなたなら、どちらをクリック？</a:t>
            </a:r>
            <a:endParaRPr lang="en-US" sz="3000" dirty="0"/>
          </a:p>
        </p:txBody>
      </p:sp>
      <p:sp>
        <p:nvSpPr>
          <p:cNvPr id="5" name="Shape 2"/>
          <p:cNvSpPr/>
          <p:nvPr/>
        </p:nvSpPr>
        <p:spPr>
          <a:xfrm>
            <a:off x="640080" y="1920240"/>
            <a:ext cx="5257800" cy="3291840"/>
          </a:xfrm>
          <a:prstGeom prst="roundRect">
            <a:avLst>
              <a:gd name="adj" fmla="val 3333"/>
            </a:avLst>
          </a:prstGeom>
          <a:solidFill>
            <a:srgbClr val="FFF3C4"/>
          </a:solidFill>
          <a:ln w="12700">
            <a:solidFill>
              <a:srgbClr val="CCCCCC"/>
            </a:solidFill>
            <a:prstDash val="dash"/>
          </a:ln>
        </p:spPr>
      </p:sp>
      <p:sp>
        <p:nvSpPr>
          <p:cNvPr id="6" name="Text 3"/>
          <p:cNvSpPr txBox="1"/>
          <p:nvPr/>
        </p:nvSpPr>
        <p:spPr>
          <a:xfrm>
            <a:off x="96012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A</a:t>
            </a:r>
            <a:endParaRPr lang="en-US" sz="4000" dirty="0"/>
          </a:p>
        </p:txBody>
      </p:sp>
      <p:sp>
        <p:nvSpPr>
          <p:cNvPr id="7" name="Text 4"/>
          <p:cNvSpPr txBox="1"/>
          <p:nvPr/>
        </p:nvSpPr>
        <p:spPr>
          <a:xfrm>
            <a:off x="64008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8" name="Shape 5"/>
          <p:cNvSpPr/>
          <p:nvPr/>
        </p:nvSpPr>
        <p:spPr>
          <a:xfrm>
            <a:off x="6309360" y="1920240"/>
            <a:ext cx="5257800" cy="3291840"/>
          </a:xfrm>
          <a:prstGeom prst="roundRect">
            <a:avLst>
              <a:gd name="adj" fmla="val 3333"/>
            </a:avLst>
          </a:prstGeom>
          <a:solidFill>
            <a:srgbClr val="FFF3C4"/>
          </a:solidFill>
          <a:ln w="12700">
            <a:solidFill>
              <a:srgbClr val="CCCCCC"/>
            </a:solidFill>
            <a:prstDash val="dash"/>
          </a:ln>
        </p:spPr>
      </p:sp>
      <p:sp>
        <p:nvSpPr>
          <p:cNvPr id="9" name="Text 6"/>
          <p:cNvSpPr txBox="1"/>
          <p:nvPr/>
        </p:nvSpPr>
        <p:spPr>
          <a:xfrm>
            <a:off x="662940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B</a:t>
            </a:r>
            <a:endParaRPr lang="en-US" sz="4000" dirty="0"/>
          </a:p>
        </p:txBody>
      </p:sp>
      <p:sp>
        <p:nvSpPr>
          <p:cNvPr id="10" name="Text 7"/>
          <p:cNvSpPr txBox="1"/>
          <p:nvPr/>
        </p:nvSpPr>
        <p:spPr>
          <a:xfrm>
            <a:off x="630936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11" name="Text 8"/>
          <p:cNvSpPr txBox="1"/>
          <p:nvPr/>
        </p:nvSpPr>
        <p:spPr>
          <a:xfrm>
            <a:off x="640080" y="5577840"/>
            <a:ext cx="10972800" cy="502920"/>
          </a:xfrm>
          <a:prstGeom prst="rect">
            <a:avLst/>
          </a:prstGeom>
          <a:noFill/>
          <a:ln/>
        </p:spPr>
        <p:txBody>
          <a:bodyPr wrap="square" lIns="0" tIns="0" rIns="0" bIns="0" rtlCol="0" anchor="ctr"/>
          <a:lstStyle/>
          <a:p>
            <a:pPr indent="0" marL="0">
              <a:buNone/>
            </a:pPr>
            <a:r>
              <a:rPr lang="en-US" sz="2000" dirty="0">
                <a:solidFill>
                  <a:srgbClr val="666666"/>
                </a:solidFill>
                <a:latin typeface="Meiryo" pitchFamily="34" charset="0"/>
                <a:ea typeface="Meiryo" pitchFamily="34" charset="-122"/>
                <a:cs typeface="Meiryo" pitchFamily="34" charset="-120"/>
              </a:rPr>
              <a:t>正解はありません。直感でどうぞ！</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INSIGHT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これが「視聴者理解」です</a:t>
            </a:r>
            <a:endParaRPr lang="en-US" sz="3000" dirty="0"/>
          </a:p>
        </p:txBody>
      </p:sp>
      <p:sp>
        <p:nvSpPr>
          <p:cNvPr id="5" name="Shape 2"/>
          <p:cNvSpPr/>
          <p:nvPr/>
        </p:nvSpPr>
        <p:spPr>
          <a:xfrm>
            <a:off x="640080" y="1828800"/>
            <a:ext cx="10972800" cy="1554480"/>
          </a:xfrm>
          <a:prstGeom prst="roundRect">
            <a:avLst>
              <a:gd name="adj" fmla="val 7059"/>
            </a:avLst>
          </a:prstGeom>
          <a:solidFill>
            <a:srgbClr val="C40000"/>
          </a:solidFill>
          <a:ln/>
        </p:spPr>
      </p:sp>
      <p:sp>
        <p:nvSpPr>
          <p:cNvPr id="6" name="Text 3"/>
          <p:cNvSpPr txBox="1"/>
          <p:nvPr/>
        </p:nvSpPr>
        <p:spPr>
          <a:xfrm>
            <a:off x="1097280" y="2240280"/>
            <a:ext cx="10058400" cy="73152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体験しないと、分からないことがある</a:t>
            </a:r>
            <a:endParaRPr lang="en-US" sz="3000" dirty="0"/>
          </a:p>
        </p:txBody>
      </p:sp>
      <p:sp>
        <p:nvSpPr>
          <p:cNvPr id="7" name="Text 4"/>
          <p:cNvSpPr txBox="1"/>
          <p:nvPr/>
        </p:nvSpPr>
        <p:spPr>
          <a:xfrm>
            <a:off x="822960" y="3749040"/>
            <a:ext cx="10698480" cy="219456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皆さんの視聴者も、頭で考えた理屈ではなく画面の前の一瞬の「感覚」で動いている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自分がやりたいことより先に、視聴者がまず何を求めているのかを把握する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発信を考える前に、同じジャンルの競合が何を発信し視聴者がどう感じているかを徹底分析</a:t>
            </a:r>
            <a:endParaRPr lang="en-US" sz="2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06</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伸ばすために必要なこと</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今日の核心。3本で1,000人の種明かしも</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CORE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ジャンルを俯瞰して見る＝競合の動画を見る</a:t>
            </a:r>
            <a:endParaRPr lang="en-US" sz="3000" dirty="0"/>
          </a:p>
        </p:txBody>
      </p:sp>
      <p:pic>
        <p:nvPicPr>
          <p:cNvPr id="4" name="Picture 3" descr="ill_e.png"/>
          <p:cNvPicPr>
            <a:picLocks noChangeAspect="1"/>
          </p:cNvPicPr>
          <p:nvPr/>
        </p:nvPicPr>
        <p:blipFill>
          <a:blip r:embed="rId3"/>
          <a:stretch>
            <a:fillRect/>
          </a:stretch>
        </p:blipFill>
        <p:spPr>
          <a:xfrm>
            <a:off x="1009634" y="1783080"/>
            <a:ext cx="1017270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「再現の仕方」まで分解できれば、伸びた理由を根拠を持って語れる</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CASE STUDY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実例：500人 → 3本で1,000人増の道筋</a:t>
            </a:r>
            <a:endParaRPr lang="en-US" sz="3000" dirty="0"/>
          </a:p>
        </p:txBody>
      </p:sp>
      <p:sp>
        <p:nvSpPr>
          <p:cNvPr id="5" name="Shape 2"/>
          <p:cNvSpPr/>
          <p:nvPr/>
        </p:nvSpPr>
        <p:spPr>
          <a:xfrm>
            <a:off x="731520" y="1892808"/>
            <a:ext cx="475488" cy="475488"/>
          </a:xfrm>
          <a:prstGeom prst="ellipse">
            <a:avLst/>
          </a:prstGeom>
          <a:solidFill>
            <a:srgbClr val="C40000"/>
          </a:solidFill>
          <a:ln/>
        </p:spPr>
      </p:sp>
      <p:sp>
        <p:nvSpPr>
          <p:cNvPr id="6" name="Text 3"/>
          <p:cNvSpPr txBox="1"/>
          <p:nvPr/>
        </p:nvSpPr>
        <p:spPr>
          <a:xfrm>
            <a:off x="731520" y="188366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78308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俯瞰する</a:t>
            </a:r>
            <a:endParaRPr lang="en-US" sz="2100" dirty="0"/>
          </a:p>
        </p:txBody>
      </p:sp>
      <p:sp>
        <p:nvSpPr>
          <p:cNvPr id="8" name="Text 5"/>
          <p:cNvSpPr txBox="1"/>
          <p:nvPr/>
        </p:nvSpPr>
        <p:spPr>
          <a:xfrm>
            <a:off x="4846320" y="178308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陸上ジャンルの動画を片っ端から見る。同じ土俵（解説系・個人チャンネル）に絞る</a:t>
            </a:r>
            <a:endParaRPr lang="en-US" sz="1800" dirty="0"/>
          </a:p>
        </p:txBody>
      </p:sp>
      <p:sp>
        <p:nvSpPr>
          <p:cNvPr id="9" name="Shape 6"/>
          <p:cNvSpPr/>
          <p:nvPr/>
        </p:nvSpPr>
        <p:spPr>
          <a:xfrm>
            <a:off x="731520" y="2944368"/>
            <a:ext cx="475488" cy="475488"/>
          </a:xfrm>
          <a:prstGeom prst="ellipse">
            <a:avLst/>
          </a:prstGeom>
          <a:solidFill>
            <a:srgbClr val="C40000"/>
          </a:solidFill>
          <a:ln/>
        </p:spPr>
      </p:sp>
      <p:sp>
        <p:nvSpPr>
          <p:cNvPr id="10" name="Text 7"/>
          <p:cNvSpPr txBox="1"/>
          <p:nvPr/>
        </p:nvSpPr>
        <p:spPr>
          <a:xfrm>
            <a:off x="731520" y="293522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1" name="Text 8"/>
          <p:cNvSpPr txBox="1"/>
          <p:nvPr/>
        </p:nvSpPr>
        <p:spPr>
          <a:xfrm>
            <a:off x="1463040" y="283464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成功ラインを知る</a:t>
            </a:r>
            <a:endParaRPr lang="en-US" sz="2100" dirty="0"/>
          </a:p>
        </p:txBody>
      </p:sp>
      <p:sp>
        <p:nvSpPr>
          <p:cNvPr id="12" name="Text 9"/>
          <p:cNvSpPr txBox="1"/>
          <p:nvPr/>
        </p:nvSpPr>
        <p:spPr>
          <a:xfrm>
            <a:off x="4846320" y="283464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このジャンルは平均1〜3万再生で成功、という相場を掴む</a:t>
            </a:r>
            <a:endParaRPr lang="en-US" sz="1800" dirty="0"/>
          </a:p>
        </p:txBody>
      </p:sp>
      <p:sp>
        <p:nvSpPr>
          <p:cNvPr id="13" name="Shape 10"/>
          <p:cNvSpPr/>
          <p:nvPr/>
        </p:nvSpPr>
        <p:spPr>
          <a:xfrm>
            <a:off x="731520" y="3995928"/>
            <a:ext cx="475488" cy="475488"/>
          </a:xfrm>
          <a:prstGeom prst="ellipse">
            <a:avLst/>
          </a:prstGeom>
          <a:solidFill>
            <a:srgbClr val="C40000"/>
          </a:solidFill>
          <a:ln/>
        </p:spPr>
      </p:sp>
      <p:sp>
        <p:nvSpPr>
          <p:cNvPr id="14" name="Text 11"/>
          <p:cNvSpPr txBox="1"/>
          <p:nvPr/>
        </p:nvSpPr>
        <p:spPr>
          <a:xfrm>
            <a:off x="731520" y="398678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5" name="Text 12"/>
          <p:cNvSpPr txBox="1"/>
          <p:nvPr/>
        </p:nvSpPr>
        <p:spPr>
          <a:xfrm>
            <a:off x="1463040" y="388620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激戦区を知る</a:t>
            </a:r>
            <a:endParaRPr lang="en-US" sz="2100" dirty="0"/>
          </a:p>
        </p:txBody>
      </p:sp>
      <p:sp>
        <p:nvSpPr>
          <p:cNvPr id="16" name="Text 13"/>
          <p:cNvSpPr txBox="1"/>
          <p:nvPr/>
        </p:nvSpPr>
        <p:spPr>
          <a:xfrm>
            <a:off x="4846320" y="388620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多かったのは選手のvlog系・スパイクレビュー＝強い人がひしめく場所</a:t>
            </a:r>
            <a:endParaRPr lang="en-US" sz="1800" dirty="0"/>
          </a:p>
        </p:txBody>
      </p:sp>
      <p:sp>
        <p:nvSpPr>
          <p:cNvPr id="17" name="Shape 14"/>
          <p:cNvSpPr/>
          <p:nvPr/>
        </p:nvSpPr>
        <p:spPr>
          <a:xfrm>
            <a:off x="731520" y="5047488"/>
            <a:ext cx="475488" cy="475488"/>
          </a:xfrm>
          <a:prstGeom prst="ellipse">
            <a:avLst/>
          </a:prstGeom>
          <a:solidFill>
            <a:srgbClr val="8A0000"/>
          </a:solidFill>
          <a:ln/>
        </p:spPr>
      </p:sp>
      <p:sp>
        <p:nvSpPr>
          <p:cNvPr id="18" name="Text 15"/>
          <p:cNvSpPr txBox="1"/>
          <p:nvPr/>
        </p:nvSpPr>
        <p:spPr>
          <a:xfrm>
            <a:off x="731520" y="503834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2200" dirty="0"/>
          </a:p>
        </p:txBody>
      </p:sp>
      <p:sp>
        <p:nvSpPr>
          <p:cNvPr id="19" name="Text 16"/>
          <p:cNvSpPr txBox="1"/>
          <p:nvPr/>
        </p:nvSpPr>
        <p:spPr>
          <a:xfrm>
            <a:off x="1463040" y="4937760"/>
            <a:ext cx="3291840" cy="91440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空いている場所を見つける</a:t>
            </a:r>
            <a:endParaRPr lang="en-US" sz="2100" dirty="0"/>
          </a:p>
        </p:txBody>
      </p:sp>
      <p:sp>
        <p:nvSpPr>
          <p:cNvPr id="20" name="Text 17"/>
          <p:cNvSpPr txBox="1"/>
          <p:nvPr/>
        </p:nvSpPr>
        <p:spPr>
          <a:xfrm>
            <a:off x="4846320" y="493776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プロ陸上選手の「解説動画」がなかった →「これなら勝てる」</a:t>
            </a:r>
            <a:endParaRPr lang="en-US" sz="1800" dirty="0"/>
          </a:p>
        </p:txBody>
      </p:sp>
      <p:sp>
        <p:nvSpPr>
          <p:cNvPr id="21" name="Text 18"/>
          <p:cNvSpPr txBox="1"/>
          <p:nvPr/>
        </p:nvSpPr>
        <p:spPr>
          <a:xfrm>
            <a:off x="640080" y="6080760"/>
            <a:ext cx="11155680" cy="54864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この道筋に沿った3本で、登録者1,000人以上増。道筋が見つからなければ、再生数では競合に勝てない。</a:t>
            </a:r>
            <a:endParaRPr lang="en-US" sz="1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HONESTLY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正直な後日談</a:t>
            </a:r>
            <a:endParaRPr lang="en-US" sz="3000" dirty="0"/>
          </a:p>
        </p:txBody>
      </p:sp>
      <p:sp>
        <p:nvSpPr>
          <p:cNvPr id="5" name="Text 2"/>
          <p:cNvSpPr txBox="1"/>
          <p:nvPr/>
        </p:nvSpPr>
        <p:spPr>
          <a:xfrm>
            <a:off x="640080" y="1920240"/>
            <a:ext cx="10972800" cy="548640"/>
          </a:xfrm>
          <a:prstGeom prst="rect">
            <a:avLst/>
          </a:prstGeom>
          <a:noFill/>
          <a:ln/>
        </p:spPr>
        <p:txBody>
          <a:bodyPr wrap="square" lIns="0" tIns="0" rIns="0" bIns="0" rtlCol="0" anchor="ctr"/>
          <a:lstStyle/>
          <a:p>
            <a:pPr indent="0" marL="0">
              <a:buNone/>
            </a:pPr>
            <a:r>
              <a:rPr lang="en-US" sz="2300" b="1" dirty="0">
                <a:solidFill>
                  <a:srgbClr val="222222"/>
                </a:solidFill>
                <a:latin typeface="Meiryo" pitchFamily="34" charset="0"/>
                <a:ea typeface="Meiryo" pitchFamily="34" charset="-122"/>
                <a:cs typeface="Meiryo" pitchFamily="34" charset="-120"/>
              </a:rPr>
              <a:t>実は今、このチャンネルの更新は止まっています。</a:t>
            </a:r>
            <a:endParaRPr lang="en-US" sz="2300" dirty="0"/>
          </a:p>
        </p:txBody>
      </p:sp>
      <p:sp>
        <p:nvSpPr>
          <p:cNvPr id="6" name="Text 3"/>
          <p:cNvSpPr txBox="1"/>
          <p:nvPr/>
        </p:nvSpPr>
        <p:spPr>
          <a:xfrm>
            <a:off x="640080" y="2560320"/>
            <a:ext cx="10972800" cy="100584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レッスンや商品販売につなげる予定だったが、彼も会社員。時間が取れず、</a:t>
            </a:r>
            <a:endParaRPr lang="en-US" sz="1900" dirty="0"/>
          </a:p>
          <a:p>
            <a:pPr indent="0" marL="0">
              <a:buNone/>
            </a:pPr>
            <a:r>
              <a:rPr lang="en-US" sz="1900" dirty="0">
                <a:solidFill>
                  <a:srgbClr val="666666"/>
                </a:solidFill>
                <a:latin typeface="Meiryo" pitchFamily="34" charset="0"/>
                <a:ea typeface="Meiryo" pitchFamily="34" charset="-122"/>
                <a:cs typeface="Meiryo" pitchFamily="34" charset="-120"/>
              </a:rPr>
              <a:t>YouTubeに全振りすることを嫌って途中で止まってしまった。……惜しい。</a:t>
            </a:r>
            <a:endParaRPr lang="en-US" sz="1900" dirty="0"/>
          </a:p>
        </p:txBody>
      </p:sp>
      <p:sp>
        <p:nvSpPr>
          <p:cNvPr id="7" name="Shape 4"/>
          <p:cNvSpPr/>
          <p:nvPr/>
        </p:nvSpPr>
        <p:spPr>
          <a:xfrm>
            <a:off x="640080" y="3840480"/>
            <a:ext cx="5257800" cy="2011680"/>
          </a:xfrm>
          <a:prstGeom prst="roundRect">
            <a:avLst>
              <a:gd name="adj" fmla="val 5455"/>
            </a:avLst>
          </a:prstGeom>
          <a:solidFill>
            <a:srgbClr val="FFF3C4"/>
          </a:solidFill>
          <a:ln/>
        </p:spPr>
      </p:sp>
      <p:sp>
        <p:nvSpPr>
          <p:cNvPr id="8" name="Text 5"/>
          <p:cNvSpPr txBox="1"/>
          <p:nvPr/>
        </p:nvSpPr>
        <p:spPr>
          <a:xfrm>
            <a:off x="1005840" y="4160520"/>
            <a:ext cx="45720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正しい道筋を立てる</a:t>
            </a:r>
            <a:endParaRPr lang="en-US" sz="2200" dirty="0"/>
          </a:p>
        </p:txBody>
      </p:sp>
      <p:sp>
        <p:nvSpPr>
          <p:cNvPr id="9" name="Text 6"/>
          <p:cNvSpPr txBox="1"/>
          <p:nvPr/>
        </p:nvSpPr>
        <p:spPr>
          <a:xfrm>
            <a:off x="1005840" y="4846320"/>
            <a:ext cx="4572000" cy="7315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俯瞰 → 成功ライン → 激戦区 → 空いている場所</a:t>
            </a:r>
            <a:endParaRPr lang="en-US" sz="1800" dirty="0"/>
          </a:p>
        </p:txBody>
      </p:sp>
      <p:sp>
        <p:nvSpPr>
          <p:cNvPr id="10" name="Shape 7"/>
          <p:cNvSpPr/>
          <p:nvPr/>
        </p:nvSpPr>
        <p:spPr>
          <a:xfrm>
            <a:off x="6309360" y="3840480"/>
            <a:ext cx="5257800" cy="2011680"/>
          </a:xfrm>
          <a:prstGeom prst="roundRect">
            <a:avLst>
              <a:gd name="adj" fmla="val 5455"/>
            </a:avLst>
          </a:prstGeom>
          <a:solidFill>
            <a:srgbClr val="C40000"/>
          </a:solidFill>
          <a:ln/>
        </p:spPr>
      </p:sp>
      <p:sp>
        <p:nvSpPr>
          <p:cNvPr id="11" name="Text 8"/>
          <p:cNvSpPr txBox="1"/>
          <p:nvPr/>
        </p:nvSpPr>
        <p:spPr>
          <a:xfrm>
            <a:off x="6675120" y="4160520"/>
            <a:ext cx="4572000" cy="54864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続けられる体制で始める</a:t>
            </a:r>
            <a:endParaRPr lang="en-US" sz="2200" dirty="0"/>
          </a:p>
        </p:txBody>
      </p:sp>
      <p:sp>
        <p:nvSpPr>
          <p:cNvPr id="12" name="Text 9"/>
          <p:cNvSpPr txBox="1"/>
          <p:nvPr/>
        </p:nvSpPr>
        <p:spPr>
          <a:xfrm>
            <a:off x="6675120" y="4846320"/>
            <a:ext cx="4572000" cy="73152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全振りは不要。生活の中で無理なく続けられるペース設計</a:t>
            </a:r>
            <a:endParaRPr lang="en-US" sz="1800" dirty="0"/>
          </a:p>
        </p:txBody>
      </p:sp>
      <p:sp>
        <p:nvSpPr>
          <p:cNvPr id="13" name="Text 10"/>
          <p:cNvSpPr txBox="1"/>
          <p:nvPr/>
        </p:nvSpPr>
        <p:spPr>
          <a:xfrm>
            <a:off x="640080" y="6126480"/>
            <a:ext cx="10972800" cy="45720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この2つが揃って、はじめてチャンネルは育つ</a:t>
            </a:r>
            <a:endParaRPr lang="en-US" sz="2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07</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注意点とよくある失敗</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一番多くて、一番致命的な失敗を1つ</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MISTAKE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失敗の正体：自分のやりたいことをやってしまう</a:t>
            </a:r>
            <a:endParaRPr lang="en-US" sz="3000" dirty="0"/>
          </a:p>
        </p:txBody>
      </p:sp>
      <p:pic>
        <p:nvPicPr>
          <p:cNvPr id="4" name="Picture 3" descr="ill_f.png"/>
          <p:cNvPicPr>
            <a:picLocks noChangeAspect="1"/>
          </p:cNvPicPr>
          <p:nvPr/>
        </p:nvPicPr>
        <p:blipFill>
          <a:blip r:embed="rId3"/>
          <a:stretch>
            <a:fillRect/>
          </a:stretch>
        </p:blipFill>
        <p:spPr>
          <a:xfrm>
            <a:off x="1009634" y="1783080"/>
            <a:ext cx="1017270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主役は視聴者。運営者は「見たいもの」を動画にして届ける側</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ALGORITHM</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アルゴリズムが見ているのは、結局これ</a:t>
            </a:r>
            <a:endParaRPr lang="en-US" sz="3000" dirty="0"/>
          </a:p>
        </p:txBody>
      </p:sp>
      <p:sp>
        <p:nvSpPr>
          <p:cNvPr id="5" name="Shape 2"/>
          <p:cNvSpPr/>
          <p:nvPr/>
        </p:nvSpPr>
        <p:spPr>
          <a:xfrm>
            <a:off x="640080" y="1920240"/>
            <a:ext cx="10972800" cy="1920240"/>
          </a:xfrm>
          <a:prstGeom prst="roundRect">
            <a:avLst>
              <a:gd name="adj" fmla="val 5714"/>
            </a:avLst>
          </a:prstGeom>
          <a:solidFill>
            <a:srgbClr val="C40000"/>
          </a:solidFill>
          <a:ln/>
        </p:spPr>
      </p:sp>
      <p:sp>
        <p:nvSpPr>
          <p:cNvPr id="6" name="Text 3"/>
          <p:cNvSpPr txBox="1"/>
          <p:nvPr/>
        </p:nvSpPr>
        <p:spPr>
          <a:xfrm>
            <a:off x="1097280" y="2286000"/>
            <a:ext cx="10058400" cy="1280160"/>
          </a:xfrm>
          <a:prstGeom prst="rect">
            <a:avLst/>
          </a:prstGeom>
          <a:noFill/>
          <a:ln/>
        </p:spPr>
        <p:txBody>
          <a:bodyPr wrap="square" lIns="0" tIns="0" rIns="0" bIns="0" rtlCol="0" anchor="ctr"/>
          <a:lstStyle/>
          <a:p>
            <a:pPr indent="0" marL="0">
              <a:buNone/>
            </a:pPr>
            <a:r>
              <a:rPr lang="en-US" sz="2800" b="1" dirty="0">
                <a:solidFill>
                  <a:srgbClr val="FFD400"/>
                </a:solidFill>
                <a:latin typeface="Meiryo" pitchFamily="34" charset="0"/>
                <a:ea typeface="Meiryo" pitchFamily="34" charset="-122"/>
                <a:cs typeface="Meiryo" pitchFamily="34" charset="-120"/>
              </a:rPr>
              <a:t>視聴者の求めていることに、</a:t>
            </a:r>
            <a:endParaRPr lang="en-US" sz="2800" dirty="0"/>
          </a:p>
          <a:p>
            <a:pPr indent="0" marL="0">
              <a:buNone/>
            </a:pPr>
            <a:r>
              <a:rPr lang="en-US" sz="2800" b="1" dirty="0">
                <a:solidFill>
                  <a:srgbClr val="FFD400"/>
                </a:solidFill>
                <a:latin typeface="Meiryo" pitchFamily="34" charset="0"/>
                <a:ea typeface="Meiryo" pitchFamily="34" charset="-122"/>
                <a:cs typeface="Meiryo" pitchFamily="34" charset="-120"/>
              </a:rPr>
              <a:t>運営者が動画でしっかり対応できているか</a:t>
            </a:r>
            <a:endParaRPr lang="en-US" sz="2800" dirty="0"/>
          </a:p>
        </p:txBody>
      </p:sp>
      <p:sp>
        <p:nvSpPr>
          <p:cNvPr id="7" name="Text 4"/>
          <p:cNvSpPr txBox="1"/>
          <p:nvPr/>
        </p:nvSpPr>
        <p:spPr>
          <a:xfrm>
            <a:off x="640080" y="4206240"/>
            <a:ext cx="10972800" cy="54864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数値が良ければ拡散される。悪ければ伸びない。それだけ。</a:t>
            </a:r>
            <a:endParaRPr lang="en-US" sz="2200" dirty="0"/>
          </a:p>
        </p:txBody>
      </p:sp>
      <p:sp>
        <p:nvSpPr>
          <p:cNvPr id="8" name="Text 5"/>
          <p:cNvSpPr txBox="1"/>
          <p:nvPr/>
        </p:nvSpPr>
        <p:spPr>
          <a:xfrm>
            <a:off x="640080" y="4937760"/>
            <a:ext cx="10972800" cy="640080"/>
          </a:xfrm>
          <a:prstGeom prst="rect">
            <a:avLst/>
          </a:prstGeom>
          <a:noFill/>
          <a:ln/>
        </p:spPr>
        <p:txBody>
          <a:bodyPr wrap="square" lIns="0" tIns="0" rIns="0" bIns="0" rtlCol="0" anchor="ctr"/>
          <a:lstStyle/>
          <a:p>
            <a:pPr indent="0" marL="0">
              <a:buNone/>
            </a:pPr>
            <a:r>
              <a:rPr lang="en-US" sz="2400" b="1" dirty="0">
                <a:solidFill>
                  <a:srgbClr val="C40000"/>
                </a:solidFill>
                <a:latin typeface="Meiryo" pitchFamily="34" charset="0"/>
                <a:ea typeface="Meiryo" pitchFamily="34" charset="-122"/>
                <a:cs typeface="Meiryo" pitchFamily="34" charset="-120"/>
              </a:rPr>
              <a:t>視聴者に応える動画を作れば、アルゴリズムは勝手に味方してくれる</a:t>
            </a: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SUMMARY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今日の持ち帰り</a:t>
            </a:r>
            <a:endParaRPr lang="en-US" sz="3000" dirty="0"/>
          </a:p>
        </p:txBody>
      </p:sp>
      <p:sp>
        <p:nvSpPr>
          <p:cNvPr id="5" name="Shape 2"/>
          <p:cNvSpPr/>
          <p:nvPr/>
        </p:nvSpPr>
        <p:spPr>
          <a:xfrm>
            <a:off x="731520" y="2103120"/>
            <a:ext cx="475488" cy="475488"/>
          </a:xfrm>
          <a:prstGeom prst="ellipse">
            <a:avLst/>
          </a:prstGeom>
          <a:solidFill>
            <a:srgbClr val="C40000"/>
          </a:solidFill>
          <a:ln/>
        </p:spPr>
      </p:sp>
      <p:sp>
        <p:nvSpPr>
          <p:cNvPr id="6" name="Text 3"/>
          <p:cNvSpPr txBox="1"/>
          <p:nvPr/>
        </p:nvSpPr>
        <p:spPr>
          <a:xfrm>
            <a:off x="731520" y="20939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9202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視聴者理解がすべての土台</a:t>
            </a:r>
            <a:endParaRPr lang="en-US" sz="2400" dirty="0"/>
          </a:p>
        </p:txBody>
      </p:sp>
      <p:sp>
        <p:nvSpPr>
          <p:cNvPr id="8" name="Text 5"/>
          <p:cNvSpPr txBox="1"/>
          <p:nvPr/>
        </p:nvSpPr>
        <p:spPr>
          <a:xfrm>
            <a:off x="1463040" y="24871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自分のやりたい事ではなく、視聴者が求める事を再現する</a:t>
            </a:r>
            <a:endParaRPr lang="en-US" sz="1900" dirty="0"/>
          </a:p>
        </p:txBody>
      </p:sp>
      <p:sp>
        <p:nvSpPr>
          <p:cNvPr id="9" name="Shape 6"/>
          <p:cNvSpPr/>
          <p:nvPr/>
        </p:nvSpPr>
        <p:spPr>
          <a:xfrm>
            <a:off x="731520" y="3474720"/>
            <a:ext cx="475488" cy="475488"/>
          </a:xfrm>
          <a:prstGeom prst="ellipse">
            <a:avLst/>
          </a:prstGeom>
          <a:solidFill>
            <a:srgbClr val="C40000"/>
          </a:solidFill>
          <a:ln/>
        </p:spPr>
      </p:sp>
      <p:sp>
        <p:nvSpPr>
          <p:cNvPr id="10" name="Text 7"/>
          <p:cNvSpPr txBox="1"/>
          <p:nvPr/>
        </p:nvSpPr>
        <p:spPr>
          <a:xfrm>
            <a:off x="731520" y="34655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1" name="Text 8"/>
          <p:cNvSpPr txBox="1"/>
          <p:nvPr/>
        </p:nvSpPr>
        <p:spPr>
          <a:xfrm>
            <a:off x="1463040" y="32918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ジャンルを俯瞰して、道筋を立てる</a:t>
            </a:r>
            <a:endParaRPr lang="en-US" sz="2400" dirty="0"/>
          </a:p>
        </p:txBody>
      </p:sp>
      <p:sp>
        <p:nvSpPr>
          <p:cNvPr id="12" name="Text 9"/>
          <p:cNvSpPr txBox="1"/>
          <p:nvPr/>
        </p:nvSpPr>
        <p:spPr>
          <a:xfrm>
            <a:off x="1463040" y="38587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競合を見る → 成功ライン → 激戦区 → 空いている場所</a:t>
            </a:r>
            <a:endParaRPr lang="en-US" sz="1900" dirty="0"/>
          </a:p>
        </p:txBody>
      </p:sp>
      <p:sp>
        <p:nvSpPr>
          <p:cNvPr id="13" name="Shape 10"/>
          <p:cNvSpPr/>
          <p:nvPr/>
        </p:nvSpPr>
        <p:spPr>
          <a:xfrm>
            <a:off x="731520" y="4846320"/>
            <a:ext cx="475488" cy="475488"/>
          </a:xfrm>
          <a:prstGeom prst="ellipse">
            <a:avLst/>
          </a:prstGeom>
          <a:solidFill>
            <a:srgbClr val="C40000"/>
          </a:solidFill>
          <a:ln/>
        </p:spPr>
      </p:sp>
      <p:sp>
        <p:nvSpPr>
          <p:cNvPr id="14" name="Text 11"/>
          <p:cNvSpPr txBox="1"/>
          <p:nvPr/>
        </p:nvSpPr>
        <p:spPr>
          <a:xfrm>
            <a:off x="731520" y="48371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5" name="Text 12"/>
          <p:cNvSpPr txBox="1"/>
          <p:nvPr/>
        </p:nvSpPr>
        <p:spPr>
          <a:xfrm>
            <a:off x="1463040" y="46634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無理なく続けられる体制で始める</a:t>
            </a:r>
            <a:endParaRPr lang="en-US" sz="2400" dirty="0"/>
          </a:p>
        </p:txBody>
      </p:sp>
      <p:sp>
        <p:nvSpPr>
          <p:cNvPr id="16" name="Text 13"/>
          <p:cNvSpPr txBox="1"/>
          <p:nvPr/>
        </p:nvSpPr>
        <p:spPr>
          <a:xfrm>
            <a:off x="1463040" y="52303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道筋が正しくても、続かなければ止まる。ペース設計も実力のうち</a:t>
            </a:r>
            <a:endParaRPr lang="en-US" sz="1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1005840"/>
            <a:ext cx="10515600" cy="640080"/>
          </a:xfrm>
          <a:prstGeom prst="rect">
            <a:avLst/>
          </a:prstGeom>
          <a:noFill/>
          <a:ln/>
        </p:spPr>
        <p:txBody>
          <a:bodyPr wrap="square" lIns="0" tIns="0" rIns="0" bIns="0" rtlCol="0" anchor="ctr"/>
          <a:lstStyle/>
          <a:p>
            <a:pPr indent="0" marL="0">
              <a:buNone/>
            </a:pPr>
            <a:r>
              <a:rPr lang="en-US" sz="2600" b="1" dirty="0">
                <a:solidFill>
                  <a:srgbClr val="FFD9D9"/>
                </a:solidFill>
                <a:latin typeface="Meiryo" pitchFamily="34" charset="0"/>
                <a:ea typeface="Meiryo" pitchFamily="34" charset="-122"/>
                <a:cs typeface="Meiryo" pitchFamily="34" charset="-120"/>
              </a:rPr>
              <a:t>今日帰ってからやること、1つだけ</a:t>
            </a:r>
            <a:endParaRPr lang="en-US" sz="2600" dirty="0"/>
          </a:p>
        </p:txBody>
      </p:sp>
      <p:sp>
        <p:nvSpPr>
          <p:cNvPr id="3" name="Shape 1"/>
          <p:cNvSpPr/>
          <p:nvPr/>
        </p:nvSpPr>
        <p:spPr>
          <a:xfrm>
            <a:off x="822960" y="1920240"/>
            <a:ext cx="10515600" cy="2377440"/>
          </a:xfrm>
          <a:prstGeom prst="roundRect">
            <a:avLst>
              <a:gd name="adj" fmla="val 5769"/>
            </a:avLst>
          </a:prstGeom>
          <a:solidFill>
            <a:srgbClr val="FFD400"/>
          </a:solidFill>
          <a:ln/>
        </p:spPr>
      </p:sp>
      <p:sp>
        <p:nvSpPr>
          <p:cNvPr id="4" name="Text 2"/>
          <p:cNvSpPr txBox="1"/>
          <p:nvPr/>
        </p:nvSpPr>
        <p:spPr>
          <a:xfrm>
            <a:off x="1280160" y="2148840"/>
            <a:ext cx="9692640" cy="1920240"/>
          </a:xfrm>
          <a:prstGeom prst="rect">
            <a:avLst/>
          </a:prstGeom>
          <a:noFill/>
          <a:ln/>
        </p:spPr>
        <p:txBody>
          <a:bodyPr wrap="square" lIns="0" tIns="0" rIns="0" bIns="0" rtlCol="0" anchor="ctr"/>
          <a:lstStyle/>
          <a:p>
            <a:pPr indent="0" marL="0">
              <a:buNone/>
            </a:pPr>
            <a:r>
              <a:rPr lang="en-US" sz="3600" b="1" dirty="0">
                <a:solidFill>
                  <a:srgbClr val="C40000"/>
                </a:solidFill>
                <a:latin typeface="Meiryo" pitchFamily="34" charset="0"/>
                <a:ea typeface="Meiryo" pitchFamily="34" charset="-122"/>
                <a:cs typeface="Meiryo" pitchFamily="34" charset="-120"/>
              </a:rPr>
              <a:t>自分のジャンルの動画を、</a:t>
            </a:r>
            <a:endParaRPr lang="en-US" sz="3600" dirty="0"/>
          </a:p>
          <a:p>
            <a:pPr indent="0" marL="0">
              <a:buNone/>
            </a:pPr>
            <a:r>
              <a:rPr lang="en-US" sz="3600" b="1" dirty="0">
                <a:solidFill>
                  <a:srgbClr val="C40000"/>
                </a:solidFill>
                <a:latin typeface="Meiryo" pitchFamily="34" charset="0"/>
                <a:ea typeface="Meiryo" pitchFamily="34" charset="-122"/>
                <a:cs typeface="Meiryo" pitchFamily="34" charset="-120"/>
              </a:rPr>
              <a:t>視聴者として「ワークの目線」で見る</a:t>
            </a:r>
            <a:endParaRPr lang="en-US" sz="3600" dirty="0"/>
          </a:p>
        </p:txBody>
      </p:sp>
      <p:sp>
        <p:nvSpPr>
          <p:cNvPr id="5" name="Text 3"/>
          <p:cNvSpPr txBox="1"/>
          <p:nvPr/>
        </p:nvSpPr>
        <p:spPr>
          <a:xfrm>
            <a:off x="822960" y="4572000"/>
            <a:ext cx="10515600" cy="118872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動画を撮らなくていい。機材も買わなくていい。</a:t>
            </a:r>
            <a:endParaRPr lang="en-US" sz="2000" dirty="0"/>
          </a:p>
          <a:p>
            <a:pPr indent="0" marL="0">
              <a:buNone/>
            </a:pPr>
            <a:r>
              <a:rPr lang="en-US" sz="2000" dirty="0">
                <a:solidFill>
                  <a:srgbClr val="FFFFFF"/>
                </a:solidFill>
                <a:latin typeface="Meiryo" pitchFamily="34" charset="0"/>
                <a:ea typeface="Meiryo" pitchFamily="34" charset="-122"/>
                <a:cs typeface="Meiryo" pitchFamily="34" charset="-120"/>
              </a:rPr>
              <a:t>「自分ならどっちをクリックするか」「なぜ見続けてしまうのか」を考えながら。</a:t>
            </a:r>
            <a:endParaRPr lang="en-US" sz="2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914400"/>
            <a:ext cx="10515600" cy="640080"/>
          </a:xfrm>
          <a:prstGeom prst="rect">
            <a:avLst/>
          </a:prstGeom>
          <a:noFill/>
          <a:ln/>
        </p:spPr>
        <p:txBody>
          <a:bodyPr wrap="square" lIns="0" tIns="0" rIns="0" bIns="0" rtlCol="0" anchor="ctr"/>
          <a:lstStyle/>
          <a:p>
            <a:pPr indent="0" marL="0">
              <a:buNone/>
            </a:pPr>
            <a:r>
              <a:rPr lang="en-US" sz="2600" b="1" dirty="0">
                <a:solidFill>
                  <a:srgbClr val="FFD9D9"/>
                </a:solidFill>
                <a:latin typeface="Meiryo" pitchFamily="34" charset="0"/>
                <a:ea typeface="Meiryo" pitchFamily="34" charset="-122"/>
                <a:cs typeface="Meiryo" pitchFamily="34" charset="-120"/>
              </a:rPr>
              <a:t>参加者特典</a:t>
            </a:r>
            <a:endParaRPr lang="en-US" sz="2600" dirty="0"/>
          </a:p>
        </p:txBody>
      </p:sp>
      <p:sp>
        <p:nvSpPr>
          <p:cNvPr id="3" name="Text 1"/>
          <p:cNvSpPr txBox="1"/>
          <p:nvPr/>
        </p:nvSpPr>
        <p:spPr>
          <a:xfrm>
            <a:off x="822960" y="1645920"/>
            <a:ext cx="10607040" cy="822960"/>
          </a:xfrm>
          <a:prstGeom prst="rect">
            <a:avLst/>
          </a:prstGeom>
          <a:noFill/>
          <a:ln/>
        </p:spPr>
        <p:txBody>
          <a:bodyPr wrap="square" lIns="0" tIns="0" rIns="0" bIns="0" rtlCol="0" anchor="ctr"/>
          <a:lstStyle/>
          <a:p>
            <a:pPr indent="0" marL="0">
              <a:buNone/>
            </a:pPr>
            <a:r>
              <a:rPr lang="en-US" sz="3400" b="1" dirty="0">
                <a:solidFill>
                  <a:srgbClr val="FFFFFF"/>
                </a:solidFill>
                <a:latin typeface="Meiryo" pitchFamily="34" charset="0"/>
                <a:ea typeface="Meiryo" pitchFamily="34" charset="-122"/>
                <a:cs typeface="Meiryo" pitchFamily="34" charset="-120"/>
              </a:rPr>
              <a:t>あなたのチャンネルに合わせた「個別相談」</a:t>
            </a:r>
            <a:endParaRPr lang="en-US" sz="3400" dirty="0"/>
          </a:p>
        </p:txBody>
      </p:sp>
      <p:sp>
        <p:nvSpPr>
          <p:cNvPr id="4" name="Shape 2"/>
          <p:cNvSpPr/>
          <p:nvPr/>
        </p:nvSpPr>
        <p:spPr>
          <a:xfrm>
            <a:off x="822960" y="2834640"/>
            <a:ext cx="10515600" cy="2103120"/>
          </a:xfrm>
          <a:prstGeom prst="roundRect">
            <a:avLst>
              <a:gd name="adj" fmla="val 6522"/>
            </a:avLst>
          </a:prstGeom>
          <a:solidFill>
            <a:srgbClr val="FFD400"/>
          </a:solidFill>
          <a:ln/>
        </p:spPr>
      </p:sp>
      <p:sp>
        <p:nvSpPr>
          <p:cNvPr id="5" name="Text 3"/>
          <p:cNvSpPr txBox="1"/>
          <p:nvPr/>
        </p:nvSpPr>
        <p:spPr>
          <a:xfrm>
            <a:off x="1188720" y="3383280"/>
            <a:ext cx="9875520" cy="1005840"/>
          </a:xfrm>
          <a:prstGeom prst="rect">
            <a:avLst/>
          </a:prstGeom>
          <a:noFill/>
          <a:ln/>
        </p:spPr>
        <p:txBody>
          <a:bodyPr wrap="square" lIns="0" tIns="0" rIns="0" bIns="0" rtlCol="0" anchor="ctr"/>
          <a:lstStyle/>
          <a:p>
            <a:pPr indent="0" marL="0">
              <a:buNone/>
            </a:pPr>
            <a:r>
              <a:rPr lang="en-US" sz="3000" strike="sngStrike" dirty="0">
                <a:solidFill>
                  <a:srgbClr val="7A6A00"/>
                </a:solidFill>
                <a:latin typeface="Meiryo" pitchFamily="34" charset="0"/>
                <a:ea typeface="Meiryo" pitchFamily="34" charset="-122"/>
                <a:cs typeface="Meiryo" pitchFamily="34" charset="-120"/>
              </a:rPr>
              <a:t>通常 30,000円 </a:t>
            </a:r>
            <a:pPr indent="0" marL="0">
              <a:buNone/>
            </a:pPr>
            <a:r>
              <a:rPr lang="en-US" sz="4000" b="1" dirty="0">
                <a:solidFill>
                  <a:srgbClr val="C40000"/>
                </a:solidFill>
                <a:latin typeface="Meiryo" pitchFamily="34" charset="0"/>
                <a:ea typeface="Meiryo" pitchFamily="34" charset="-122"/>
                <a:cs typeface="Meiryo" pitchFamily="34" charset="-120"/>
              </a:rPr>
              <a:t> →  特別価格 15,000円</a:t>
            </a:r>
            <a:endParaRPr lang="en-US" sz="3000" dirty="0"/>
          </a:p>
        </p:txBody>
      </p:sp>
      <p:sp>
        <p:nvSpPr>
          <p:cNvPr id="6" name="Text 4"/>
          <p:cNvSpPr txBox="1"/>
          <p:nvPr/>
        </p:nvSpPr>
        <p:spPr>
          <a:xfrm>
            <a:off x="822960" y="5212080"/>
            <a:ext cx="10607040" cy="54864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業種・目的に合わせて、チャンネルの方向性・続けられるペース設計を一緒に整理します（希望者のみ）</a:t>
            </a:r>
            <a:endParaRPr lang="en-US" sz="2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2743200"/>
            <a:ext cx="10515600" cy="91440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ご清聴ありがとうございました</a:t>
            </a:r>
            <a:endParaRPr lang="en-US" sz="4000" dirty="0"/>
          </a:p>
        </p:txBody>
      </p:sp>
      <p:sp>
        <p:nvSpPr>
          <p:cNvPr id="3" name="Text 1"/>
          <p:cNvSpPr txBox="1"/>
          <p:nvPr/>
        </p:nvSpPr>
        <p:spPr>
          <a:xfrm>
            <a:off x="822960" y="3840480"/>
            <a:ext cx="10515600" cy="548640"/>
          </a:xfrm>
          <a:prstGeom prst="rect">
            <a:avLst/>
          </a:prstGeom>
          <a:noFill/>
          <a:ln/>
        </p:spPr>
        <p:txBody>
          <a:bodyPr wrap="square" lIns="0" tIns="0" rIns="0" bIns="0" rtlCol="0" anchor="ctr"/>
          <a:lstStyle/>
          <a:p>
            <a:pPr indent="0" marL="0">
              <a:buNone/>
            </a:pPr>
            <a:r>
              <a:rPr lang="en-US" sz="2200" dirty="0">
                <a:solidFill>
                  <a:srgbClr val="FFE9A8"/>
                </a:solidFill>
                <a:latin typeface="Meiryo" pitchFamily="34" charset="0"/>
                <a:ea typeface="Meiryo" pitchFamily="34" charset="-122"/>
                <a:cs typeface="Meiryo" pitchFamily="34" charset="-120"/>
              </a:rPr>
              <a:t>質疑応答の時間です。お気軽にどうぞ！</a:t>
            </a:r>
            <a:endParaRPr lang="en-US" sz="2200" dirty="0"/>
          </a:p>
        </p:txBody>
      </p:sp>
      <p:sp>
        <p:nvSpPr>
          <p:cNvPr id="4" name="Shape 2"/>
          <p:cNvSpPr/>
          <p:nvPr/>
        </p:nvSpPr>
        <p:spPr>
          <a:xfrm>
            <a:off x="9445752" y="914400"/>
            <a:ext cx="1645920" cy="1119226"/>
          </a:xfrm>
          <a:prstGeom prst="roundRect">
            <a:avLst>
              <a:gd name="adj" fmla="val 28000"/>
            </a:avLst>
          </a:prstGeom>
          <a:solidFill>
            <a:srgbClr val="E60000"/>
          </a:solidFill>
          <a:ln/>
        </p:spPr>
      </p:sp>
      <p:sp>
        <p:nvSpPr>
          <p:cNvPr id="5" name="Shape 3"/>
          <p:cNvSpPr/>
          <p:nvPr/>
        </p:nvSpPr>
        <p:spPr>
          <a:xfrm rot="5400000">
            <a:off x="10038283" y="1227783"/>
            <a:ext cx="493776" cy="492459"/>
          </a:xfrm>
          <a:prstGeom prst="triangle">
            <a:avLst/>
          </a:prstGeom>
          <a:solidFill>
            <a:srgbClr val="FFFFFF"/>
          </a:solidFill>
          <a:ln/>
        </p:spPr>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sz="1400" b="1">
                <a:solidFill>
                  <a:srgbClr val="C40000"/>
                </a:solidFill>
                <a:latin typeface="Meiryo"/>
              </a:rPr>
              <a:t>TRAP</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sz="3200" b="1">
                <a:solidFill>
                  <a:srgbClr val="333333"/>
                </a:solidFill>
                <a:latin typeface="Meiryo"/>
              </a:rPr>
              <a:t>図で見る「数値のワナ」</a:t>
            </a:r>
            <a:endParaRPr lang="en-US" sz="3000" dirty="0"/>
          </a:p>
        </p:txBody>
      </p:sp>
      <p:pic>
        <p:nvPicPr>
          <p:cNvPr id="4" name="Picture 3" descr="ill_d.png"/>
          <p:cNvPicPr>
            <a:picLocks noChangeAspect="1"/>
          </p:cNvPicPr>
          <p:nvPr/>
        </p:nvPicPr>
        <p:blipFill>
          <a:blip r:embed="rId2"/>
          <a:stretch>
            <a:fillRect/>
          </a:stretch>
        </p:blipFill>
        <p:spPr>
          <a:xfrm>
            <a:off x="547239" y="1783080"/>
            <a:ext cx="1109749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見る人が少ないほど、数値だけは良く見えてしまう</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sz="1400" b="1">
                <a:solidFill>
                  <a:srgbClr val="C40000"/>
                </a:solidFill>
                <a:latin typeface="Meiryo"/>
              </a:rPr>
              <a:t>ORDER</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sz="3200" b="1">
                <a:solidFill>
                  <a:srgbClr val="333333"/>
                </a:solidFill>
                <a:latin typeface="Meiryo"/>
              </a:rPr>
              <a:t>正しい順番はこうです</a:t>
            </a:r>
            <a:endParaRPr lang="en-US" sz="3000" dirty="0"/>
          </a:p>
        </p:txBody>
      </p:sp>
      <p:pic>
        <p:nvPicPr>
          <p:cNvPr id="4" name="Picture 3" descr="ill_c.png"/>
          <p:cNvPicPr>
            <a:picLocks noChangeAspect="1"/>
          </p:cNvPicPr>
          <p:nvPr/>
        </p:nvPicPr>
        <p:blipFill>
          <a:blip r:embed="rId2"/>
          <a:stretch>
            <a:fillRect/>
          </a:stretch>
        </p:blipFill>
        <p:spPr>
          <a:xfrm>
            <a:off x="518144" y="1958340"/>
            <a:ext cx="11155680" cy="371856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視聴者理解 → 動画を作る → そのうえで数値を見て改善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2026-09-24T07:21:36Z</dcterms:created>
  <dcterms:modified xsi:type="dcterms:W3CDTF">2026-09-24T07:21:36Z</dcterms:modified>
</cp:coreProperties>
</file>