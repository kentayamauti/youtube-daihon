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92" r:id="rId43"/>
    <p:sldId id="293" r:id="rId44"/>
    <p:sldId id="276" r:id="rId22"/>
    <p:sldId id="277" r:id="rId23"/>
    <p:sldId id="299" r:id="rId50"/>
    <p:sldId id="278" r:id="rId24"/>
    <p:sldId id="279" r:id="rId25"/>
    <p:sldId id="280" r:id="rId26"/>
    <p:sldId id="281" r:id="rId27"/>
    <p:sldId id="282" r:id="rId28"/>
    <p:sldId id="283" r:id="rId29"/>
    <p:sldId id="297" r:id="rId48"/>
    <p:sldId id="296" r:id="rId47"/>
    <p:sldId id="284" r:id="rId30"/>
    <p:sldId id="285" r:id="rId31"/>
    <p:sldId id="298" r:id="rId49"/>
    <p:sldId id="286" r:id="rId32"/>
    <p:sldId id="287" r:id="rId33"/>
    <p:sldId id="294" r:id="rId45"/>
    <p:sldId id="295" r:id="rId46"/>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2.xml"/><Relationship Id="rId23" Type="http://schemas.openxmlformats.org/officeDocument/2006/relationships/slide" Target="slides/slide23.xml"/><Relationship Id="rId24" Type="http://schemas.openxmlformats.org/officeDocument/2006/relationships/slide" Target="slides/slide25.xml"/><Relationship Id="rId25" Type="http://schemas.openxmlformats.org/officeDocument/2006/relationships/slide" Target="slides/slide26.xml"/><Relationship Id="rId26" Type="http://schemas.openxmlformats.org/officeDocument/2006/relationships/slide" Target="slides/slide27.xml"/><Relationship Id="rId27" Type="http://schemas.openxmlformats.org/officeDocument/2006/relationships/slide" Target="slides/slide28.xml"/><Relationship Id="rId28" Type="http://schemas.openxmlformats.org/officeDocument/2006/relationships/slide" Target="slides/slide29.xml"/><Relationship Id="rId29" Type="http://schemas.openxmlformats.org/officeDocument/2006/relationships/slide" Target="slides/slide30.xml"/><Relationship Id="rId30" Type="http://schemas.openxmlformats.org/officeDocument/2006/relationships/slide" Target="slides/slide33.xml"/><Relationship Id="rId31" Type="http://schemas.openxmlformats.org/officeDocument/2006/relationships/slide" Target="slides/slide34.xml"/><Relationship Id="rId32" Type="http://schemas.openxmlformats.org/officeDocument/2006/relationships/slide" Target="slides/slide36.xml"/><Relationship Id="rId33" Type="http://schemas.openxmlformats.org/officeDocument/2006/relationships/slide" Target="slides/slide37.xml"/><Relationship Id="rId34" Type="http://schemas.openxmlformats.org/officeDocument/2006/relationships/slide" Target="slides/slide40.xml"/><Relationship Id="rId35" Type="http://schemas.openxmlformats.org/officeDocument/2006/relationships/slide" Target="slides/slide41.xml"/><Relationship Id="rId36" Type="http://schemas.openxmlformats.org/officeDocument/2006/relationships/slide" Target="slides/slide42.xml"/><Relationship Id="rId37" Type="http://schemas.openxmlformats.org/officeDocument/2006/relationships/slide" Target="slides/slide43.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 Id="rId43" Type="http://schemas.openxmlformats.org/officeDocument/2006/relationships/slide" Target="slides/slide20.xml"/><Relationship Id="rId44" Type="http://schemas.openxmlformats.org/officeDocument/2006/relationships/slide" Target="slides/slide21.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32.xml"/><Relationship Id="rId48" Type="http://schemas.openxmlformats.org/officeDocument/2006/relationships/slide" Target="slides/slide31.xml"/><Relationship Id="rId49" Type="http://schemas.openxmlformats.org/officeDocument/2006/relationships/slide" Target="slides/slide35.xml"/><Relationship Id="rId50"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皆さん、おはようございます。本日は「ゼロから始めるYouTubeチャンネル運用セミナー」にお越しいただき、ありがとうございます。まず簡単に自己紹介をさせてください。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私は普段は会社員で、YouTubeは副業。本業を持ちながらでも、やり方さえ間違えなければ伸ばせる。実績3つ：(1)顔出しなしで7ch、収益化条件（登録者1,000人・総再生4,000時間）をほぼ1年でクリア。この1〜2年は1チャンネルに絞っていたので、参入していればもっと増えていた。ただ収益化＝大きな利益ではない（正直に）。キャラでなく企画で伸ばした (2)友人のチャンネル：3年で500人前後→私が入って3本で1,000人増、4,000時間も3本で達成。後半で許可を得て実際のチャンネルを公開（伏線） (3)親のチャンネル：9,000人近く。撮影は本人、私はサムネの手直しと企画の相談だけ。副業で「月5万円」が目標→私が提示したジャンルで先月も5万円達成。考え方を共有できれば作り手が私でなくても結果は出る＝会社員・副業でも結果は出せ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標から逆算。プロの走りの解説だけなら、取れても1本10万再生くらいが上限。週1本なら月40万再生。10分弱の動画で1再生あたり約0.3円→月10万円前後＝彼の目標に届く。さらに、競技場を借りて1人1,000円などで走り方の講習会をしているチャンネルもあったので、それを絡める。自分の商品の開発も話していた。彼自身、社会人から100m 11秒台→10秒台になった実績があり、体の構造にも詳しい→説得力がある。「これはいける」と思った。</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ゴールは2つ。(1)「再生を回すには地道な作業が必要」と実感すること。よく聞く「クリック率が大事」「サムネが一番大事」という一点突破の話ではない。動画は一本一本見てもらうものなので、丁寧にやる作業を積み上げる。逆に力を抜いていい部分もある（このあとのチャンネルページの話がまさにそれ）。裏ワザは一切ない。(2)「伸びるための思考」を少しでも学ぶこと。全部マスターしなくていい。視点を1つ持ち帰れたら成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なぜこのセミナーをやるか。一番は地域貢献。もう1つは、いろいろなチャンネルの運営に関わりたいから。正直、私がメインで撮影・台本・企画・喋りまで全部やったチャンネルは、思ったようには伸びなかった（喋りが上手くない）。一方、企画・サムネ・分析で裏から支えた友人や親のチャンネルは結果が出ている。裏方で力を発揮するタイプ。だから企業さん・個人事業主さんのバックアップで、皆さんの商品やサービスを求める人に届けたい。場を設けていただいた塩谷先生に感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本題の前に「そもそも、なぜ今SNSをやるべきなのか」。ここが腹落ちしないと、後の話が全部「やれたらいいよね」で終わる。→次スライド：理由はシンプル、みんなが使っているから。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問いかけ）今日か昨日、何かしらのSNSを開きませんでしたか？→ほとんど開いている。お客さんも同じ。お客さんが毎日いる場所に看板を出せる。一番大事：SNSは無料で広告を打てる。撮影・編集はかかるが、編集はAIで下げられる。実例：弟（個人事業主）が高砂に絞ってGoogle広告→月20万円ほど、問い合わせはちょこちょこ、成果はそこまで。全国ならもっと必要。広告が合う業種もあるが、ほとんどの会社はSNSをやった方がいい。YouTube動画はGoogle検索にも出る→信用・信頼→依頼・見積もりにつなが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同じ地域・同じ業種でも、数年後はまったく違う運営スタイルに。片方は直接営業しなくてもSNSからお客さんが来る＝看板を置いておいたら立ち寄ってくれる状態。片方は集客のたびに支払い続ける。SNSで集客できれば、同業者と違う土俵で戦える。</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すべての業種に当てはまるわけではない。1対1で話してお客さんを取る方が合う業種もある。伸びやすい／伸びにくいジャンルがある。ジャンルを見れば「この業種はきついかな」「こうすれば集客につながるかも」が大体分かる。（ちょっといやらしい話だが）後半の個別相談で手伝える。まず自分のジャンルの相場を把握。</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自社を表に出す以上、やってはいけないことをすれば必ず炎上。有名YouTuberでもちょくちょく炎上。企業ほどリスクは大きい。初期に「やってはいけないこと／やるべきこと」を押さえればそこまでの炎上はない。自分のチャンネルは名前が批判されやすい→逆手にとって動画のクオリティを上げている。ただ会社のイメージに良いかは別。最後はご自身の判断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集客だけじゃない。(1)広告収益：再生数が伸びるジャンルなら広告収益。種銭にもなる (2)案件：影響力がつくと企業から「商品を使ってもらえませんか」。自分にもよく来る (3)幅が広がる：一番大きい。このセミナーもYouTubeを伸ばせたから話が来た＝選択肢が増えた。会社でも選択肢が増えれば評価・事業の幅に。→ここまでは皆さんご存じのこと。ここから作り方・伸ばし方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チャンネルの作り方…と言いつつ、あまりこだわらない。他のセミナーで「まず強みは？」「ペルソナを作ろう」と言われるが、最初はやらない。理由：チャレンジできなくなる（一番のデメリット）。視聴者が何を思っているか分からないままペルソナを作ると、結局自分が思ったものを作ってしまう。代わりに、そのジャンルで求められていることを見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アカウント作成・チャンネルアートなどの細かい手順はこの参考動画で大体分かる（本当に細かく説明されている）。URLは配布資料にも。今日はそれ以外に時間を使いたい。この動画でチャンネルを作って、運営中の相談は私に。なぜ詳しくやらないか→チャンネルページは作り込みが要らないから。実例を見せ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チャンネル画面を見せる。スライドの画面をクリックするとチャンネルが開く）パッと見て、何のチャンネルか分からないですよね？（反応を見る）アートもコンセプトも作り込まれていない。でも一番人気は258万再生、他にも154万・145万・118万と100万超えが並ぶ。登録者13.2万人・動画227本。「アルコール中毒者の超危険行動を見るチャンネル」（笑）。炊飯器に味の素と具材、ハイボールをほぼロックで一気飲み…はちゃめちゃだが行動が面白い。動画を出すほど「こういうチャンネル」と伝わる→好きな視聴者はついてくる。チャンネルページは「どういうチャンネルか」が伝われば十分。アイコンは目立つものに。</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広告収益型（自分）はチャンネルページは少し整える程度。作ってすぐ出すスピード優先。会社はチャンネルページ＝看板。概要欄・チャンネルページに「何をしている会社か」と連絡先。気になった人は概要欄からHPへ＝お客さんへの入り口。HPリンク・事業内容・問い合わせ先はしっか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収益は「おすすめ」経由と、Google検索など外部検索経由がある。YouTubeはGoogleのサービス→検索結果に動画が出る。（実演：「シロアリ 対策」で動画枠を見せる。予備スクショ／出にくければ「ネクタイ 結び方」）悩みの多いジャンルは検索に強い。建設・建築なら「シロアリが出たら？」「こういう時どうする？」。動画の質が良いと上位に載りやすい。良い動画の形は大体決まっている→そこに自社ならどう解決するかを乗せる。ジャンル選び＋中身の設計が大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問いかけ）「アルゴリズム」「クリック率」「視聴維持率」が大事と言われたことありませんか？（反応）でも初期はアナリティクスをほぼ見ない。クリック率を少し見る程度。見るのは視聴者の年齢・属性＝届けたい人に届いているか。合っていないと、クリック率や維持率が良くても違う人に届いている→成果につながらない。だから出す前に視聴者理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一番大事なのは視聴者理解。看板の例え：店名だけで何をしているか書いていない看板（当てはまる会社さんがいたらすみません）。「不動産 賃貸」と書けば分かるのに。フックが取れていない、本気で売りたいのかなと思ってしまう。YouTubeなら、伝えたいことをサムネに書いていない（白黒で文字だけ、イラストなし）状態。数値は出した「あと」、視聴者理解は出す「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釣りサムネはやめた方がいい。飲食店：「めちゃくちゃ美味しい、ここが一番」と書いてあっても、求める味じゃなければもう行かない（お寿司屋・洋食屋・中華も同じ）。美味しければまた来る。YouTubeもほぼ同じ。見た目で手に取っても、使い続けるかは中身。スマホもパソコンも（Mac・Windows）使いやすいから使っている。</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順番を間違えると怖いことが起きる。視聴者理解なしで数値だけ分析すると：需要のない動画→見る人が少ない→視聴データが少ないと数値は高く出やすい（身内や熱心な人だけならCTRも維持率も立派に見える）→「数値いいじゃん」と勘違い→需要がないので伸びない→自己満足で終わる。順番：視聴者理解→動画を作る→そのうえで数値を見て改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ここから体験ワーク。2枚のサムネを見比べて「自分ならどっちをクリックするか」を選ぶだけ。A/Bで挙手。正解も不正解もない。直感で。考え込んだ時点で視聴者の感覚から離れる。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第1問は外構のサムネ3つ（実在の動画。タイトルと再生数は隠している）。A・B・Cで挙手。考え込まずに直感で。建設・外構の方にとっては身近なテーマ。</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直感で挙手してもらう。例：モノ・風景だけ vs 人の顔・表情入り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直感で挙手してもらう。例：内容を説明 vs 続きが気になる（自分のチャンネルのビフォーアフターが最適）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ワーク終了。気づいてほしいこと：口で「大きい文字がいい」と説明されるのと、自分で見比べて「こっちをクリックしたくなる」と感じるのは全然違う。体験しないと分からないことがある——今日一番感じてほしかったのはこれ。視聴者も理屈でなく一瞬の感覚で動く。そしてもう1つ：多くの人は「何を発信したいか」から考えるが順番が逆。視聴者がまず何を求めているかの把握が先。そのために：発信を考える前に、同じジャンルの競合が何を発信し視聴者がどう感じているかを徹底分析する。地道な作業とはまさにこ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では分析したうえで何をやるか。「伸ばすために必要なこと」＝今日の核心。冒頭の「500人のチャンネルを3本で1,000人増やした」種明かしもここで。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伸ばすために重要なのは「ジャンルを俯瞰して見ること」＝競合チャンネルの動画を見ること。拍子抜けしましたか？でも断言します、ここが本質。(1)サムネは「企画の看板」。同じ企画のサムネを体験ワークの目線で見る→良し悪しがはっきり分かる (2)「どう再現すれば伸びやすい状態になるか」まで分解できれば、伸びた理由を根拠で語れる (3)根拠がないと長期運営できないし、商品を継続的に売るのも難しい。</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種明かし。友人の陸上チャンネル（@haman100m、公開の許可あり）。「月10万円稼ぎたい」という相談。(1)俯瞰：陸上の動画を片っ端から。多いのはスパイクのレビュー、練習vlog、速く走るコツ。プロの走りを解説するチャンネルはない。(2)成功ライン：ジャンル平均1〜2万再生。このチャンネルで3〜4年前に出したコールマンの走りの解説が3万再生＝平均より上＝需要あり。その後は本人のvlogになっていた。(3)激戦区：スパイクレビュー・vlog系。(4)空いている場所：プロの走りの徹底解説→「これなら勝てる」。結果：3本目で登録者1,000人以上増・4,000時間の見込み→4本目を出して、4本で合計約9万再生。コメントに「すごく分かりやす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正直な後日談。講習会や商品開発につなげる予定だった。でも会社員とYouTubeの両立では身が入りきらず、YouTubeの大変さも知って熱量が下がり、連絡も返ってこなくなって更新が止まった。動画は熱量が伝わる良い動画なので、ぜひ家で見てほしい。惜しい。教訓：正しい道筋＋無理なく続けられる体制。この2つが揃って初めて育つ。全振り不要、続けられるペース設計か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続いて「注意点とよくある失敗」。失敗パターンはいろいろあるが、今日は一番多くて一番致命的なものを1つだけ、しっかり話す。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一番多くて致命的な失敗＝自分のやりたいことをやってしまうこと。「何が悪いの？」→ここが初心者に一番理解されないポイント。SNSの大原則：視聴者が求めていることを運営者が再現してあげる。主役は視聴者。自分軸で作ると心に響かない動画に→出し続けるとチャンネル全体が「伸びにくい環境」になる。1本の失敗で終わらないのが怖いところ。</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アルゴリズムが見ているのは結局「視聴者の求めていることに運営者が動画で対応できているか」。CTRも維持率もこれを測る数値。良ければ拡散、悪ければ伸びない。それだけ。攻略は不要。視聴者に応える動画を作れば勝手に味方する。「自分軸で作らない」を一番覚えて帰っ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冒頭のゴール2つ（地道な作業・伸びる思考）がつながって見えているはず。今日の話は1本の線。(1)視聴者理解：自分のやりたい事ではなく視聴者の求める事を再現。ワークの感覚が出発点 (2)俯瞰して道筋：競合を見る→成功ライン→激戦区→空いている場所。陸上チャンネルの3本で1,000人はこの道筋の結果 (3)続けられる体制：道筋が正しくても続かなければ止まる。全振り不要、続けられるペース設計も実力のうち。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帰ってからやってほしいことを1つだけ。動画を撮らなくていい、機材も買わなくていい。まず自分がやろうと思っているジャンルの動画を、視聴者として見る。ワークの目線で——自分ならどっちをクリックするか、なぜこの動画は見続けてしまうのか。それが地道な作業の第一歩であり、伸びるチャンネルへの最短ルー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今日は考え方中心。でも成功ライン・空いている場所・続けられるペースは一人ひとり全く違う。そこで参加者特典：あなたのチャンネルに合わせた個別相談。業種・目的を聞いて道筋づくりとペース設計を一緒に整理。集客・商品販売・収益化で戦い方が変わる。通常30,000円→本日参加の方は15,000円（30分・Zoom／対面どちらも可・希望者のみ・申込期限は10/10(土)まで）。終了後に私か塩谷会計事務所さんまで。その後、質疑応答へ。 右下のQRはLINE公式アカウント。月1回〜2か月に1回のセミナーの招待と、週1回のYouTubeワンポイントが届く。相談はまだ早いという方も、まずLINEだけでも。　さらに続けたい方には月額サポート（週1回ミーティング＋Discordで質問できる場）も。まずは個別相談から、無理に勧めない。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本日は最後までご清聴ありがとうございました。質疑応答へ。どんなことでもお気軽に。（時間になったら締め）以上で本日のセミナーを終了します。ありがとうございました。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ている人はわずかなのに数値だけ良く見える。逆に需要のある大きいジャンルは母数が大きく、数値は高くならない。自分のジャンルでは伸びている動画でもクリック率3〜4%。10%だから良い評価とは限らない（初心者によくある勘違い、自分も最初はそうだった）。思い込んで続けるとこける。大事なのは届けたい人に届いているか、視聴者を意識して作れているか。自分はガチガチに設計せず、仮説を立ててすぐ作る。会社の提案は緻密に詰めて上司OKで出すが、YouTubeでそれをやると数が打てず当たる確率が下がる。</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正しい順番：(1)視聴者理解（出す前）(2)仮説を立てて動画を作る (3)出したあと数値を見て改善。ただし数値にとらわれすぎない。一番大切なのは、やるべきことができているか。年齢などのデータの見方は最初は分からない→相談を。視聴者理解に基づいた仮説で作ることは誰でもできる。ここが一番時間がかかる。実際にお店をやっている人が感じる「お客さんの求めるもの」とも違ったりする。地道に。→次は体験ワーク。</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チラシにも書いた「著作権」の話。市販の音楽やテレビの映像を無断で使うと、著作権の申し立てが入り、収益が権利者に回ったり動画が削除されたりする。違反が重なるとチャンネルごと停止されることもある。1本の失敗で全部なくなる。使うならYouTubeオーディオライブラリなど、利用OKと明記された素材を。会社のチャンネルは信用にも関わるので、迷ったら使わない。</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挫折ポイント。最初の数本は伸びなくて当たり前。伸びないのは失敗ではなくデータ集め、見直して改善した回数が実力になる。挫折する人の多くは、伸びているチャンネルの「今」と自分を比べてしまう。比べるのは先月の自分。YouTubeは止めた時点で止まる（冒頭の親のチャンネルも、続けているから結果が出ている）。続けられるペースで打席に立ち続けること。</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際に出した4本（@haman100m）。どれもプロ選手の走りを「科学的に分析」する企画。ノア・ライルズ（股関節）1.4万、桐生（室内60m日本記録）1.9万、蘇炳添（10秒16→9秒83、31歳でアジア記録）3.6万、サニブラウン（ナンバ走り）1.7万。平均1〜2万のジャンルで4本とも平均以上。サムネは「選手名＋実績の数字＋〇〇で答えを隠す」型で統一→続きが気になる（ワーク第3問とつながる）。コメントにも「すごく分かりやすい」。帰って他のvlog系と見比べてみて。</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広告を見せて）この広告、見たことありますか？YouTubeの「好きなことで、生きていく」。ヒカキンさんのあれです。……でも、今日お伝えしたいのは、実はこの逆なんです（間）。「視聴者の」好きなことで、生きていく（笑いを取る）。自分が好きなものではなく、視聴者が好きな動画を作っていく。これが伸びるチャンネルの考え方。→次のスライドで「失敗の正体」へ。</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答え合わせ：A 7.5万／B 2.1万／C 1,086再生。Aは①「外構専門店が解説」＝誰が話すか②「これだけ抑えて！」＝初心者でも見やすい③「スタートガイド」＝何が分かるか④完成した庭の実写＝見たい結果、が一目で伝わる。Bも「外構業者の見つけ方」「抑えるべきポイント2点」で何が分かるかが明確、人の表情と実際の家の外構も入っている→2.1万。Cは「必ず見て！」だけで何が分かるか伝わらない→1,086。※チャンネル規模の差もあるが、サムネの差は見て分かる。外構・建築の会社ならA・Bの型はすぐ真似できる。 【動画を見せる】サムネをクリックするとYouTubeが開く。A→B→Cの順に、冒頭1分ずつ再生。会場の方はQRコードから手元のスマホで見られる。</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1.png"/><Relationship Id="rId4" Type="http://schemas.openxmlformats.org/officeDocument/2006/relationships/hyperlink" Target="https://www.youtube.com/@wawawa1840"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3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3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notesSlide" Target="../notesSlides/notesSlide43.xml"/><Relationship Id="rId6" Type="http://schemas.openxmlformats.org/officeDocument/2006/relationships/image" Target="../media/image17.png"/><Relationship Id="rId7" Type="http://schemas.openxmlformats.org/officeDocument/2006/relationships/hyperlink" Target="https://youtu.be/pu3-B_kIUVE" TargetMode="External"/><Relationship Id="rId8" Type="http://schemas.openxmlformats.org/officeDocument/2006/relationships/hyperlink" Target="https://youtu.be/S7CIe6k3ED0" TargetMode="External"/><Relationship Id="rId9" Type="http://schemas.openxmlformats.org/officeDocument/2006/relationships/hyperlink" Target="https://youtu.be/43ak-26J18M" TargetMode="External"/><Relationship Id="rId10" Type="http://schemas.openxmlformats.org/officeDocument/2006/relationships/image" Target="../media/image18.png"/><Relationship Id="rId11" Type="http://schemas.openxmlformats.org/officeDocument/2006/relationships/image" Target="../media/image19.png"/><Relationship Id="rId12" Type="http://schemas.openxmlformats.org/officeDocument/2006/relationships/image" Target="../media/image2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notesSlide" Target="../notesSlides/notesSlide4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png"/><Relationship Id="rId3" Type="http://schemas.openxmlformats.org/officeDocument/2006/relationships/image" Target="../media/image5.png"/><Relationship Id="rId4" Type="http://schemas.openxmlformats.org/officeDocument/2006/relationships/notesSlide" Target="../notesSlides/notesSlide4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8.png"/><Relationship Id="rId4" Type="http://schemas.openxmlformats.org/officeDocument/2006/relationships/image" Target="../media/image22.png"/><Relationship Id="rId5" Type="http://schemas.openxmlformats.org/officeDocument/2006/relationships/hyperlink" Target="https://line.me/R/ti/p/@031svhsj"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822960" y="914400"/>
            <a:ext cx="3291840" cy="502920"/>
          </a:xfrm>
          <a:prstGeom prst="roundRect">
            <a:avLst>
              <a:gd name="adj" fmla="val 49091"/>
            </a:avLst>
          </a:prstGeom>
          <a:solidFill>
            <a:srgbClr val="FFFFFF"/>
          </a:solidFill>
          <a:ln/>
        </p:spPr>
      </p:sp>
      <p:sp>
        <p:nvSpPr>
          <p:cNvPr id="3" name="Text 1"/>
          <p:cNvSpPr txBox="1"/>
          <p:nvPr/>
        </p:nvSpPr>
        <p:spPr>
          <a:xfrm>
            <a:off x="822960" y="914400"/>
            <a:ext cx="3291840" cy="502920"/>
          </a:xfrm>
          <a:prstGeom prst="rect">
            <a:avLst/>
          </a:prstGeom>
          <a:noFill/>
          <a:ln/>
        </p:spPr>
        <p:txBody>
          <a:bodyPr wrap="square" lIns="0" tIns="0" rIns="0" bIns="0" rtlCol="0" anchor="ctr"/>
          <a:lstStyle/>
          <a:p>
            <a:pPr algn="ctr" indent="0" marL="0">
              <a:buNone/>
            </a:pPr>
            <a:r>
              <a:rPr lang="en-US" sz="1900" b="1" dirty="0">
                <a:solidFill>
                  <a:srgbClr val="C40000"/>
                </a:solidFill>
                <a:latin typeface="Meiryo" pitchFamily="34" charset="0"/>
                <a:ea typeface="Meiryo" pitchFamily="34" charset="-122"/>
                <a:cs typeface="Meiryo" pitchFamily="34" charset="-120"/>
              </a:rPr>
              <a:t>初心者大歓迎セミナー</a:t>
            </a:r>
            <a:endParaRPr lang="en-US" sz="1900" dirty="0"/>
          </a:p>
        </p:txBody>
      </p:sp>
      <p:sp>
        <p:nvSpPr>
          <p:cNvPr id="4" name="Text 2"/>
          <p:cNvSpPr txBox="1"/>
          <p:nvPr/>
        </p:nvSpPr>
        <p:spPr>
          <a:xfrm>
            <a:off x="822960" y="1920240"/>
            <a:ext cx="7315200" cy="640080"/>
          </a:xfrm>
          <a:prstGeom prst="rect">
            <a:avLst/>
          </a:prstGeom>
          <a:noFill/>
          <a:ln/>
        </p:spPr>
        <p:txBody>
          <a:bodyPr wrap="square" lIns="0" tIns="0" rIns="0" bIns="0" rtlCol="0" anchor="ctr"/>
          <a:lstStyle/>
          <a:p>
            <a:pPr indent="0" marL="0">
              <a:buNone/>
            </a:pPr>
            <a:r>
              <a:rPr lang="en-US" sz="3000" b="1" dirty="0">
                <a:solidFill>
                  <a:srgbClr val="FFFFFF"/>
                </a:solidFill>
                <a:latin typeface="Meiryo" pitchFamily="34" charset="0"/>
                <a:ea typeface="Meiryo" pitchFamily="34" charset="-122"/>
                <a:cs typeface="Meiryo" pitchFamily="34" charset="-120"/>
              </a:rPr>
              <a:t>ゼロから始める</a:t>
            </a:r>
            <a:endParaRPr lang="en-US" sz="3000" dirty="0"/>
          </a:p>
        </p:txBody>
      </p:sp>
      <p:sp>
        <p:nvSpPr>
          <p:cNvPr id="5" name="Text 3"/>
          <p:cNvSpPr txBox="1"/>
          <p:nvPr/>
        </p:nvSpPr>
        <p:spPr>
          <a:xfrm>
            <a:off x="804672" y="2560320"/>
            <a:ext cx="10515600" cy="1005840"/>
          </a:xfrm>
          <a:prstGeom prst="rect">
            <a:avLst/>
          </a:prstGeom>
          <a:noFill/>
          <a:ln/>
        </p:spPr>
        <p:txBody>
          <a:bodyPr wrap="square" lIns="0" tIns="0" rIns="0" bIns="0" rtlCol="0" anchor="ctr"/>
          <a:lstStyle/>
          <a:p>
            <a:pPr indent="0" marL="0">
              <a:buNone/>
            </a:pPr>
            <a:r>
              <a:rPr lang="en-US" sz="5400" b="1" dirty="0">
                <a:solidFill>
                  <a:srgbClr val="FFD400"/>
                </a:solidFill>
                <a:latin typeface="Meiryo" pitchFamily="34" charset="0"/>
                <a:ea typeface="Meiryo" pitchFamily="34" charset="-122"/>
                <a:cs typeface="Meiryo" pitchFamily="34" charset="-120"/>
              </a:rPr>
              <a:t>YouTube</a:t>
            </a:r>
            <a:pPr indent="0" marL="0">
              <a:buNone/>
            </a:pPr>
            <a:r>
              <a:rPr lang="en-US" sz="5400" b="1" dirty="0">
                <a:solidFill>
                  <a:srgbClr val="FFFFFF"/>
                </a:solidFill>
                <a:latin typeface="Meiryo" pitchFamily="34" charset="0"/>
                <a:ea typeface="Meiryo" pitchFamily="34" charset="-122"/>
                <a:cs typeface="Meiryo" pitchFamily="34" charset="-120"/>
              </a:rPr>
              <a:t>チャンネル</a:t>
            </a:r>
            <a:endParaRPr lang="en-US" sz="5400" dirty="0"/>
          </a:p>
        </p:txBody>
      </p:sp>
      <p:sp>
        <p:nvSpPr>
          <p:cNvPr id="6" name="Text 4"/>
          <p:cNvSpPr txBox="1"/>
          <p:nvPr/>
        </p:nvSpPr>
        <p:spPr>
          <a:xfrm>
            <a:off x="804672" y="3566160"/>
            <a:ext cx="10515600" cy="1005840"/>
          </a:xfrm>
          <a:prstGeom prst="rect">
            <a:avLst/>
          </a:prstGeom>
          <a:noFill/>
          <a:ln/>
        </p:spPr>
        <p:txBody>
          <a:bodyPr wrap="square" lIns="0" tIns="0" rIns="0" bIns="0" rtlCol="0" anchor="ctr"/>
          <a:lstStyle/>
          <a:p>
            <a:pPr indent="0" marL="0">
              <a:buNone/>
            </a:pPr>
            <a:r>
              <a:rPr lang="en-US" sz="5400" b="1" dirty="0">
                <a:solidFill>
                  <a:srgbClr val="FFFFFF"/>
                </a:solidFill>
                <a:latin typeface="Meiryo" pitchFamily="34" charset="0"/>
                <a:ea typeface="Meiryo" pitchFamily="34" charset="-122"/>
                <a:cs typeface="Meiryo" pitchFamily="34" charset="-120"/>
              </a:rPr>
              <a:t>運用セミナー</a:t>
            </a:r>
            <a:endParaRPr lang="en-US" sz="5400" dirty="0"/>
          </a:p>
        </p:txBody>
      </p:sp>
      <p:sp>
        <p:nvSpPr>
          <p:cNvPr id="7" name="Text 5"/>
          <p:cNvSpPr txBox="1"/>
          <p:nvPr/>
        </p:nvSpPr>
        <p:spPr>
          <a:xfrm>
            <a:off x="822960" y="4846320"/>
            <a:ext cx="10058400" cy="54864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ゼロから始めて、伸ばすための基礎知識と実践ステップ</a:t>
            </a:r>
            <a:endParaRPr lang="en-US" sz="2100" dirty="0"/>
          </a:p>
        </p:txBody>
      </p:sp>
      <p:sp>
        <p:nvSpPr>
          <p:cNvPr id="8" name="Shape 6"/>
          <p:cNvSpPr/>
          <p:nvPr/>
        </p:nvSpPr>
        <p:spPr>
          <a:xfrm>
            <a:off x="9262872" y="914400"/>
            <a:ext cx="1828800" cy="1243584"/>
          </a:xfrm>
          <a:prstGeom prst="roundRect">
            <a:avLst>
              <a:gd name="adj" fmla="val 28000"/>
            </a:avLst>
          </a:prstGeom>
          <a:solidFill>
            <a:srgbClr val="E60000"/>
          </a:solidFill>
          <a:ln/>
        </p:spPr>
      </p:sp>
      <p:sp>
        <p:nvSpPr>
          <p:cNvPr id="9" name="Shape 7"/>
          <p:cNvSpPr/>
          <p:nvPr/>
        </p:nvSpPr>
        <p:spPr>
          <a:xfrm rot="5400000">
            <a:off x="9921240" y="1262604"/>
            <a:ext cx="548640" cy="547177"/>
          </a:xfrm>
          <a:prstGeom prst="triangle">
            <a:avLst/>
          </a:prstGeom>
          <a:solidFill>
            <a:srgbClr val="FFFFFF"/>
          </a:solidFill>
          <a:ln/>
        </p:spPr>
      </p:sp>
      <p:sp>
        <p:nvSpPr>
          <p:cNvPr id="7" name="Text 5"/>
          <p:cNvSpPr txBox="1"/>
          <p:nvPr/>
        </p:nvSpPr>
        <p:spPr>
          <a:xfrm>
            <a:off x="822960" y="5532120"/>
            <a:ext cx="10058400" cy="548640"/>
          </a:xfrm>
          <a:prstGeom prst="rect">
            <a:avLst/>
          </a:prstGeom>
          <a:noFill/>
          <a:ln/>
        </p:spPr>
        <p:txBody>
          <a:bodyPr wrap="square" lIns="0" tIns="0" rIns="0" bIns="0" rtlCol="0" anchor="ctr"/>
          <a:lstStyle/>
          <a:p>
            <a:pPr indent="0" marL="0">
              <a:buNone/>
            </a:pPr>
            <a:r>
              <a:rPr lang="en-US" sz="2400" dirty="0" b="1">
                <a:solidFill>
                  <a:srgbClr val="FFFFFF"/>
                </a:solidFill>
                <a:latin typeface="Meiryo" pitchFamily="34" charset="0"/>
                <a:ea typeface="Meiryo" pitchFamily="34" charset="-122"/>
                <a:cs typeface="Meiryo" pitchFamily="34" charset="-120"/>
              </a:rPr>
              <a:t>講師：Ykkn</a:t>
            </a:r>
            <a:endParaRPr lang="en-US" sz="2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SPEAKER</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自己紹介：Ykkn（会社員 × 副業YouTube）</a:t>
            </a:r>
            <a:endParaRPr lang="en-US" sz="3000" dirty="0"/>
          </a:p>
        </p:txBody>
      </p:sp>
      <p:sp>
        <p:nvSpPr>
          <p:cNvPr id="5" name="Shape 2"/>
          <p:cNvSpPr/>
          <p:nvPr/>
        </p:nvSpPr>
        <p:spPr>
          <a:xfrm>
            <a:off x="640080" y="1737360"/>
            <a:ext cx="3291840" cy="2011680"/>
          </a:xfrm>
          <a:prstGeom prst="roundRect">
            <a:avLst>
              <a:gd name="adj" fmla="val 5455"/>
            </a:avLst>
          </a:prstGeom>
          <a:solidFill>
            <a:srgbClr val="C40000"/>
          </a:solidFill>
          <a:ln/>
        </p:spPr>
        <p:txBody>
          <a:bodyPr/>
          <a:p/>
        </p:txBody>
      </p:sp>
      <p:sp>
        <p:nvSpPr>
          <p:cNvPr id="6" name="Text 3"/>
          <p:cNvSpPr txBox="1"/>
          <p:nvPr/>
        </p:nvSpPr>
        <p:spPr>
          <a:xfrm>
            <a:off x="822960" y="1965960"/>
            <a:ext cx="2926080" cy="731520"/>
          </a:xfrm>
          <a:prstGeom prst="rect">
            <a:avLst/>
          </a:prstGeom>
          <a:noFill/>
          <a:ln/>
        </p:spPr>
        <p:txBody>
          <a:bodyPr wrap="square" lIns="0" tIns="0" rIns="0" bIns="0" rtlCol="0" anchor="ctr"/>
          <a:lstStyle/>
          <a:p>
            <a:pPr indent="0" marL="0">
              <a:buNone/>
            </a:pPr>
            <a:r>
              <a:rPr lang="en-US" sz="4000" b="1" dirty="0">
                <a:solidFill>
                  <a:srgbClr val="FFD400"/>
                </a:solidFill>
                <a:latin typeface="Meiryo" pitchFamily="34" charset="0"/>
                <a:ea typeface="Meiryo" pitchFamily="34" charset="-122"/>
                <a:cs typeface="Meiryo" pitchFamily="34" charset="-120"/>
              </a:rPr>
              <a:t>70万人超</a:t>
            </a:r>
            <a:endParaRPr lang="en-US" sz="4000" dirty="0"/>
          </a:p>
        </p:txBody>
      </p:sp>
      <p:sp>
        <p:nvSpPr>
          <p:cNvPr id="7" name="Text 4"/>
          <p:cNvSpPr txBox="1"/>
          <p:nvPr/>
        </p:nvSpPr>
        <p:spPr>
          <a:xfrm>
            <a:off x="822960" y="2743200"/>
            <a:ext cx="2926080" cy="365760"/>
          </a:xfrm>
          <a:prstGeom prst="rect">
            <a:avLst/>
          </a:prstGeom>
          <a:noFill/>
          <a:ln/>
        </p:spPr>
        <p:txBody>
          <a:bodyPr wrap="square" lIns="0" tIns="0" rIns="0" bIns="0" rtlCol="0" anchor="ctr"/>
          <a:lstStyle/>
          <a:p>
            <a:pPr indent="0" marL="0">
              <a:buNone/>
            </a:pPr>
            <a:r>
              <a:rPr lang="en-US" sz="1400" dirty="0">
                <a:solidFill>
                  <a:srgbClr val="FFFFFF"/>
                </a:solidFill>
                <a:latin typeface="Meiryo" pitchFamily="34" charset="0"/>
                <a:ea typeface="Meiryo" pitchFamily="34" charset="-122"/>
                <a:cs typeface="Meiryo" pitchFamily="34" charset="-120"/>
              </a:rPr>
              <a:t>YouTube総登録者数</a:t>
            </a:r>
            <a:endParaRPr lang="en-US" sz="1400" dirty="0"/>
          </a:p>
        </p:txBody>
      </p:sp>
      <p:sp>
        <p:nvSpPr>
          <p:cNvPr id="8" name="Text 5"/>
          <p:cNvSpPr txBox="1"/>
          <p:nvPr/>
        </p:nvSpPr>
        <p:spPr>
          <a:xfrm>
            <a:off x="822960" y="3200400"/>
            <a:ext cx="3017520" cy="365760"/>
          </a:xfrm>
          <a:prstGeom prst="rect">
            <a:avLst/>
          </a:prstGeom>
          <a:noFill/>
          <a:ln/>
        </p:spPr>
        <p:txBody>
          <a:bodyPr wrap="square" lIns="0" tIns="0" rIns="0" bIns="0" rtlCol="0" anchor="ctr"/>
          <a:lstStyle/>
          <a:p>
            <a:pPr indent="0" marL="0">
              <a:buNone/>
            </a:pPr>
            <a:r>
              <a:rPr lang="en-US" sz="1300" dirty="0">
                <a:solidFill>
                  <a:srgbClr val="FFE9A8"/>
                </a:solidFill>
                <a:latin typeface="Meiryo" pitchFamily="34" charset="0"/>
                <a:ea typeface="Meiryo" pitchFamily="34" charset="-122"/>
                <a:cs typeface="Meiryo" pitchFamily="34" charset="-120"/>
              </a:rPr>
              <a:t>TikTok・Instagramでも約3万人</a:t>
            </a:r>
            <a:endParaRPr lang="en-US" sz="1300" dirty="0"/>
          </a:p>
        </p:txBody>
      </p:sp>
      <p:sp>
        <p:nvSpPr>
          <p:cNvPr id="9" name="Shape 6"/>
          <p:cNvSpPr/>
          <p:nvPr/>
        </p:nvSpPr>
        <p:spPr>
          <a:xfrm>
            <a:off x="640080" y="3931920"/>
            <a:ext cx="3291840" cy="2011680"/>
          </a:xfrm>
          <a:prstGeom prst="roundRect">
            <a:avLst>
              <a:gd name="adj" fmla="val 5455"/>
            </a:avLst>
          </a:prstGeom>
          <a:solidFill>
            <a:srgbClr val="C40000"/>
          </a:solidFill>
          <a:ln/>
        </p:spPr>
        <p:txBody>
          <a:bodyPr/>
          <a:p/>
        </p:txBody>
      </p:sp>
      <p:sp>
        <p:nvSpPr>
          <p:cNvPr id="10" name="Text 7"/>
          <p:cNvSpPr txBox="1"/>
          <p:nvPr/>
        </p:nvSpPr>
        <p:spPr>
          <a:xfrm>
            <a:off x="822960" y="4160520"/>
            <a:ext cx="2926080" cy="7315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1.2億回</a:t>
            </a:r>
            <a:endParaRPr lang="en-US" sz="4000" dirty="0"/>
          </a:p>
        </p:txBody>
      </p:sp>
      <p:sp>
        <p:nvSpPr>
          <p:cNvPr id="11" name="Text 8"/>
          <p:cNvSpPr txBox="1"/>
          <p:nvPr/>
        </p:nvSpPr>
        <p:spPr>
          <a:xfrm>
            <a:off x="822960" y="4937760"/>
            <a:ext cx="2926080" cy="320040"/>
          </a:xfrm>
          <a:prstGeom prst="rect">
            <a:avLst/>
          </a:prstGeom>
          <a:noFill/>
          <a:ln/>
        </p:spPr>
        <p:txBody>
          <a:bodyPr wrap="square" lIns="0" tIns="0" rIns="0" bIns="0" rtlCol="0" anchor="ctr"/>
          <a:lstStyle/>
          <a:p>
            <a:pPr indent="0" marL="0">
              <a:buNone/>
            </a:pPr>
            <a:r>
              <a:rPr lang="en-US" sz="1300" dirty="0">
                <a:solidFill>
                  <a:srgbClr val="FFFFFF"/>
                </a:solidFill>
                <a:latin typeface="Meiryo" pitchFamily="34" charset="0"/>
                <a:ea typeface="Meiryo" pitchFamily="34" charset="-122"/>
                <a:cs typeface="Meiryo" pitchFamily="34" charset="-120"/>
              </a:rPr>
              <a:t>総再生回数（1チャンネルのみ）</a:t>
            </a:r>
            <a:endParaRPr lang="en-US" sz="1300" dirty="0"/>
          </a:p>
        </p:txBody>
      </p:sp>
      <p:sp>
        <p:nvSpPr>
          <p:cNvPr id="12" name="Text 9"/>
          <p:cNvSpPr txBox="1"/>
          <p:nvPr/>
        </p:nvSpPr>
        <p:spPr>
          <a:xfrm>
            <a:off x="822960" y="5349240"/>
            <a:ext cx="3017520" cy="320040"/>
          </a:xfrm>
          <a:prstGeom prst="rect">
            <a:avLst/>
          </a:prstGeom>
          <a:noFill/>
          <a:ln/>
        </p:spPr>
        <p:txBody>
          <a:bodyPr wrap="square" lIns="0" tIns="0" rIns="0" bIns="0" rtlCol="0" anchor="ctr"/>
          <a:lstStyle/>
          <a:p>
            <a:pPr indent="0" marL="0">
              <a:buNone/>
            </a:pPr>
            <a:r>
              <a:rPr lang="en-US" sz="1200" dirty="0">
                <a:solidFill>
                  <a:srgbClr val="FFD9D9"/>
                </a:solidFill>
                <a:latin typeface="Meiryo" pitchFamily="34" charset="0"/>
                <a:ea typeface="Meiryo" pitchFamily="34" charset="-122"/>
                <a:cs typeface="Meiryo" pitchFamily="34" charset="-120"/>
              </a:rPr>
              <a:t>※Shortsではなく通常動画の実績</a:t>
            </a:r>
            <a:endParaRPr lang="en-US" sz="1200" dirty="0"/>
          </a:p>
        </p:txBody>
      </p:sp>
      <p:sp>
        <p:nvSpPr>
          <p:cNvPr id="13" name="Shape 10"/>
          <p:cNvSpPr/>
          <p:nvPr/>
        </p:nvSpPr>
        <p:spPr>
          <a:xfrm>
            <a:off x="4389120" y="1874520"/>
            <a:ext cx="475488" cy="475488"/>
          </a:xfrm>
          <a:prstGeom prst="ellipse">
            <a:avLst/>
          </a:prstGeom>
          <a:solidFill>
            <a:srgbClr val="C40000"/>
          </a:solidFill>
          <a:ln/>
        </p:spPr>
        <p:txBody>
          <a:bodyPr/>
          <a:p/>
        </p:txBody>
      </p:sp>
      <p:sp>
        <p:nvSpPr>
          <p:cNvPr id="14" name="Text 11"/>
          <p:cNvSpPr txBox="1"/>
          <p:nvPr/>
        </p:nvSpPr>
        <p:spPr>
          <a:xfrm>
            <a:off x="4389120" y="18653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15" name="Text 12"/>
          <p:cNvSpPr txBox="1"/>
          <p:nvPr/>
        </p:nvSpPr>
        <p:spPr>
          <a:xfrm>
            <a:off x="5074920" y="1737360"/>
            <a:ext cx="6400800" cy="50292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顔出しなしで 7チャンネルを収益化</a:t>
            </a:r>
            <a:endParaRPr lang="en-US" sz="2200" dirty="0"/>
          </a:p>
        </p:txBody>
      </p:sp>
      <p:sp>
        <p:nvSpPr>
          <p:cNvPr id="16" name="Text 13"/>
          <p:cNvSpPr txBox="1"/>
          <p:nvPr/>
        </p:nvSpPr>
        <p:spPr>
          <a:xfrm>
            <a:off x="5074920" y="2240280"/>
            <a:ext cx="6400800" cy="4572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ほぼ1年で、7つとも収益化の条件をクリア</a:t>
            </a:r>
            <a:endParaRPr lang="en-US" sz="1800" dirty="0"/>
          </a:p>
        </p:txBody>
      </p:sp>
      <p:sp>
        <p:nvSpPr>
          <p:cNvPr id="17" name="Shape 14"/>
          <p:cNvSpPr/>
          <p:nvPr/>
        </p:nvSpPr>
        <p:spPr>
          <a:xfrm>
            <a:off x="4389120" y="3337560"/>
            <a:ext cx="475488" cy="475488"/>
          </a:xfrm>
          <a:prstGeom prst="ellipse">
            <a:avLst/>
          </a:prstGeom>
          <a:solidFill>
            <a:srgbClr val="C40000"/>
          </a:solidFill>
          <a:ln/>
        </p:spPr>
        <p:txBody>
          <a:bodyPr/>
          <a:p/>
        </p:txBody>
      </p:sp>
      <p:sp>
        <p:nvSpPr>
          <p:cNvPr id="18" name="Text 15"/>
          <p:cNvSpPr txBox="1"/>
          <p:nvPr/>
        </p:nvSpPr>
        <p:spPr>
          <a:xfrm>
            <a:off x="4389120" y="332841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9" name="Text 16"/>
          <p:cNvSpPr txBox="1"/>
          <p:nvPr/>
        </p:nvSpPr>
        <p:spPr>
          <a:xfrm>
            <a:off x="5074920" y="3200400"/>
            <a:ext cx="6400800" cy="50292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登録者500人 → 動画3本で1,000人増</a:t>
            </a:r>
            <a:endParaRPr lang="en-US" sz="2200" dirty="0"/>
          </a:p>
        </p:txBody>
      </p:sp>
      <p:sp>
        <p:nvSpPr>
          <p:cNvPr id="20" name="Text 17"/>
          <p:cNvSpPr txBox="1"/>
          <p:nvPr/>
        </p:nvSpPr>
        <p:spPr>
          <a:xfrm>
            <a:off x="5074920" y="3703320"/>
            <a:ext cx="6400800" cy="4572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3年伸び悩んだ友人のチャンネル。4,000時間も3本で達成</a:t>
            </a:r>
            <a:endParaRPr lang="en-US" sz="1800" dirty="0"/>
          </a:p>
        </p:txBody>
      </p:sp>
      <p:sp>
        <p:nvSpPr>
          <p:cNvPr id="21" name="Shape 18"/>
          <p:cNvSpPr/>
          <p:nvPr/>
        </p:nvSpPr>
        <p:spPr>
          <a:xfrm>
            <a:off x="4389120" y="4800600"/>
            <a:ext cx="475488" cy="475488"/>
          </a:xfrm>
          <a:prstGeom prst="ellipse">
            <a:avLst/>
          </a:prstGeom>
          <a:solidFill>
            <a:srgbClr val="C40000"/>
          </a:solidFill>
          <a:ln/>
        </p:spPr>
        <p:txBody>
          <a:bodyPr/>
          <a:p/>
        </p:txBody>
      </p:sp>
      <p:sp>
        <p:nvSpPr>
          <p:cNvPr id="22" name="Text 19"/>
          <p:cNvSpPr txBox="1"/>
          <p:nvPr/>
        </p:nvSpPr>
        <p:spPr>
          <a:xfrm>
            <a:off x="4389120" y="47914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23" name="Text 20"/>
          <p:cNvSpPr txBox="1"/>
          <p:nvPr/>
        </p:nvSpPr>
        <p:spPr>
          <a:xfrm>
            <a:off x="5074920" y="4663440"/>
            <a:ext cx="6400800" cy="50292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親のチャンネルは 登録者9,000人近く</a:t>
            </a:r>
            <a:endParaRPr lang="en-US" sz="2200" dirty="0"/>
          </a:p>
        </p:txBody>
      </p:sp>
      <p:sp>
        <p:nvSpPr>
          <p:cNvPr id="24" name="Text 21"/>
          <p:cNvSpPr txBox="1"/>
          <p:nvPr/>
        </p:nvSpPr>
        <p:spPr>
          <a:xfrm>
            <a:off x="5074920" y="5166360"/>
            <a:ext cx="6400800" cy="4572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サムネの手直し＋企画の相談のみ。副業で月5万円を達成</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GOAL</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今日のゴール</a:t>
            </a:r>
            <a:endParaRPr lang="en-US" sz="3000" dirty="0"/>
          </a:p>
        </p:txBody>
      </p:sp>
      <p:sp>
        <p:nvSpPr>
          <p:cNvPr id="5" name="Shape 2"/>
          <p:cNvSpPr/>
          <p:nvPr/>
        </p:nvSpPr>
        <p:spPr>
          <a:xfrm>
            <a:off x="640080" y="1920240"/>
            <a:ext cx="5257800" cy="3931920"/>
          </a:xfrm>
          <a:prstGeom prst="roundRect">
            <a:avLst>
              <a:gd name="adj" fmla="val 2791"/>
            </a:avLst>
          </a:prstGeom>
          <a:solidFill>
            <a:srgbClr val="FFF3C4"/>
          </a:solidFill>
          <a:ln/>
        </p:spPr>
      </p:sp>
      <p:sp>
        <p:nvSpPr>
          <p:cNvPr id="6" name="Text 3"/>
          <p:cNvSpPr txBox="1"/>
          <p:nvPr/>
        </p:nvSpPr>
        <p:spPr>
          <a:xfrm>
            <a:off x="1051560" y="2286000"/>
            <a:ext cx="1828800" cy="731520"/>
          </a:xfrm>
          <a:prstGeom prst="rect">
            <a:avLst/>
          </a:prstGeom>
          <a:noFill/>
          <a:ln/>
        </p:spPr>
        <p:txBody>
          <a:bodyPr wrap="square" lIns="0" tIns="0" rIns="0" bIns="0" rtlCol="0" anchor="ctr"/>
          <a:lstStyle/>
          <a:p>
            <a:pPr indent="0" marL="0">
              <a:buNone/>
            </a:pPr>
            <a:r>
              <a:rPr lang="en-US" sz="4400" b="1" dirty="0">
                <a:solidFill>
                  <a:srgbClr val="C40000"/>
                </a:solidFill>
                <a:latin typeface="Meiryo" pitchFamily="34" charset="0"/>
                <a:ea typeface="Meiryo" pitchFamily="34" charset="-122"/>
                <a:cs typeface="Meiryo" pitchFamily="34" charset="-120"/>
              </a:rPr>
              <a:t>01</a:t>
            </a:r>
            <a:endParaRPr lang="en-US" sz="4400" dirty="0"/>
          </a:p>
        </p:txBody>
      </p:sp>
      <p:sp>
        <p:nvSpPr>
          <p:cNvPr id="7" name="Text 4"/>
          <p:cNvSpPr txBox="1"/>
          <p:nvPr/>
        </p:nvSpPr>
        <p:spPr>
          <a:xfrm>
            <a:off x="1051560" y="3200400"/>
            <a:ext cx="4480560" cy="118872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「地道な作業が必要」だと</a:t>
            </a:r>
            <a:endParaRPr lang="en-US" sz="2400" dirty="0"/>
          </a:p>
          <a:p>
            <a:pPr indent="0" marL="0">
              <a:buNone/>
            </a:pPr>
            <a:r>
              <a:rPr lang="en-US" sz="2400" b="1" dirty="0">
                <a:solidFill>
                  <a:srgbClr val="222222"/>
                </a:solidFill>
                <a:latin typeface="Meiryo" pitchFamily="34" charset="0"/>
                <a:ea typeface="Meiryo" pitchFamily="34" charset="-122"/>
                <a:cs typeface="Meiryo" pitchFamily="34" charset="-120"/>
              </a:rPr>
              <a:t>実感すること</a:t>
            </a:r>
            <a:endParaRPr lang="en-US" sz="2400" dirty="0"/>
          </a:p>
        </p:txBody>
      </p:sp>
      <p:sp>
        <p:nvSpPr>
          <p:cNvPr id="8" name="Text 5"/>
          <p:cNvSpPr txBox="1"/>
          <p:nvPr/>
        </p:nvSpPr>
        <p:spPr>
          <a:xfrm>
            <a:off x="1051560" y="4480560"/>
            <a:ext cx="4480560" cy="109728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裏ワザはありません。丁寧にやる所と、</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力を抜いていい所を見極めて積み上げる。</a:t>
            </a:r>
            <a:endParaRPr lang="en-US" sz="1800" dirty="0"/>
          </a:p>
        </p:txBody>
      </p:sp>
      <p:sp>
        <p:nvSpPr>
          <p:cNvPr id="9" name="Shape 6"/>
          <p:cNvSpPr/>
          <p:nvPr/>
        </p:nvSpPr>
        <p:spPr>
          <a:xfrm>
            <a:off x="6309360" y="1920240"/>
            <a:ext cx="5257800" cy="3931920"/>
          </a:xfrm>
          <a:prstGeom prst="roundRect">
            <a:avLst>
              <a:gd name="adj" fmla="val 2791"/>
            </a:avLst>
          </a:prstGeom>
          <a:solidFill>
            <a:srgbClr val="FFF3C4"/>
          </a:solidFill>
          <a:ln/>
        </p:spPr>
      </p:sp>
      <p:sp>
        <p:nvSpPr>
          <p:cNvPr id="10" name="Text 7"/>
          <p:cNvSpPr txBox="1"/>
          <p:nvPr/>
        </p:nvSpPr>
        <p:spPr>
          <a:xfrm>
            <a:off x="6720840" y="2286000"/>
            <a:ext cx="1828800" cy="731520"/>
          </a:xfrm>
          <a:prstGeom prst="rect">
            <a:avLst/>
          </a:prstGeom>
          <a:noFill/>
          <a:ln/>
        </p:spPr>
        <p:txBody>
          <a:bodyPr wrap="square" lIns="0" tIns="0" rIns="0" bIns="0" rtlCol="0" anchor="ctr"/>
          <a:lstStyle/>
          <a:p>
            <a:pPr indent="0" marL="0">
              <a:buNone/>
            </a:pPr>
            <a:r>
              <a:rPr lang="en-US" sz="4400" b="1" dirty="0">
                <a:solidFill>
                  <a:srgbClr val="C40000"/>
                </a:solidFill>
                <a:latin typeface="Meiryo" pitchFamily="34" charset="0"/>
                <a:ea typeface="Meiryo" pitchFamily="34" charset="-122"/>
                <a:cs typeface="Meiryo" pitchFamily="34" charset="-120"/>
              </a:rPr>
              <a:t>02</a:t>
            </a:r>
            <a:endParaRPr lang="en-US" sz="4400" dirty="0"/>
          </a:p>
        </p:txBody>
      </p:sp>
      <p:sp>
        <p:nvSpPr>
          <p:cNvPr id="11" name="Text 8"/>
          <p:cNvSpPr txBox="1"/>
          <p:nvPr/>
        </p:nvSpPr>
        <p:spPr>
          <a:xfrm>
            <a:off x="6720840" y="3200400"/>
            <a:ext cx="4480560" cy="118872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「伸びるための思考」を</a:t>
            </a:r>
            <a:endParaRPr lang="en-US" sz="2400" dirty="0"/>
          </a:p>
          <a:p>
            <a:pPr indent="0" marL="0">
              <a:buNone/>
            </a:pPr>
            <a:r>
              <a:rPr lang="en-US" sz="2400" b="1" dirty="0">
                <a:solidFill>
                  <a:srgbClr val="222222"/>
                </a:solidFill>
                <a:latin typeface="Meiryo" pitchFamily="34" charset="0"/>
                <a:ea typeface="Meiryo" pitchFamily="34" charset="-122"/>
                <a:cs typeface="Meiryo" pitchFamily="34" charset="-120"/>
              </a:rPr>
              <a:t>少しでも学ぶこと</a:t>
            </a:r>
            <a:endParaRPr lang="en-US" sz="2400" dirty="0"/>
          </a:p>
        </p:txBody>
      </p:sp>
      <p:sp>
        <p:nvSpPr>
          <p:cNvPr id="12" name="Text 9"/>
          <p:cNvSpPr txBox="1"/>
          <p:nvPr/>
        </p:nvSpPr>
        <p:spPr>
          <a:xfrm>
            <a:off x="6720840" y="4480560"/>
            <a:ext cx="4480560" cy="109728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伸びるチャンネルがどういう考え方で</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作られているか、視点を持ち帰る。</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1097280"/>
            <a:ext cx="10515600" cy="640080"/>
          </a:xfrm>
          <a:prstGeom prst="rect">
            <a:avLst/>
          </a:prstGeom>
          <a:noFill/>
          <a:ln/>
        </p:spPr>
        <p:txBody>
          <a:bodyPr wrap="square" lIns="0" tIns="0" rIns="0" bIns="0" rtlCol="0" anchor="ctr"/>
          <a:lstStyle/>
          <a:p>
            <a:pPr indent="0" marL="0">
              <a:buNone/>
            </a:pPr>
            <a:r>
              <a:rPr lang="en-US" sz="2400" b="1" dirty="0">
                <a:solidFill>
                  <a:srgbClr val="FFD9D9"/>
                </a:solidFill>
                <a:latin typeface="Meiryo" pitchFamily="34" charset="0"/>
                <a:ea typeface="Meiryo" pitchFamily="34" charset="-122"/>
                <a:cs typeface="Meiryo" pitchFamily="34" charset="-120"/>
              </a:rPr>
              <a:t>最後に、このセミナーをやる理由</a:t>
            </a:r>
            <a:endParaRPr lang="en-US" sz="2400" dirty="0"/>
          </a:p>
        </p:txBody>
      </p:sp>
      <p:sp>
        <p:nvSpPr>
          <p:cNvPr id="3" name="Shape 1"/>
          <p:cNvSpPr/>
          <p:nvPr/>
        </p:nvSpPr>
        <p:spPr>
          <a:xfrm>
            <a:off x="822960" y="2011680"/>
            <a:ext cx="10515600" cy="1645920"/>
          </a:xfrm>
          <a:prstGeom prst="roundRect">
            <a:avLst>
              <a:gd name="adj" fmla="val 8333"/>
            </a:avLst>
          </a:prstGeom>
          <a:solidFill>
            <a:srgbClr val="FFD400"/>
          </a:solidFill>
          <a:ln/>
        </p:spPr>
      </p:sp>
      <p:sp>
        <p:nvSpPr>
          <p:cNvPr id="4" name="Text 2"/>
          <p:cNvSpPr txBox="1"/>
          <p:nvPr/>
        </p:nvSpPr>
        <p:spPr>
          <a:xfrm>
            <a:off x="1280160" y="2194560"/>
            <a:ext cx="9692640" cy="1280160"/>
          </a:xfrm>
          <a:prstGeom prst="rect">
            <a:avLst/>
          </a:prstGeom>
          <a:noFill/>
          <a:ln/>
        </p:spPr>
        <p:txBody>
          <a:bodyPr wrap="square" lIns="0" tIns="0" rIns="0" bIns="0" rtlCol="0" anchor="ctr"/>
          <a:lstStyle/>
          <a:p>
            <a:pPr indent="0" marL="0">
              <a:buNone/>
            </a:pPr>
            <a:r>
              <a:rPr lang="en-US" sz="3600" b="1" dirty="0">
                <a:solidFill>
                  <a:srgbClr val="C40000"/>
                </a:solidFill>
                <a:latin typeface="Meiryo" pitchFamily="34" charset="0"/>
                <a:ea typeface="Meiryo" pitchFamily="34" charset="-122"/>
                <a:cs typeface="Meiryo" pitchFamily="34" charset="-120"/>
              </a:rPr>
              <a:t>地域貢献がしたかった</a:t>
            </a:r>
            <a:endParaRPr lang="en-US" sz="3600" dirty="0"/>
          </a:p>
        </p:txBody>
      </p:sp>
      <p:sp>
        <p:nvSpPr>
          <p:cNvPr id="5" name="Text 3"/>
          <p:cNvSpPr txBox="1"/>
          <p:nvPr/>
        </p:nvSpPr>
        <p:spPr>
          <a:xfrm>
            <a:off x="822960" y="3931920"/>
            <a:ext cx="10515600" cy="1097280"/>
          </a:xfrm>
          <a:prstGeom prst="rect">
            <a:avLst/>
          </a:prstGeom>
          <a:noFill/>
          <a:ln/>
        </p:spPr>
        <p:txBody>
          <a:bodyPr wrap="square" lIns="0" tIns="0" rIns="0" bIns="0" rtlCol="0" anchor="ctr"/>
          <a:lstStyle/>
          <a:p>
            <a:pPr indent="0" marL="0">
              <a:buNone/>
            </a:pPr>
            <a:r>
              <a:rPr lang="en-US" sz="2000" dirty="0">
                <a:solidFill>
                  <a:srgbClr val="FFFFFF"/>
                </a:solidFill>
                <a:latin typeface="Meiryo" pitchFamily="34" charset="0"/>
                <a:ea typeface="Meiryo" pitchFamily="34" charset="-122"/>
                <a:cs typeface="Meiryo" pitchFamily="34" charset="-120"/>
              </a:rPr>
              <a:t>私は、前に出るより裏方で力を発揮するタイプ。</a:t>
            </a:r>
            <a:br>
              <a:rPr lang="en-US" sz="2000" dirty="0">
                <a:solidFill>
                  <a:srgbClr val="FFFFFF"/>
                </a:solidFill>
                <a:latin typeface="Meiryo" pitchFamily="34" charset="0"/>
                <a:ea typeface="Meiryo" pitchFamily="34" charset="-122"/>
                <a:cs typeface="Meiryo" pitchFamily="34" charset="-120"/>
              </a:rPr>
            </a:br>
            <a:r>
              <a:rPr lang="en-US" sz="2000" dirty="0">
                <a:solidFill>
                  <a:srgbClr val="FFFFFF"/>
                </a:solidFill>
                <a:latin typeface="Meiryo" pitchFamily="34" charset="0"/>
                <a:ea typeface="Meiryo" pitchFamily="34" charset="-122"/>
                <a:cs typeface="Meiryo" pitchFamily="34" charset="-120"/>
              </a:rPr>
              <a:t>企画やサムネで、皆さんの商品やサービスを求める人に届けるお手伝いがしたい。</a:t>
            </a:r>
            <a:endParaRPr lang="en-US" sz="2000" dirty="0"/>
          </a:p>
        </p:txBody>
      </p:sp>
      <p:sp>
        <p:nvSpPr>
          <p:cNvPr id="6" name="Text 4"/>
          <p:cNvSpPr txBox="1"/>
          <p:nvPr/>
        </p:nvSpPr>
        <p:spPr>
          <a:xfrm>
            <a:off x="822960" y="5212080"/>
            <a:ext cx="10515600" cy="640080"/>
          </a:xfrm>
          <a:prstGeom prst="rect">
            <a:avLst/>
          </a:prstGeom>
          <a:noFill/>
          <a:ln/>
        </p:spPr>
        <p:txBody>
          <a:bodyPr wrap="square" lIns="0" tIns="0" rIns="0" bIns="0" rtlCol="0" anchor="ctr"/>
          <a:lstStyle/>
          <a:p>
            <a:pPr indent="0" marL="0">
              <a:buNone/>
            </a:pPr>
            <a:r>
              <a:rPr lang="en-US" sz="2000" b="1" dirty="0">
                <a:solidFill>
                  <a:srgbClr val="FFD400"/>
                </a:solidFill>
                <a:latin typeface="Meiryo" pitchFamily="34" charset="0"/>
                <a:ea typeface="Meiryo" pitchFamily="34" charset="-122"/>
                <a:cs typeface="Meiryo" pitchFamily="34" charset="-120"/>
              </a:rPr>
              <a:t>こうして場を設けていただいた塩谷先生に、心から感謝しています。</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02</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なぜ今、SNS運営が必要なのか</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ここが腹落ちしないと、全部「やれたらいいよね」で終わる</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WHY SNS</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理由はシンプル。みんなが使っているから</a:t>
            </a:r>
            <a:endParaRPr lang="en-US" sz="3000" dirty="0"/>
          </a:p>
        </p:txBody>
      </p:sp>
      <p:sp>
        <p:nvSpPr>
          <p:cNvPr id="5" name="Text 2"/>
          <p:cNvSpPr txBox="1"/>
          <p:nvPr/>
        </p:nvSpPr>
        <p:spPr>
          <a:xfrm>
            <a:off x="640080" y="1737360"/>
            <a:ext cx="10972800" cy="54864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お客さんが毎日いる場所に、自分のお店・事業の看板を出せる。</a:t>
            </a:r>
            <a:endParaRPr lang="en-US" sz="2200" dirty="0"/>
          </a:p>
        </p:txBody>
      </p:sp>
      <p:sp>
        <p:nvSpPr>
          <p:cNvPr id="6" name="Shape 3"/>
          <p:cNvSpPr/>
          <p:nvPr/>
        </p:nvSpPr>
        <p:spPr>
          <a:xfrm>
            <a:off x="640080" y="2560320"/>
            <a:ext cx="10972800" cy="3291840"/>
          </a:xfrm>
          <a:prstGeom prst="roundRect">
            <a:avLst>
              <a:gd name="adj" fmla="val 3333"/>
            </a:avLst>
          </a:prstGeom>
          <a:solidFill>
            <a:srgbClr val="C40000"/>
          </a:solidFill>
          <a:ln/>
        </p:spPr>
      </p:sp>
      <p:sp>
        <p:nvSpPr>
          <p:cNvPr id="7" name="Text 4"/>
          <p:cNvSpPr txBox="1"/>
          <p:nvPr/>
        </p:nvSpPr>
        <p:spPr>
          <a:xfrm>
            <a:off x="1097280" y="3017520"/>
            <a:ext cx="10058400" cy="731520"/>
          </a:xfrm>
          <a:prstGeom prst="rect">
            <a:avLst/>
          </a:prstGeom>
          <a:noFill/>
          <a:ln/>
        </p:spPr>
        <p:txBody>
          <a:bodyPr wrap="square" lIns="0" tIns="0" rIns="0" bIns="0" rtlCol="0" anchor="ctr"/>
          <a:lstStyle/>
          <a:p>
            <a:pPr indent="0" marL="0">
              <a:buNone/>
            </a:pPr>
            <a:r>
              <a:rPr lang="en-US" sz="3200" b="1" dirty="0">
                <a:solidFill>
                  <a:srgbClr val="FFD400"/>
                </a:solidFill>
                <a:latin typeface="Meiryo" pitchFamily="34" charset="0"/>
                <a:ea typeface="Meiryo" pitchFamily="34" charset="-122"/>
                <a:cs typeface="Meiryo" pitchFamily="34" charset="-120"/>
              </a:rPr>
              <a:t>SNSは 無料で広告を打てる</a:t>
            </a:r>
            <a:endParaRPr lang="en-US" sz="3200" dirty="0"/>
          </a:p>
        </p:txBody>
      </p:sp>
      <p:sp>
        <p:nvSpPr>
          <p:cNvPr id="8" name="Text 5"/>
          <p:cNvSpPr txBox="1"/>
          <p:nvPr/>
        </p:nvSpPr>
        <p:spPr>
          <a:xfrm>
            <a:off x="1097280" y="3931920"/>
            <a:ext cx="10058400" cy="1280160"/>
          </a:xfrm>
          <a:prstGeom prst="rect">
            <a:avLst/>
          </a:prstGeom>
          <a:noFill/>
          <a:ln/>
        </p:spPr>
        <p:txBody>
          <a:bodyPr wrap="square" lIns="0" tIns="0" rIns="0" bIns="0" rtlCol="0" anchor="ctr"/>
          <a:lstStyle/>
          <a:p>
            <a:pPr indent="0" marL="0">
              <a:buNone/>
            </a:pPr>
            <a:r>
              <a:rPr lang="en-US" sz="2100" dirty="0">
                <a:solidFill>
                  <a:srgbClr val="FFFFFF"/>
                </a:solidFill>
                <a:latin typeface="Meiryo" pitchFamily="34" charset="0"/>
                <a:ea typeface="Meiryo" pitchFamily="34" charset="-122"/>
                <a:cs typeface="Meiryo" pitchFamily="34" charset="-120"/>
              </a:rPr>
              <a:t>チラシも看板もネット広告もお金がかかる。SNSの投稿は何本出してもタダ。</a:t>
            </a:r>
            <a:endParaRPr lang="en-US" sz="2100" dirty="0"/>
          </a:p>
          <a:p>
            <a:pPr indent="0" marL="0">
              <a:buNone/>
            </a:pPr>
            <a:r>
              <a:rPr lang="en-US" sz="2100" dirty="0">
                <a:solidFill>
                  <a:srgbClr val="FFFFFF"/>
                </a:solidFill>
                <a:latin typeface="Meiryo" pitchFamily="34" charset="0"/>
                <a:ea typeface="Meiryo" pitchFamily="34" charset="-122"/>
                <a:cs typeface="Meiryo" pitchFamily="34" charset="-120"/>
              </a:rPr>
              <a:t>これは、言い換えると「競合優位性」。</a:t>
            </a:r>
            <a:endParaRPr lang="en-US" sz="2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ADVANTAGE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数年後、まったく違う運営になる</a:t>
            </a:r>
            <a:endParaRPr lang="en-US" sz="3000" dirty="0"/>
          </a:p>
        </p:txBody>
      </p:sp>
      <p:pic>
        <p:nvPicPr>
          <p:cNvPr id="4" name="Picture 3" descr="ill_a.png"/>
          <p:cNvPicPr>
            <a:picLocks noChangeAspect="1"/>
          </p:cNvPicPr>
          <p:nvPr/>
        </p:nvPicPr>
        <p:blipFill>
          <a:blip r:embed="rId3"/>
          <a:stretch>
            <a:fillRect/>
          </a:stretch>
        </p:blipFill>
        <p:spPr>
          <a:xfrm>
            <a:off x="1400892" y="1783080"/>
            <a:ext cx="9390184"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SNSで集客できれば、他の同業者とはまったく違う土俵で戦える</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REALITY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ただし、ジャンルによって差があります</a:t>
            </a:r>
            <a:endParaRPr lang="en-US" sz="3000" dirty="0"/>
          </a:p>
        </p:txBody>
      </p:sp>
      <p:pic>
        <p:nvPicPr>
          <p:cNvPr id="4" name="Picture 3" descr="ill_b.png"/>
          <p:cNvPicPr>
            <a:picLocks noChangeAspect="1"/>
          </p:cNvPicPr>
          <p:nvPr/>
        </p:nvPicPr>
        <p:blipFill>
          <a:blip r:embed="rId3"/>
          <a:stretch>
            <a:fillRect/>
          </a:stretch>
        </p:blipFill>
        <p:spPr>
          <a:xfrm>
            <a:off x="788489" y="1783080"/>
            <a:ext cx="10614991"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まず、自分のジャンルの「相場」を把握することから</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CAUTION</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ただし、メリットばかりではありません</a:t>
            </a:r>
            <a:endParaRPr lang="en-US" sz="3000" dirty="0"/>
          </a:p>
        </p:txBody>
      </p:sp>
      <p:sp>
        <p:nvSpPr>
          <p:cNvPr id="5" name="Shape 2"/>
          <p:cNvSpPr/>
          <p:nvPr/>
        </p:nvSpPr>
        <p:spPr>
          <a:xfrm>
            <a:off x="640080" y="1828800"/>
            <a:ext cx="10972800" cy="1737360"/>
          </a:xfrm>
          <a:prstGeom prst="roundRect">
            <a:avLst>
              <a:gd name="adj" fmla="val 6316"/>
            </a:avLst>
          </a:prstGeom>
          <a:solidFill>
            <a:srgbClr val="C40000"/>
          </a:solidFill>
          <a:ln/>
        </p:spPr>
      </p:sp>
      <p:sp>
        <p:nvSpPr>
          <p:cNvPr id="6" name="Text 3"/>
          <p:cNvSpPr txBox="1"/>
          <p:nvPr/>
        </p:nvSpPr>
        <p:spPr>
          <a:xfrm>
            <a:off x="1097280" y="2286000"/>
            <a:ext cx="10058400" cy="822960"/>
          </a:xfrm>
          <a:prstGeom prst="rect">
            <a:avLst/>
          </a:prstGeom>
          <a:noFill/>
          <a:ln/>
        </p:spPr>
        <p:txBody>
          <a:bodyPr wrap="square" lIns="0" tIns="0" rIns="0" bIns="0" rtlCol="0" anchor="ctr"/>
          <a:lstStyle/>
          <a:p>
            <a:pPr indent="0" marL="0">
              <a:buNone/>
            </a:pPr>
            <a:r>
              <a:rPr lang="en-US" sz="3000" b="1" dirty="0">
                <a:solidFill>
                  <a:srgbClr val="FFD400"/>
                </a:solidFill>
                <a:latin typeface="Meiryo" pitchFamily="34" charset="0"/>
                <a:ea typeface="Meiryo" pitchFamily="34" charset="-122"/>
                <a:cs typeface="Meiryo" pitchFamily="34" charset="-120"/>
              </a:rPr>
              <a:t>発信力を持つ ＝ 炎上リスクも一緒に持つ</a:t>
            </a:r>
            <a:endParaRPr lang="en-US" sz="3000" dirty="0"/>
          </a:p>
        </p:txBody>
      </p:sp>
      <p:sp>
        <p:nvSpPr>
          <p:cNvPr id="7" name="Text 4"/>
          <p:cNvSpPr txBox="1"/>
          <p:nvPr/>
        </p:nvSpPr>
        <p:spPr>
          <a:xfrm>
            <a:off x="822960" y="3886200"/>
            <a:ext cx="10698480" cy="2377440"/>
          </a:xfrm>
          <a:prstGeom prst="rect">
            <a:avLst/>
          </a:prstGeom>
          <a:noFill/>
          <a:ln/>
        </p:spPr>
        <p:txBody>
          <a:bodyPr wrap="square" rtlCol="0" anchor="ctr"/>
          <a:lstStyle/>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自社を表に出す以上、やってはいけないことをすれば炎上につながる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リスクを分かっていれば「やるべきこと・やってはいけないこと」が見えてくる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売上には良い施策。でも自社に本当に合うかは、ご自身の考えを大事に判断を</a:t>
            </a:r>
            <a:endParaRPr lang="en-US" sz="2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MERIT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集客だけじゃない、3つの広がり</a:t>
            </a:r>
            <a:endParaRPr lang="en-US" sz="3000" dirty="0"/>
          </a:p>
        </p:txBody>
      </p:sp>
      <p:sp>
        <p:nvSpPr>
          <p:cNvPr id="5" name="Shape 2"/>
          <p:cNvSpPr/>
          <p:nvPr/>
        </p:nvSpPr>
        <p:spPr>
          <a:xfrm>
            <a:off x="640080" y="1920240"/>
            <a:ext cx="3520440" cy="3566160"/>
          </a:xfrm>
          <a:prstGeom prst="roundRect">
            <a:avLst>
              <a:gd name="adj" fmla="val 3117"/>
            </a:avLst>
          </a:prstGeom>
          <a:solidFill>
            <a:srgbClr val="FFF3C4"/>
          </a:solidFill>
          <a:ln/>
        </p:spPr>
      </p:sp>
      <p:sp>
        <p:nvSpPr>
          <p:cNvPr id="6" name="Shape 3"/>
          <p:cNvSpPr/>
          <p:nvPr/>
        </p:nvSpPr>
        <p:spPr>
          <a:xfrm>
            <a:off x="1005840" y="2286000"/>
            <a:ext cx="475488" cy="475488"/>
          </a:xfrm>
          <a:prstGeom prst="ellipse">
            <a:avLst/>
          </a:prstGeom>
          <a:solidFill>
            <a:srgbClr val="C40000"/>
          </a:solidFill>
          <a:ln/>
        </p:spPr>
      </p:sp>
      <p:sp>
        <p:nvSpPr>
          <p:cNvPr id="7" name="Text 4"/>
          <p:cNvSpPr txBox="1"/>
          <p:nvPr/>
        </p:nvSpPr>
        <p:spPr>
          <a:xfrm>
            <a:off x="100584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8" name="Text 5"/>
          <p:cNvSpPr txBox="1"/>
          <p:nvPr/>
        </p:nvSpPr>
        <p:spPr>
          <a:xfrm>
            <a:off x="100584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広告収益</a:t>
            </a:r>
            <a:endParaRPr lang="en-US" sz="2400" dirty="0"/>
          </a:p>
        </p:txBody>
      </p:sp>
      <p:sp>
        <p:nvSpPr>
          <p:cNvPr id="9" name="Text 6"/>
          <p:cNvSpPr txBox="1"/>
          <p:nvPr/>
        </p:nvSpPr>
        <p:spPr>
          <a:xfrm>
            <a:off x="100584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YouTube自体からお金が入る。</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その収益を「種銭」として</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自分の事業に充てられる。</a:t>
            </a:r>
            <a:endParaRPr lang="en-US" sz="1800" dirty="0"/>
          </a:p>
        </p:txBody>
      </p:sp>
      <p:sp>
        <p:nvSpPr>
          <p:cNvPr id="10" name="Shape 7"/>
          <p:cNvSpPr/>
          <p:nvPr/>
        </p:nvSpPr>
        <p:spPr>
          <a:xfrm>
            <a:off x="4434840" y="1920240"/>
            <a:ext cx="3520440" cy="3566160"/>
          </a:xfrm>
          <a:prstGeom prst="roundRect">
            <a:avLst>
              <a:gd name="adj" fmla="val 3117"/>
            </a:avLst>
          </a:prstGeom>
          <a:solidFill>
            <a:srgbClr val="FFF3C4"/>
          </a:solidFill>
          <a:ln/>
        </p:spPr>
      </p:sp>
      <p:sp>
        <p:nvSpPr>
          <p:cNvPr id="11" name="Shape 8"/>
          <p:cNvSpPr/>
          <p:nvPr/>
        </p:nvSpPr>
        <p:spPr>
          <a:xfrm>
            <a:off x="4800600" y="2286000"/>
            <a:ext cx="475488" cy="475488"/>
          </a:xfrm>
          <a:prstGeom prst="ellipse">
            <a:avLst/>
          </a:prstGeom>
          <a:solidFill>
            <a:srgbClr val="C40000"/>
          </a:solidFill>
          <a:ln/>
        </p:spPr>
      </p:sp>
      <p:sp>
        <p:nvSpPr>
          <p:cNvPr id="12" name="Text 9"/>
          <p:cNvSpPr txBox="1"/>
          <p:nvPr/>
        </p:nvSpPr>
        <p:spPr>
          <a:xfrm>
            <a:off x="480060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3" name="Text 10"/>
          <p:cNvSpPr txBox="1"/>
          <p:nvPr/>
        </p:nvSpPr>
        <p:spPr>
          <a:xfrm>
            <a:off x="480060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案件</a:t>
            </a:r>
            <a:endParaRPr lang="en-US" sz="2400" dirty="0"/>
          </a:p>
        </p:txBody>
      </p:sp>
      <p:sp>
        <p:nvSpPr>
          <p:cNvPr id="14" name="Text 11"/>
          <p:cNvSpPr txBox="1"/>
          <p:nvPr/>
        </p:nvSpPr>
        <p:spPr>
          <a:xfrm>
            <a:off x="480060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影響力がつくと、企業から</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商品紹介などの案件が</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向こうからやって来る。</a:t>
            </a:r>
            <a:endParaRPr lang="en-US" sz="1800" dirty="0"/>
          </a:p>
        </p:txBody>
      </p:sp>
      <p:sp>
        <p:nvSpPr>
          <p:cNvPr id="15" name="Shape 12"/>
          <p:cNvSpPr/>
          <p:nvPr/>
        </p:nvSpPr>
        <p:spPr>
          <a:xfrm>
            <a:off x="8229600" y="1920240"/>
            <a:ext cx="3520440" cy="3566160"/>
          </a:xfrm>
          <a:prstGeom prst="roundRect">
            <a:avLst>
              <a:gd name="adj" fmla="val 3117"/>
            </a:avLst>
          </a:prstGeom>
          <a:solidFill>
            <a:srgbClr val="FFF3C4"/>
          </a:solidFill>
          <a:ln/>
        </p:spPr>
      </p:sp>
      <p:sp>
        <p:nvSpPr>
          <p:cNvPr id="16" name="Shape 13"/>
          <p:cNvSpPr/>
          <p:nvPr/>
        </p:nvSpPr>
        <p:spPr>
          <a:xfrm>
            <a:off x="8595360" y="2286000"/>
            <a:ext cx="475488" cy="475488"/>
          </a:xfrm>
          <a:prstGeom prst="ellipse">
            <a:avLst/>
          </a:prstGeom>
          <a:solidFill>
            <a:srgbClr val="C40000"/>
          </a:solidFill>
          <a:ln/>
        </p:spPr>
      </p:sp>
      <p:sp>
        <p:nvSpPr>
          <p:cNvPr id="17" name="Text 14"/>
          <p:cNvSpPr txBox="1"/>
          <p:nvPr/>
        </p:nvSpPr>
        <p:spPr>
          <a:xfrm>
            <a:off x="859536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8" name="Text 15"/>
          <p:cNvSpPr txBox="1"/>
          <p:nvPr/>
        </p:nvSpPr>
        <p:spPr>
          <a:xfrm>
            <a:off x="859536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幅が広がる</a:t>
            </a:r>
            <a:endParaRPr lang="en-US" sz="2400" dirty="0"/>
          </a:p>
        </p:txBody>
      </p:sp>
      <p:sp>
        <p:nvSpPr>
          <p:cNvPr id="19" name="Text 16"/>
          <p:cNvSpPr txBox="1"/>
          <p:nvPr/>
        </p:nvSpPr>
        <p:spPr>
          <a:xfrm>
            <a:off x="859536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集客・収益・案件と</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入り口が増えることは、</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事業の選択肢が増えること。</a:t>
            </a:r>
            <a:endParaRPr lang="en-US" sz="1800" dirty="0"/>
          </a:p>
        </p:txBody>
      </p:sp>
      <p:sp>
        <p:nvSpPr>
          <p:cNvPr id="20" name="Text 17"/>
          <p:cNvSpPr txBox="1"/>
          <p:nvPr/>
        </p:nvSpPr>
        <p:spPr>
          <a:xfrm>
            <a:off x="640080" y="5852160"/>
            <a:ext cx="10972800" cy="548640"/>
          </a:xfrm>
          <a:prstGeom prst="rect">
            <a:avLst/>
          </a:prstGeom>
          <a:noFill/>
          <a:ln/>
        </p:spPr>
        <p:txBody>
          <a:bodyPr wrap="square" lIns="0" tIns="0" rIns="0" bIns="0" rtlCol="0" anchor="ctr"/>
          <a:lstStyle/>
          <a:p>
            <a:pPr indent="0" marL="0">
              <a:buNone/>
            </a:pPr>
            <a:r>
              <a:rPr lang="en-US" sz="2200" b="1" dirty="0">
                <a:solidFill>
                  <a:srgbClr val="C40000"/>
                </a:solidFill>
                <a:latin typeface="Meiryo" pitchFamily="34" charset="0"/>
                <a:ea typeface="Meiryo" pitchFamily="34" charset="-122"/>
                <a:cs typeface="Meiryo" pitchFamily="34" charset="-120"/>
              </a:rPr>
              <a:t>SNSを伸ばせる力が身につけば、そのまま自分の事業を大きくできる</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03</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YouTubeチャンネルの作り方</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…実は今日、開設手順の細かい説明はしません</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HOW TO</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細かい手順は、この動画で全部わかります</a:t>
            </a:r>
            <a:endParaRPr lang="en-US" sz="3000" dirty="0"/>
          </a:p>
        </p:txBody>
      </p:sp>
      <p:sp>
        <p:nvSpPr>
          <p:cNvPr id="5" name="Shape 2"/>
          <p:cNvSpPr/>
          <p:nvPr/>
        </p:nvSpPr>
        <p:spPr>
          <a:xfrm>
            <a:off x="640080" y="2011680"/>
            <a:ext cx="10972800" cy="1828800"/>
          </a:xfrm>
          <a:prstGeom prst="roundRect">
            <a:avLst>
              <a:gd name="adj" fmla="val 6000"/>
            </a:avLst>
          </a:prstGeom>
          <a:solidFill>
            <a:srgbClr val="FFF3C4"/>
          </a:solidFill>
          <a:ln/>
        </p:spPr>
      </p:sp>
      <p:sp>
        <p:nvSpPr>
          <p:cNvPr id="6" name="Shape 3"/>
          <p:cNvSpPr/>
          <p:nvPr/>
        </p:nvSpPr>
        <p:spPr>
          <a:xfrm>
            <a:off x="1005840" y="2377440"/>
            <a:ext cx="1554480" cy="1057046"/>
          </a:xfrm>
          <a:prstGeom prst="roundRect">
            <a:avLst>
              <a:gd name="adj" fmla="val 28000"/>
            </a:avLst>
          </a:prstGeom>
          <a:solidFill>
            <a:srgbClr val="E60000"/>
          </a:solidFill>
          <a:ln/>
        </p:spPr>
      </p:sp>
      <p:sp>
        <p:nvSpPr>
          <p:cNvPr id="7" name="Shape 4"/>
          <p:cNvSpPr/>
          <p:nvPr/>
        </p:nvSpPr>
        <p:spPr>
          <a:xfrm rot="5400000">
            <a:off x="1565453" y="2673413"/>
            <a:ext cx="466344" cy="465100"/>
          </a:xfrm>
          <a:prstGeom prst="triangle">
            <a:avLst/>
          </a:prstGeom>
          <a:solidFill>
            <a:srgbClr val="FFFFFF"/>
          </a:solidFill>
          <a:ln/>
        </p:spPr>
      </p:sp>
      <p:sp>
        <p:nvSpPr>
          <p:cNvPr id="8" name="Text 5"/>
          <p:cNvSpPr txBox="1"/>
          <p:nvPr/>
        </p:nvSpPr>
        <p:spPr>
          <a:xfrm>
            <a:off x="2926080" y="2331720"/>
            <a:ext cx="8229600" cy="4572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参考動画（チャンネル開設・初期設定）</a:t>
            </a:r>
            <a:endParaRPr lang="en-US" sz="2100" dirty="0"/>
          </a:p>
        </p:txBody>
      </p:sp>
      <p:sp>
        <p:nvSpPr>
          <p:cNvPr id="9" name="Text 6"/>
          <p:cNvSpPr txBox="1"/>
          <p:nvPr/>
        </p:nvSpPr>
        <p:spPr>
          <a:xfrm>
            <a:off x="2926080" y="2880360"/>
            <a:ext cx="8229600" cy="457200"/>
          </a:xfrm>
          <a:prstGeom prst="rect">
            <a:avLst/>
          </a:prstGeom>
          <a:noFill/>
          <a:ln/>
        </p:spPr>
        <p:txBody>
          <a:bodyPr wrap="square" lIns="0" tIns="0" rIns="0" bIns="0" rtlCol="0" anchor="ctr"/>
          <a:lstStyle/>
          <a:p>
            <a:pPr indent="0" marL="0">
              <a:buNone/>
            </a:pPr>
            <a:r>
              <a:rPr lang="en-US" sz="1900" dirty="0">
                <a:solidFill>
                  <a:srgbClr val="C40000"/>
                </a:solidFill>
                <a:latin typeface="Meiryo" pitchFamily="34" charset="0"/>
                <a:ea typeface="Meiryo" pitchFamily="34" charset="-122"/>
                <a:cs typeface="Meiryo" pitchFamily="34" charset="-120"/>
              </a:rPr>
              <a:t>https://youtu.be/Yryn168rxGk</a:t>
            </a:r>
            <a:endParaRPr lang="en-US" sz="1900" dirty="0"/>
          </a:p>
        </p:txBody>
      </p:sp>
      <p:sp>
        <p:nvSpPr>
          <p:cNvPr id="10" name="Text 7"/>
          <p:cNvSpPr txBox="1"/>
          <p:nvPr/>
        </p:nvSpPr>
        <p:spPr>
          <a:xfrm>
            <a:off x="640080" y="4297680"/>
            <a:ext cx="10972800" cy="548640"/>
          </a:xfrm>
          <a:prstGeom prst="rect">
            <a:avLst/>
          </a:prstGeom>
          <a:noFill/>
          <a:ln/>
        </p:spPr>
        <p:txBody>
          <a:bodyPr wrap="square" lIns="0" tIns="0" rIns="0" bIns="0" rtlCol="0" anchor="ctr"/>
          <a:lstStyle/>
          <a:p>
            <a:pPr indent="0" marL="0">
              <a:buNone/>
            </a:pPr>
            <a:r>
              <a:rPr lang="en-US" sz="2100" dirty="0">
                <a:solidFill>
                  <a:srgbClr val="666666"/>
                </a:solidFill>
                <a:latin typeface="Meiryo" pitchFamily="34" charset="0"/>
                <a:ea typeface="Meiryo" pitchFamily="34" charset="-122"/>
                <a:cs typeface="Meiryo" pitchFamily="34" charset="-120"/>
              </a:rPr>
              <a:t>なぜ今日ここで詳しくやらないのか？</a:t>
            </a:r>
            <a:endParaRPr lang="en-US" sz="2100" dirty="0"/>
          </a:p>
        </p:txBody>
      </p:sp>
      <p:sp>
        <p:nvSpPr>
          <p:cNvPr id="11" name="Text 8"/>
          <p:cNvSpPr txBox="1"/>
          <p:nvPr/>
        </p:nvSpPr>
        <p:spPr>
          <a:xfrm>
            <a:off x="640080" y="4846320"/>
            <a:ext cx="10972800" cy="640080"/>
          </a:xfrm>
          <a:prstGeom prst="rect">
            <a:avLst/>
          </a:prstGeom>
          <a:noFill/>
          <a:ln/>
        </p:spPr>
        <p:txBody>
          <a:bodyPr wrap="square" lIns="0" tIns="0" rIns="0" bIns="0" rtlCol="0" anchor="ctr"/>
          <a:lstStyle/>
          <a:p>
            <a:pPr indent="0" marL="0">
              <a:buNone/>
            </a:pPr>
            <a:r>
              <a:rPr lang="en-US" sz="2800" b="1" dirty="0">
                <a:solidFill>
                  <a:srgbClr val="C40000"/>
                </a:solidFill>
                <a:latin typeface="Meiryo" pitchFamily="34" charset="0"/>
                <a:ea typeface="Meiryo" pitchFamily="34" charset="-122"/>
                <a:cs typeface="Meiryo" pitchFamily="34" charset="-120"/>
              </a:rPr>
              <a:t>チャンネルページは、そこまで作り込みが要らないから</a:t>
            </a:r>
            <a:endParaRPr lang="en-US" sz="2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CASE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何のチャンネルか分からない。でも——</a:t>
            </a:r>
            <a:endParaRPr lang="en-US" sz="3000" dirty="0"/>
          </a:p>
        </p:txBody>
      </p:sp>
      <p:sp>
        <p:nvSpPr>
          <p:cNvPr id="5" name="Shape 2"/>
          <p:cNvSpPr/>
          <p:nvPr/>
        </p:nvSpPr>
        <p:spPr>
          <a:xfrm>
            <a:off x="640080" y="1783080"/>
            <a:ext cx="6035040" cy="4023360"/>
          </a:xfrm>
          <a:prstGeom prst="roundRect">
            <a:avLst>
              <a:gd name="adj" fmla="val 2727"/>
            </a:avLst>
          </a:prstGeom>
          <a:solidFill>
            <a:srgbClr val="FFF3C4"/>
          </a:solidFill>
          <a:ln/>
        </p:spPr>
        <p:txBody>
          <a:bodyPr/>
          <a:p/>
        </p:txBody>
      </p:sp>
      <p:sp>
        <p:nvSpPr>
          <p:cNvPr id="6" name="Text 3"/>
          <p:cNvSpPr txBox="1"/>
          <p:nvPr/>
        </p:nvSpPr>
        <p:spPr>
          <a:xfrm>
            <a:off x="3738489" y="2103120"/>
            <a:ext cx="2708030" cy="457200"/>
          </a:xfrm>
          <a:prstGeom prst="rect">
            <a:avLst/>
          </a:prstGeom>
          <a:noFill/>
          <a:ln/>
        </p:spPr>
        <p:txBody>
          <a:bodyPr wrap="square" lIns="0" tIns="0" rIns="0" bIns="0" rtlCol="0" anchor="ctr"/>
          <a:lstStyle/>
          <a:p>
            <a:pPr indent="0" marL="0">
              <a:buNone/>
            </a:pPr>
            <a:r>
              <a:rPr lang="en-US" sz="1900" b="1" dirty="0">
                <a:solidFill>
                  <a:srgbClr val="222222"/>
                </a:solidFill>
                <a:latin typeface="Meiryo" pitchFamily="34" charset="0"/>
                <a:ea typeface="Meiryo" pitchFamily="34" charset="-122"/>
                <a:cs typeface="Meiryo" pitchFamily="34" charset="-120"/>
              </a:rPr>
              <a:t>実例チャンネル</a:t>
            </a:r>
            <a:endParaRPr lang="en-US" sz="1900" dirty="0"/>
          </a:p>
        </p:txBody>
      </p:sp>
      <p:sp>
        <p:nvSpPr>
          <p:cNvPr id="7" name="Text 4"/>
          <p:cNvSpPr txBox="1"/>
          <p:nvPr/>
        </p:nvSpPr>
        <p:spPr>
          <a:xfrm>
            <a:off x="3738489" y="2560320"/>
            <a:ext cx="2708030" cy="457200"/>
          </a:xfrm>
          <a:prstGeom prst="rect">
            <a:avLst/>
          </a:prstGeom>
          <a:noFill/>
          <a:ln/>
        </p:spPr>
        <p:txBody>
          <a:bodyPr wrap="square" lIns="0" tIns="0" rIns="0" bIns="0" rtlCol="0" anchor="ctr"/>
          <a:lstStyle/>
          <a:p>
            <a:pPr indent="0" marL="0">
              <a:buNone/>
            </a:pPr>
            <a:r>
              <a:rPr lang="en-US" sz="1900" dirty="0">
                <a:solidFill>
                  <a:srgbClr val="C40000"/>
                </a:solidFill>
                <a:latin typeface="Meiryo" pitchFamily="34" charset="0"/>
                <a:ea typeface="Meiryo" pitchFamily="34" charset="-122"/>
                <a:cs typeface="Meiryo" pitchFamily="34" charset="-120"/>
              </a:rPr>
              <a:t>@wawawa1840</a:t>
            </a:r>
            <a:endParaRPr lang="en-US" sz="1900" dirty="0"/>
          </a:p>
        </p:txBody>
      </p:sp>
      <p:sp>
        <p:nvSpPr>
          <p:cNvPr id="9" name="Text 6"/>
          <p:cNvSpPr txBox="1"/>
          <p:nvPr/>
        </p:nvSpPr>
        <p:spPr>
          <a:xfrm>
            <a:off x="3738489" y="4023360"/>
            <a:ext cx="2708030" cy="1280160"/>
          </a:xfrm>
          <a:prstGeom prst="rect">
            <a:avLst/>
          </a:prstGeom>
          <a:noFill/>
          <a:ln/>
        </p:spPr>
        <p:txBody>
          <a:bodyPr wrap="square" lIns="0" tIns="0" rIns="0" bIns="0" rtlCol="0" anchor="ctr"/>
          <a:lstStyle/>
          <a:p>
            <a:pPr indent="0" marL="0">
              <a:buNone/>
            </a:pPr>
            <a:r>
              <a:rPr lang="en-US" sz="1900" dirty="0">
                <a:solidFill>
                  <a:srgbClr val="222222"/>
                </a:solidFill>
                <a:latin typeface="Meiryo" pitchFamily="34" charset="0"/>
                <a:ea typeface="Meiryo" pitchFamily="34" charset="-122"/>
                <a:cs typeface="Meiryo" pitchFamily="34" charset="-120"/>
              </a:rPr>
              <a:t>チャンネルアートも</a:t>
            </a:r>
            <a:br>
              <a:rPr lang="en-US" sz="1900" dirty="0">
                <a:solidFill>
                  <a:srgbClr val="222222"/>
                </a:solidFill>
                <a:latin typeface="Meiryo" pitchFamily="34" charset="0"/>
                <a:ea typeface="Meiryo" pitchFamily="34" charset="-122"/>
                <a:cs typeface="Meiryo" pitchFamily="34" charset="-120"/>
              </a:rPr>
            </a:br>
            <a:r>
              <a:rPr lang="en-US" sz="1900" dirty="0">
                <a:solidFill>
                  <a:srgbClr val="222222"/>
                </a:solidFill>
                <a:latin typeface="Meiryo" pitchFamily="34" charset="0"/>
                <a:ea typeface="Meiryo" pitchFamily="34" charset="-122"/>
                <a:cs typeface="Meiryo" pitchFamily="34" charset="-120"/>
              </a:rPr>
              <a:t>概要欄も</a:t>
            </a:r>
            <a:br>
              <a:rPr lang="en-US" sz="1900" dirty="0">
                <a:solidFill>
                  <a:srgbClr val="222222"/>
                </a:solidFill>
                <a:latin typeface="Meiryo" pitchFamily="34" charset="0"/>
                <a:ea typeface="Meiryo" pitchFamily="34" charset="-122"/>
                <a:cs typeface="Meiryo" pitchFamily="34" charset="-120"/>
              </a:rPr>
            </a:br>
            <a:r>
              <a:rPr lang="en-US" sz="1900" dirty="0">
                <a:solidFill>
                  <a:srgbClr val="222222"/>
                </a:solidFill>
                <a:latin typeface="Meiryo" pitchFamily="34" charset="0"/>
                <a:ea typeface="Meiryo" pitchFamily="34" charset="-122"/>
                <a:cs typeface="Meiryo" pitchFamily="34" charset="-120"/>
              </a:rPr>
              <a:t>作り込まれていない</a:t>
            </a:r>
            <a:endParaRPr lang="en-US" sz="1900" dirty="0"/>
          </a:p>
        </p:txBody>
      </p:sp>
      <p:sp>
        <p:nvSpPr>
          <p:cNvPr id="10" name="Text 7"/>
          <p:cNvSpPr txBox="1"/>
          <p:nvPr/>
        </p:nvSpPr>
        <p:spPr>
          <a:xfrm>
            <a:off x="7132320" y="2194560"/>
            <a:ext cx="1828800" cy="54864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最高</a:t>
            </a:r>
            <a:endParaRPr lang="en-US" sz="2200" dirty="0"/>
          </a:p>
        </p:txBody>
      </p:sp>
      <p:sp>
        <p:nvSpPr>
          <p:cNvPr id="11" name="Text 8"/>
          <p:cNvSpPr txBox="1"/>
          <p:nvPr/>
        </p:nvSpPr>
        <p:spPr>
          <a:xfrm>
            <a:off x="7132320" y="2743200"/>
            <a:ext cx="4572000" cy="914400"/>
          </a:xfrm>
          <a:prstGeom prst="rect">
            <a:avLst/>
          </a:prstGeom>
          <a:noFill/>
          <a:ln/>
        </p:spPr>
        <p:txBody>
          <a:bodyPr wrap="square" lIns="0" tIns="0" rIns="0" bIns="0" rtlCol="0" anchor="ctr"/>
          <a:lstStyle/>
          <a:p>
            <a:pPr indent="0" marL="0">
              <a:buNone/>
            </a:pPr>
            <a:r>
              <a:rPr lang="en-US" sz="4400" b="1" dirty="0">
                <a:solidFill>
                  <a:srgbClr val="C40000"/>
                </a:solidFill>
                <a:latin typeface="Meiryo" pitchFamily="34" charset="0"/>
                <a:ea typeface="Meiryo" pitchFamily="34" charset="-122"/>
                <a:cs typeface="Meiryo" pitchFamily="34" charset="-120"/>
              </a:rPr>
              <a:t>258万再生</a:t>
            </a:r>
            <a:endParaRPr lang="en-US" sz="4400" dirty="0"/>
          </a:p>
        </p:txBody>
      </p:sp>
      <p:sp>
        <p:nvSpPr>
          <p:cNvPr id="12" name="Text 9"/>
          <p:cNvSpPr txBox="1"/>
          <p:nvPr/>
        </p:nvSpPr>
        <p:spPr>
          <a:xfrm>
            <a:off x="7132320" y="3749040"/>
            <a:ext cx="4480560" cy="82296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登録者13.2万人・動画227本</a:t>
            </a:r>
            <a:br>
              <a:rPr lang="en-US" sz="1900" dirty="0">
                <a:solidFill>
                  <a:srgbClr val="666666"/>
                </a:solidFill>
                <a:latin typeface="Meiryo" pitchFamily="34" charset="0"/>
                <a:ea typeface="Meiryo" pitchFamily="34" charset="-122"/>
                <a:cs typeface="Meiryo" pitchFamily="34" charset="-120"/>
              </a:rPr>
            </a:br>
            <a:r>
              <a:rPr lang="en-US" sz="1900" dirty="0">
                <a:solidFill>
                  <a:srgbClr val="666666"/>
                </a:solidFill>
                <a:latin typeface="Meiryo" pitchFamily="34" charset="0"/>
                <a:ea typeface="Meiryo" pitchFamily="34" charset="-122"/>
                <a:cs typeface="Meiryo" pitchFamily="34" charset="-120"/>
              </a:rPr>
              <a:t>100万再生超えが何本も並ぶ</a:t>
            </a:r>
            <a:br>
              <a:rPr lang="en-US" sz="1900" dirty="0">
                <a:solidFill>
                  <a:srgbClr val="666666"/>
                </a:solidFill>
                <a:latin typeface="Meiryo" pitchFamily="34" charset="0"/>
                <a:ea typeface="Meiryo" pitchFamily="34" charset="-122"/>
                <a:cs typeface="Meiryo" pitchFamily="34" charset="-120"/>
              </a:rPr>
            </a:br>
            <a:r>
              <a:rPr lang="en-US" sz="1900" dirty="0">
                <a:solidFill>
                  <a:srgbClr val="666666"/>
                </a:solidFill>
                <a:latin typeface="Meiryo" pitchFamily="34" charset="0"/>
                <a:ea typeface="Meiryo" pitchFamily="34" charset="-122"/>
                <a:cs typeface="Meiryo" pitchFamily="34" charset="-120"/>
              </a:rPr>
              <a:t>＝一発屋ではない</a:t>
            </a:r>
            <a:endParaRPr lang="en-US" sz="1900" dirty="0"/>
          </a:p>
        </p:txBody>
      </p:sp>
      <p:sp>
        <p:nvSpPr>
          <p:cNvPr id="13" name="Text 10"/>
          <p:cNvSpPr txBox="1"/>
          <p:nvPr/>
        </p:nvSpPr>
        <p:spPr>
          <a:xfrm>
            <a:off x="640080" y="5943600"/>
            <a:ext cx="10972800" cy="777240"/>
          </a:xfrm>
          <a:prstGeom prst="rect">
            <a:avLst/>
          </a:prstGeom>
          <a:noFill/>
          <a:ln/>
        </p:spPr>
        <p:txBody>
          <a:bodyPr wrap="square" lIns="0" tIns="0" rIns="0" bIns="0" rtlCol="0" anchor="ctr"/>
          <a:lstStyle/>
          <a:p>
            <a:pPr indent="0" marL="0">
              <a:buNone/>
            </a:pPr>
            <a:r>
              <a:rPr lang="en-US" sz="2000" b="1" dirty="0">
                <a:solidFill>
                  <a:srgbClr val="222222"/>
                </a:solidFill>
                <a:latin typeface="Meiryo" pitchFamily="34" charset="0"/>
                <a:ea typeface="Meiryo" pitchFamily="34" charset="-122"/>
                <a:cs typeface="Meiryo" pitchFamily="34" charset="-120"/>
              </a:rPr>
              <a:t>チャンネルページの役割は「どういうチャンネルか」を</a:t>
            </a:r>
            <a:endParaRPr lang="en-US" sz="2000" dirty="0"/>
          </a:p>
          <a:p>
            <a:pPr indent="0" marL="0">
              <a:buNone/>
            </a:pPr>
            <a:r>
              <a:rPr lang="en-US" sz="2000" b="1" dirty="0">
                <a:solidFill>
                  <a:srgbClr val="222222"/>
                </a:solidFill>
                <a:latin typeface="Meiryo" pitchFamily="34" charset="0"/>
                <a:ea typeface="Meiryo" pitchFamily="34" charset="-122"/>
                <a:cs typeface="Meiryo" pitchFamily="34" charset="-120"/>
              </a:rPr>
              <a:t>知ってもらうだけで十分。世界観は動画の中で伝える。</a:t>
            </a:r>
            <a:endParaRPr lang="en-US" sz="2000" dirty="0"/>
          </a:p>
        </p:txBody>
      </p:sp>
      <p:pic>
        <p:nvPicPr>
          <p:cNvPr id="14" name="Picture 13" descr="wawawa_ch.png">
            <a:hlinkClick r:id="rId4"/>
          </p:cNvPr>
          <p:cNvPicPr>
            <a:picLocks noChangeAspect="1"/>
          </p:cNvPicPr>
          <p:nvPr/>
        </p:nvPicPr>
        <p:blipFill>
          <a:blip r:embed="rId3"/>
          <a:stretch>
            <a:fillRect/>
          </a:stretch>
        </p:blipFill>
        <p:spPr>
          <a:xfrm>
            <a:off x="868680" y="1920240"/>
            <a:ext cx="2595489" cy="3749039"/>
          </a:xfrm>
          <a:prstGeom prst="rect">
            <a:avLst/>
          </a:prstGeom>
          <a:ln w="12700">
            <a:solidFill>
              <a:srgbClr val="DDDDDD"/>
            </a:solid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FOR BUSINESS</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ただし、会社のチャンネルは少し違います</a:t>
            </a:r>
            <a:endParaRPr lang="en-US" sz="3000" dirty="0"/>
          </a:p>
        </p:txBody>
      </p:sp>
      <p:sp>
        <p:nvSpPr>
          <p:cNvPr id="5" name="Shape 2"/>
          <p:cNvSpPr/>
          <p:nvPr/>
        </p:nvSpPr>
        <p:spPr>
          <a:xfrm>
            <a:off x="640080" y="1828800"/>
            <a:ext cx="5257800" cy="2926080"/>
          </a:xfrm>
          <a:prstGeom prst="roundRect">
            <a:avLst>
              <a:gd name="adj" fmla="val 3750"/>
            </a:avLst>
          </a:prstGeom>
          <a:solidFill>
            <a:srgbClr val="FFF3C4"/>
          </a:solidFill>
          <a:ln/>
        </p:spPr>
        <p:txBody>
          <a:bodyPr/>
          <a:p/>
        </p:txBody>
      </p:sp>
      <p:sp>
        <p:nvSpPr>
          <p:cNvPr id="6" name="Text 3"/>
          <p:cNvSpPr txBox="1"/>
          <p:nvPr/>
        </p:nvSpPr>
        <p:spPr>
          <a:xfrm>
            <a:off x="1051560" y="2148840"/>
            <a:ext cx="4572000" cy="64008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広告収益型（顔出しなし等）</a:t>
            </a:r>
            <a:endParaRPr lang="en-US" sz="2200" dirty="0"/>
          </a:p>
        </p:txBody>
      </p:sp>
      <p:sp>
        <p:nvSpPr>
          <p:cNvPr id="7" name="Text 4"/>
          <p:cNvSpPr txBox="1"/>
          <p:nvPr/>
        </p:nvSpPr>
        <p:spPr>
          <a:xfrm>
            <a:off x="1051560" y="2880360"/>
            <a:ext cx="457200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チャンネルアートはそこそこでOK。</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動画のクオリティさえ担保すれば</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収益は成り立つ。</a:t>
            </a:r>
            <a:endParaRPr lang="en-US" sz="1800" dirty="0"/>
          </a:p>
        </p:txBody>
      </p:sp>
      <p:sp>
        <p:nvSpPr>
          <p:cNvPr id="8" name="Shape 5"/>
          <p:cNvSpPr/>
          <p:nvPr/>
        </p:nvSpPr>
        <p:spPr>
          <a:xfrm>
            <a:off x="6309360" y="1828800"/>
            <a:ext cx="5257800" cy="2926080"/>
          </a:xfrm>
          <a:prstGeom prst="roundRect">
            <a:avLst>
              <a:gd name="adj" fmla="val 3750"/>
            </a:avLst>
          </a:prstGeom>
          <a:solidFill>
            <a:srgbClr val="C40000"/>
          </a:solidFill>
          <a:ln/>
        </p:spPr>
        <p:txBody>
          <a:bodyPr/>
          <a:p/>
        </p:txBody>
      </p:sp>
      <p:sp>
        <p:nvSpPr>
          <p:cNvPr id="9" name="Text 6"/>
          <p:cNvSpPr txBox="1"/>
          <p:nvPr/>
        </p:nvSpPr>
        <p:spPr>
          <a:xfrm>
            <a:off x="6720840" y="2148840"/>
            <a:ext cx="4572000" cy="64008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会社・お店のチャンネル</a:t>
            </a:r>
            <a:endParaRPr lang="en-US" sz="2200" dirty="0"/>
          </a:p>
        </p:txBody>
      </p:sp>
      <p:sp>
        <p:nvSpPr>
          <p:cNvPr id="10" name="Text 7"/>
          <p:cNvSpPr txBox="1"/>
          <p:nvPr/>
        </p:nvSpPr>
        <p:spPr>
          <a:xfrm>
            <a:off x="6720840" y="2880360"/>
            <a:ext cx="4572000" cy="1645920"/>
          </a:xfrm>
          <a:prstGeom prst="rect">
            <a:avLst/>
          </a:prstGeom>
          <a:noFill/>
          <a:ln/>
        </p:spPr>
        <p:txBody>
          <a:bodyPr wrap="square" lIns="0" tIns="0" rIns="0" bIns="0" rtlCol="0" anchor="ctr"/>
          <a:lstStyle/>
          <a:p>
            <a:pPr indent="0" marL="0">
              <a:buNone/>
            </a:pPr>
            <a:r>
              <a:rPr lang="en-US" sz="1800" dirty="0">
                <a:solidFill>
                  <a:srgbClr val="FFFFFF"/>
                </a:solidFill>
                <a:latin typeface="Meiryo" pitchFamily="34" charset="0"/>
                <a:ea typeface="Meiryo" pitchFamily="34" charset="-122"/>
                <a:cs typeface="Meiryo" pitchFamily="34" charset="-120"/>
              </a:rPr>
              <a:t>チャンネルページ＝会社の看板。</a:t>
            </a:r>
            <a:endParaRPr lang="en-US" sz="1800" dirty="0"/>
          </a:p>
          <a:p>
            <a:pPr indent="0" marL="0">
              <a:buNone/>
            </a:pPr>
            <a:r>
              <a:rPr lang="en-US" sz="1800" dirty="0">
                <a:solidFill>
                  <a:srgbClr val="FFFFFF"/>
                </a:solidFill>
                <a:latin typeface="Meiryo" pitchFamily="34" charset="0"/>
                <a:ea typeface="Meiryo" pitchFamily="34" charset="-122"/>
                <a:cs typeface="Meiryo" pitchFamily="34" charset="-120"/>
              </a:rPr>
              <a:t>「何をやっている会社か」が</a:t>
            </a:r>
            <a:endParaRPr lang="en-US" sz="1800" dirty="0"/>
          </a:p>
          <a:p>
            <a:pPr indent="0" marL="0">
              <a:buNone/>
            </a:pPr>
            <a:r>
              <a:rPr lang="en-US" sz="1800" dirty="0">
                <a:solidFill>
                  <a:srgbClr val="FFFFFF"/>
                </a:solidFill>
                <a:latin typeface="Meiryo" pitchFamily="34" charset="0"/>
                <a:ea typeface="Meiryo" pitchFamily="34" charset="-122"/>
                <a:cs typeface="Meiryo" pitchFamily="34" charset="-120"/>
              </a:rPr>
              <a:t>伝わる程度に作り込む。</a:t>
            </a:r>
            <a:endParaRPr lang="en-US" sz="1800" dirty="0"/>
          </a:p>
        </p:txBody>
      </p:sp>
      <p:sp>
        <p:nvSpPr>
          <p:cNvPr id="11" name="Shape 8"/>
          <p:cNvSpPr/>
          <p:nvPr/>
        </p:nvSpPr>
        <p:spPr>
          <a:xfrm>
            <a:off x="640080" y="5029200"/>
            <a:ext cx="10972800" cy="1280160"/>
          </a:xfrm>
          <a:prstGeom prst="roundRect">
            <a:avLst>
              <a:gd name="adj" fmla="val 8571"/>
            </a:avLst>
          </a:prstGeom>
          <a:solidFill>
            <a:srgbClr val="FFD400"/>
          </a:solidFill>
          <a:ln/>
        </p:spPr>
        <p:txBody>
          <a:bodyPr/>
          <a:p/>
        </p:txBody>
      </p:sp>
      <p:sp>
        <p:nvSpPr>
          <p:cNvPr id="12" name="Text 9"/>
          <p:cNvSpPr txBox="1"/>
          <p:nvPr/>
        </p:nvSpPr>
        <p:spPr>
          <a:xfrm>
            <a:off x="1005840" y="5120640"/>
            <a:ext cx="10241280" cy="1097280"/>
          </a:xfrm>
          <a:prstGeom prst="rect">
            <a:avLst/>
          </a:prstGeom>
          <a:noFill/>
          <a:ln/>
        </p:spPr>
        <p:txBody>
          <a:bodyPr wrap="square" lIns="0" tIns="0" rIns="0" bIns="0" rtlCol="0" anchor="ctr"/>
          <a:lstStyle/>
          <a:p>
            <a:pPr indent="0" marL="0">
              <a:buNone/>
            </a:pPr>
            <a:r>
              <a:rPr lang="en-US" sz="1900" b="1" dirty="0">
                <a:solidFill>
                  <a:srgbClr val="C40000"/>
                </a:solidFill>
                <a:latin typeface="Meiryo" pitchFamily="34" charset="0"/>
                <a:ea typeface="Meiryo" pitchFamily="34" charset="-122"/>
                <a:cs typeface="Meiryo" pitchFamily="34" charset="-120"/>
              </a:rPr>
              <a:t>概要欄は「視聴者をお客さんに変える入り口」。HP・事業内容・問い合わせ先を必ず書く</a:t>
            </a:r>
            <a:endParaRPr lang="en-US" sz="1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SEO</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概要欄は、Google検索の入り口にもなります</a:t>
            </a:r>
            <a:endParaRPr lang="en-US" sz="3000" dirty="0"/>
          </a:p>
        </p:txBody>
      </p:sp>
      <p:sp>
        <p:nvSpPr>
          <p:cNvPr id="5" name="Shape 2"/>
          <p:cNvSpPr/>
          <p:nvPr/>
        </p:nvSpPr>
        <p:spPr>
          <a:xfrm>
            <a:off x="640080" y="1828800"/>
            <a:ext cx="10972800" cy="1554480"/>
          </a:xfrm>
          <a:prstGeom prst="roundRect">
            <a:avLst>
              <a:gd name="adj" fmla="val 7059"/>
            </a:avLst>
          </a:prstGeom>
          <a:solidFill>
            <a:srgbClr val="C40000"/>
          </a:solidFill>
          <a:ln/>
        </p:spPr>
        <p:txBody>
          <a:bodyPr/>
          <a:p/>
        </p:txBody>
      </p:sp>
      <p:sp>
        <p:nvSpPr>
          <p:cNvPr id="6" name="Text 3"/>
          <p:cNvSpPr txBox="1"/>
          <p:nvPr/>
        </p:nvSpPr>
        <p:spPr>
          <a:xfrm>
            <a:off x="1097280" y="1965960"/>
            <a:ext cx="10058400" cy="1280160"/>
          </a:xfrm>
          <a:prstGeom prst="rect">
            <a:avLst/>
          </a:prstGeom>
          <a:noFill/>
          <a:ln/>
        </p:spPr>
        <p:txBody>
          <a:bodyPr wrap="square" lIns="0" tIns="0" rIns="0" bIns="0" rtlCol="0" anchor="ctr"/>
          <a:lstStyle/>
          <a:p>
            <a:pPr indent="0" marL="0">
              <a:buNone/>
            </a:pPr>
            <a:r>
              <a:rPr lang="en-US" sz="2600" b="1" dirty="0">
                <a:solidFill>
                  <a:srgbClr val="FFD400"/>
                </a:solidFill>
                <a:latin typeface="Meiryo" pitchFamily="34" charset="0"/>
                <a:ea typeface="Meiryo" pitchFamily="34" charset="-122"/>
                <a:cs typeface="Meiryo" pitchFamily="34" charset="-120"/>
              </a:rPr>
              <a:t>YouTubeはGoogleのサービス ＝ Google検索に動画が出る</a:t>
            </a:r>
            <a:endParaRPr lang="en-US" sz="2600" dirty="0"/>
          </a:p>
        </p:txBody>
      </p:sp>
      <p:sp>
        <p:nvSpPr>
          <p:cNvPr id="7" name="Shape 4"/>
          <p:cNvSpPr/>
          <p:nvPr/>
        </p:nvSpPr>
        <p:spPr>
          <a:xfrm>
            <a:off x="640080" y="3657600"/>
            <a:ext cx="10972800" cy="1371600"/>
          </a:xfrm>
          <a:prstGeom prst="roundRect">
            <a:avLst>
              <a:gd name="adj" fmla="val 8000"/>
            </a:avLst>
          </a:prstGeom>
          <a:solidFill>
            <a:srgbClr val="FFF3C4"/>
          </a:solidFill>
          <a:ln/>
        </p:spPr>
        <p:txBody>
          <a:bodyPr/>
          <a:p/>
        </p:txBody>
      </p:sp>
      <p:sp>
        <p:nvSpPr>
          <p:cNvPr id="8" name="Text 5"/>
          <p:cNvSpPr txBox="1"/>
          <p:nvPr/>
        </p:nvSpPr>
        <p:spPr>
          <a:xfrm>
            <a:off x="1005840" y="3749040"/>
            <a:ext cx="10241280" cy="1188720"/>
          </a:xfrm>
          <a:prstGeom prst="rect">
            <a:avLst/>
          </a:prstGeom>
          <a:noFill/>
          <a:ln/>
        </p:spPr>
        <p:txBody>
          <a:bodyPr wrap="square" lIns="0" tIns="0" rIns="0" bIns="0" rtlCol="0" anchor="ctr"/>
          <a:lstStyle/>
          <a:p>
            <a:pPr indent="0" marL="0">
              <a:buNone/>
            </a:pPr>
            <a:r>
              <a:rPr lang="en-US" sz="2000" b="1" dirty="0">
                <a:solidFill>
                  <a:srgbClr val="222222"/>
                </a:solidFill>
                <a:latin typeface="Meiryo" pitchFamily="34" charset="0"/>
                <a:ea typeface="Meiryo" pitchFamily="34" charset="-122"/>
                <a:cs typeface="Meiryo" pitchFamily="34" charset="-120"/>
              </a:rPr>
              <a:t>例：「シロアリ 対策」と検索すると、検索結果に動画が出てくる</a:t>
            </a:r>
            <a:endParaRPr lang="en-US" sz="2000" dirty="0"/>
          </a:p>
        </p:txBody>
      </p:sp>
      <p:sp>
        <p:nvSpPr>
          <p:cNvPr id="9" name="Text 6"/>
          <p:cNvSpPr txBox="1"/>
          <p:nvPr/>
        </p:nvSpPr>
        <p:spPr>
          <a:xfrm>
            <a:off x="640080" y="5303520"/>
            <a:ext cx="10972800" cy="1097280"/>
          </a:xfrm>
          <a:prstGeom prst="rect">
            <a:avLst/>
          </a:prstGeom>
          <a:noFill/>
          <a:ln/>
        </p:spPr>
        <p:txBody>
          <a:bodyPr wrap="square" lIns="0" tIns="0" rIns="0" bIns="0" rtlCol="0" anchor="ctr"/>
          <a:lstStyle/>
          <a:p>
            <a:pPr indent="0" marL="0">
              <a:buNone/>
            </a:pPr>
            <a:r>
              <a:rPr lang="en-US" sz="1900" dirty="0">
                <a:solidFill>
                  <a:srgbClr val="222222"/>
                </a:solidFill>
                <a:latin typeface="Meiryo" pitchFamily="34" charset="0"/>
                <a:ea typeface="Meiryo" pitchFamily="34" charset="-122"/>
                <a:cs typeface="Meiryo" pitchFamily="34" charset="-120"/>
              </a:rPr>
              <a:t>私のチャンネルにも、Google検索から多くの視聴者が来ています。</a:t>
            </a:r>
            <a:endParaRPr lang="en-US" sz="1900" dirty="0"/>
          </a:p>
          <a:p>
            <a:pPr indent="0" marL="0">
              <a:buNone/>
            </a:pPr>
            <a:r>
              <a:rPr lang="en-US" sz="1900" dirty="0">
                <a:solidFill>
                  <a:srgbClr val="222222"/>
                </a:solidFill>
                <a:latin typeface="Meiryo" pitchFamily="34" charset="0"/>
                <a:ea typeface="Meiryo" pitchFamily="34" charset="-122"/>
                <a:cs typeface="Meiryo" pitchFamily="34" charset="-120"/>
              </a:rPr>
              <a:t>概要欄に「何をしている会社か」を書いておくことが、そのまま検索からの入り口になります。</a:t>
            </a:r>
            <a:endParaRPr lang="en-US" sz="1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04</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YouTubeが伸びる仕組み</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アルゴリズム・クリック率・視聴維持率…より大事なこと</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ESSENCE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一番大事なのは「視聴者理解」</a:t>
            </a:r>
            <a:endParaRPr lang="en-US" sz="3000" dirty="0"/>
          </a:p>
        </p:txBody>
      </p:sp>
      <p:sp>
        <p:nvSpPr>
          <p:cNvPr id="5" name="Shape 2"/>
          <p:cNvSpPr/>
          <p:nvPr/>
        </p:nvSpPr>
        <p:spPr>
          <a:xfrm>
            <a:off x="640080" y="1828800"/>
            <a:ext cx="5394960" cy="3840480"/>
          </a:xfrm>
          <a:prstGeom prst="roundRect">
            <a:avLst>
              <a:gd name="adj" fmla="val 2857"/>
            </a:avLst>
          </a:prstGeom>
          <a:solidFill>
            <a:srgbClr val="FFF3C4"/>
          </a:solidFill>
          <a:ln/>
        </p:spPr>
      </p:sp>
      <p:sp>
        <p:nvSpPr>
          <p:cNvPr id="6" name="Text 3"/>
          <p:cNvSpPr txBox="1"/>
          <p:nvPr/>
        </p:nvSpPr>
        <p:spPr>
          <a:xfrm>
            <a:off x="1005840" y="2194560"/>
            <a:ext cx="4663440" cy="548640"/>
          </a:xfrm>
          <a:prstGeom prst="rect">
            <a:avLst/>
          </a:prstGeom>
          <a:noFill/>
          <a:ln/>
        </p:spPr>
        <p:txBody>
          <a:bodyPr wrap="square" lIns="0" tIns="0" rIns="0" bIns="0" rtlCol="0" anchor="ctr"/>
          <a:lstStyle/>
          <a:p>
            <a:pPr indent="0" marL="0">
              <a:buNone/>
            </a:pPr>
            <a:r>
              <a:rPr lang="en-US" sz="2200" b="1" dirty="0">
                <a:solidFill>
                  <a:srgbClr val="666666"/>
                </a:solidFill>
                <a:latin typeface="Meiryo" pitchFamily="34" charset="0"/>
                <a:ea typeface="Meiryo" pitchFamily="34" charset="-122"/>
                <a:cs typeface="Meiryo" pitchFamily="34" charset="-120"/>
              </a:rPr>
              <a:t>数値（CTR・視聴維持率）</a:t>
            </a:r>
            <a:endParaRPr lang="en-US" sz="2200" dirty="0"/>
          </a:p>
        </p:txBody>
      </p:sp>
      <p:sp>
        <p:nvSpPr>
          <p:cNvPr id="7" name="Text 4"/>
          <p:cNvSpPr txBox="1"/>
          <p:nvPr/>
        </p:nvSpPr>
        <p:spPr>
          <a:xfrm>
            <a:off x="1005840" y="2834640"/>
            <a:ext cx="4663440" cy="128016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自分が出した動画がどんな数値を取れたか。</a:t>
            </a:r>
            <a:endParaRPr lang="en-US" sz="1900" dirty="0"/>
          </a:p>
          <a:p>
            <a:pPr indent="0" marL="0">
              <a:buNone/>
            </a:pPr>
            <a:r>
              <a:rPr lang="en-US" sz="1900" dirty="0">
                <a:solidFill>
                  <a:srgbClr val="666666"/>
                </a:solidFill>
                <a:latin typeface="Meiryo" pitchFamily="34" charset="0"/>
                <a:ea typeface="Meiryo" pitchFamily="34" charset="-122"/>
                <a:cs typeface="Meiryo" pitchFamily="34" charset="-120"/>
              </a:rPr>
              <a:t>つまり、動画を出した「あと」の話。</a:t>
            </a:r>
            <a:endParaRPr lang="en-US" sz="1900" dirty="0"/>
          </a:p>
        </p:txBody>
      </p:sp>
      <p:sp>
        <p:nvSpPr>
          <p:cNvPr id="8" name="Shape 5"/>
          <p:cNvSpPr/>
          <p:nvPr/>
        </p:nvSpPr>
        <p:spPr>
          <a:xfrm>
            <a:off x="6309360" y="1828800"/>
            <a:ext cx="5257800" cy="3840480"/>
          </a:xfrm>
          <a:prstGeom prst="roundRect">
            <a:avLst>
              <a:gd name="adj" fmla="val 2857"/>
            </a:avLst>
          </a:prstGeom>
          <a:solidFill>
            <a:srgbClr val="C40000"/>
          </a:solidFill>
          <a:ln/>
        </p:spPr>
      </p:sp>
      <p:sp>
        <p:nvSpPr>
          <p:cNvPr id="9" name="Text 6"/>
          <p:cNvSpPr txBox="1"/>
          <p:nvPr/>
        </p:nvSpPr>
        <p:spPr>
          <a:xfrm>
            <a:off x="6675120" y="2194560"/>
            <a:ext cx="4572000" cy="548640"/>
          </a:xfrm>
          <a:prstGeom prst="rect">
            <a:avLst/>
          </a:prstGeom>
          <a:noFill/>
          <a:ln/>
        </p:spPr>
        <p:txBody>
          <a:bodyPr wrap="square" lIns="0" tIns="0" rIns="0" bIns="0" rtlCol="0" anchor="ctr"/>
          <a:lstStyle/>
          <a:p>
            <a:pPr indent="0" marL="0">
              <a:buNone/>
            </a:pPr>
            <a:r>
              <a:rPr lang="en-US" sz="2400" b="1" dirty="0">
                <a:solidFill>
                  <a:srgbClr val="FFFFFF"/>
                </a:solidFill>
                <a:latin typeface="Meiryo" pitchFamily="34" charset="0"/>
                <a:ea typeface="Meiryo" pitchFamily="34" charset="-122"/>
                <a:cs typeface="Meiryo" pitchFamily="34" charset="-120"/>
              </a:rPr>
              <a:t>視聴者理解</a:t>
            </a:r>
            <a:endParaRPr lang="en-US" sz="2400" dirty="0"/>
          </a:p>
        </p:txBody>
      </p:sp>
      <p:sp>
        <p:nvSpPr>
          <p:cNvPr id="10" name="Text 7"/>
          <p:cNvSpPr txBox="1"/>
          <p:nvPr/>
        </p:nvSpPr>
        <p:spPr>
          <a:xfrm>
            <a:off x="6675120" y="2834640"/>
            <a:ext cx="4572000" cy="1463040"/>
          </a:xfrm>
          <a:prstGeom prst="rect">
            <a:avLst/>
          </a:prstGeom>
          <a:noFill/>
          <a:ln/>
        </p:spPr>
        <p:txBody>
          <a:bodyPr wrap="square" lIns="0" tIns="0" rIns="0" bIns="0" rtlCol="0" anchor="ctr"/>
          <a:lstStyle/>
          <a:p>
            <a:pPr indent="0" marL="0">
              <a:buNone/>
            </a:pPr>
            <a:r>
              <a:rPr lang="en-US" sz="1900" dirty="0">
                <a:solidFill>
                  <a:srgbClr val="FFFFFF"/>
                </a:solidFill>
                <a:latin typeface="Meiryo" pitchFamily="34" charset="0"/>
                <a:ea typeface="Meiryo" pitchFamily="34" charset="-122"/>
                <a:cs typeface="Meiryo" pitchFamily="34" charset="-120"/>
              </a:rPr>
              <a:t>視聴者は、どんな動画の、どんな要素を</a:t>
            </a:r>
            <a:endParaRPr lang="en-US" sz="1900" dirty="0"/>
          </a:p>
          <a:p>
            <a:pPr indent="0" marL="0">
              <a:buNone/>
            </a:pPr>
            <a:r>
              <a:rPr lang="en-US" sz="1900" dirty="0">
                <a:solidFill>
                  <a:srgbClr val="FFFFFF"/>
                </a:solidFill>
                <a:latin typeface="Meiryo" pitchFamily="34" charset="0"/>
                <a:ea typeface="Meiryo" pitchFamily="34" charset="-122"/>
                <a:cs typeface="Meiryo" pitchFamily="34" charset="-120"/>
              </a:rPr>
              <a:t>好んで見ているのか。</a:t>
            </a:r>
            <a:endParaRPr lang="en-US" sz="1900" dirty="0"/>
          </a:p>
          <a:p>
            <a:pPr indent="0" marL="0">
              <a:buNone/>
            </a:pPr>
            <a:r>
              <a:rPr lang="en-US" sz="1900" dirty="0">
                <a:solidFill>
                  <a:srgbClr val="FFFFFF"/>
                </a:solidFill>
                <a:latin typeface="Meiryo" pitchFamily="34" charset="0"/>
                <a:ea typeface="Meiryo" pitchFamily="34" charset="-122"/>
                <a:cs typeface="Meiryo" pitchFamily="34" charset="-120"/>
              </a:rPr>
              <a:t>動画を出す「前」にやるべきこと。</a:t>
            </a:r>
            <a:endParaRPr lang="en-US" sz="1900" dirty="0"/>
          </a:p>
        </p:txBody>
      </p:sp>
      <p:sp>
        <p:nvSpPr>
          <p:cNvPr id="11" name="Text 8"/>
          <p:cNvSpPr txBox="1"/>
          <p:nvPr/>
        </p:nvSpPr>
        <p:spPr>
          <a:xfrm>
            <a:off x="6675120" y="4754880"/>
            <a:ext cx="4572000" cy="640080"/>
          </a:xfrm>
          <a:prstGeom prst="rect">
            <a:avLst/>
          </a:prstGeom>
          <a:noFill/>
          <a:ln/>
        </p:spPr>
        <p:txBody>
          <a:bodyPr wrap="square" lIns="0" tIns="0" rIns="0" bIns="0" rtlCol="0" anchor="ctr"/>
          <a:lstStyle/>
          <a:p>
            <a:pPr indent="0" marL="0">
              <a:buNone/>
            </a:pPr>
            <a:r>
              <a:rPr lang="en-US" sz="2800" b="1" dirty="0">
                <a:solidFill>
                  <a:srgbClr val="FFD400"/>
                </a:solidFill>
                <a:latin typeface="Meiryo" pitchFamily="34" charset="0"/>
                <a:ea typeface="Meiryo" pitchFamily="34" charset="-122"/>
                <a:cs typeface="Meiryo" pitchFamily="34" charset="-120"/>
              </a:rPr>
              <a:t>こっちが先！</a:t>
            </a:r>
            <a:endParaRPr lang="en-US" sz="2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CAUTION</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釣りサムネはやめた方がいい</a:t>
            </a:r>
            <a:endParaRPr lang="en-US" sz="3000" dirty="0"/>
          </a:p>
        </p:txBody>
      </p:sp>
      <p:pic>
        <p:nvPicPr>
          <p:cNvPr id="4" name="Picture 3" descr="illust_sample.png"/>
          <p:cNvPicPr>
            <a:picLocks noChangeAspect="1"/>
          </p:cNvPicPr>
          <p:nvPr/>
        </p:nvPicPr>
        <p:blipFill>
          <a:blip r:embed="rId3"/>
          <a:stretch>
            <a:fillRect/>
          </a:stretch>
        </p:blipFill>
        <p:spPr>
          <a:xfrm>
            <a:off x="1400892" y="1783080"/>
            <a:ext cx="9390184"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釣りサムネ＝見た目だけ良くて中身がスカスカの商品を売るのと同じこと</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TRAP</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データから入る「数値のワナ」</a:t>
            </a:r>
            <a:endParaRPr lang="en-US" sz="3000" dirty="0"/>
          </a:p>
        </p:txBody>
      </p:sp>
      <p:sp>
        <p:nvSpPr>
          <p:cNvPr id="5" name="Shape 2"/>
          <p:cNvSpPr/>
          <p:nvPr/>
        </p:nvSpPr>
        <p:spPr>
          <a:xfrm>
            <a:off x="731520" y="1920240"/>
            <a:ext cx="475488" cy="475488"/>
          </a:xfrm>
          <a:prstGeom prst="ellipse">
            <a:avLst/>
          </a:prstGeom>
          <a:solidFill>
            <a:srgbClr val="C40000"/>
          </a:solidFill>
          <a:ln/>
        </p:spPr>
      </p:sp>
      <p:sp>
        <p:nvSpPr>
          <p:cNvPr id="6" name="Text 3"/>
          <p:cNvSpPr txBox="1"/>
          <p:nvPr/>
        </p:nvSpPr>
        <p:spPr>
          <a:xfrm>
            <a:off x="731520" y="191109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7" name="Text 4"/>
          <p:cNvSpPr txBox="1"/>
          <p:nvPr/>
        </p:nvSpPr>
        <p:spPr>
          <a:xfrm>
            <a:off x="1463040" y="1828800"/>
            <a:ext cx="10058400" cy="64008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需要のない動画を出す</a:t>
            </a:r>
            <a:endParaRPr lang="en-US" sz="2200" dirty="0"/>
          </a:p>
        </p:txBody>
      </p:sp>
      <p:sp>
        <p:nvSpPr>
          <p:cNvPr id="8" name="Shape 5"/>
          <p:cNvSpPr/>
          <p:nvPr/>
        </p:nvSpPr>
        <p:spPr>
          <a:xfrm>
            <a:off x="731520" y="2971800"/>
            <a:ext cx="475488" cy="475488"/>
          </a:xfrm>
          <a:prstGeom prst="ellipse">
            <a:avLst/>
          </a:prstGeom>
          <a:solidFill>
            <a:srgbClr val="C40000"/>
          </a:solidFill>
          <a:ln/>
        </p:spPr>
      </p:sp>
      <p:sp>
        <p:nvSpPr>
          <p:cNvPr id="9" name="Text 6"/>
          <p:cNvSpPr txBox="1"/>
          <p:nvPr/>
        </p:nvSpPr>
        <p:spPr>
          <a:xfrm>
            <a:off x="731520" y="29626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0" name="Text 7"/>
          <p:cNvSpPr txBox="1"/>
          <p:nvPr/>
        </p:nvSpPr>
        <p:spPr>
          <a:xfrm>
            <a:off x="1463040" y="2880360"/>
            <a:ext cx="10058400" cy="64008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見る人が少ない＝視聴データが少ない</a:t>
            </a:r>
            <a:endParaRPr lang="en-US" sz="2200" dirty="0"/>
          </a:p>
        </p:txBody>
      </p:sp>
      <p:sp>
        <p:nvSpPr>
          <p:cNvPr id="11" name="Shape 8"/>
          <p:cNvSpPr/>
          <p:nvPr/>
        </p:nvSpPr>
        <p:spPr>
          <a:xfrm>
            <a:off x="731520" y="4023360"/>
            <a:ext cx="475488" cy="475488"/>
          </a:xfrm>
          <a:prstGeom prst="ellipse">
            <a:avLst/>
          </a:prstGeom>
          <a:solidFill>
            <a:srgbClr val="C40000"/>
          </a:solidFill>
          <a:ln/>
        </p:spPr>
      </p:sp>
      <p:sp>
        <p:nvSpPr>
          <p:cNvPr id="12" name="Text 9"/>
          <p:cNvSpPr txBox="1"/>
          <p:nvPr/>
        </p:nvSpPr>
        <p:spPr>
          <a:xfrm>
            <a:off x="731520" y="401421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3" name="Text 10"/>
          <p:cNvSpPr txBox="1"/>
          <p:nvPr/>
        </p:nvSpPr>
        <p:spPr>
          <a:xfrm>
            <a:off x="1463040" y="3931920"/>
            <a:ext cx="10058400" cy="64008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クリック率・維持率が高く出やすい</a:t>
            </a:r>
            <a:endParaRPr lang="en-US" sz="2200" dirty="0"/>
          </a:p>
        </p:txBody>
      </p:sp>
      <p:sp>
        <p:nvSpPr>
          <p:cNvPr id="14" name="Shape 11"/>
          <p:cNvSpPr/>
          <p:nvPr/>
        </p:nvSpPr>
        <p:spPr>
          <a:xfrm>
            <a:off x="731520" y="5074920"/>
            <a:ext cx="475488" cy="475488"/>
          </a:xfrm>
          <a:prstGeom prst="ellipse">
            <a:avLst/>
          </a:prstGeom>
          <a:solidFill>
            <a:srgbClr val="1A1A1A"/>
          </a:solidFill>
          <a:ln/>
        </p:spPr>
      </p:sp>
      <p:sp>
        <p:nvSpPr>
          <p:cNvPr id="15" name="Text 12"/>
          <p:cNvSpPr txBox="1"/>
          <p:nvPr/>
        </p:nvSpPr>
        <p:spPr>
          <a:xfrm>
            <a:off x="731520" y="50657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4</a:t>
            </a:r>
            <a:endParaRPr lang="en-US" sz="2200" dirty="0"/>
          </a:p>
        </p:txBody>
      </p:sp>
      <p:sp>
        <p:nvSpPr>
          <p:cNvPr id="16" name="Text 13"/>
          <p:cNvSpPr txBox="1"/>
          <p:nvPr/>
        </p:nvSpPr>
        <p:spPr>
          <a:xfrm>
            <a:off x="1463040" y="4983480"/>
            <a:ext cx="10058400" cy="640080"/>
          </a:xfrm>
          <a:prstGeom prst="rect">
            <a:avLst/>
          </a:prstGeom>
          <a:noFill/>
          <a:ln/>
        </p:spPr>
        <p:txBody>
          <a:bodyPr wrap="square" lIns="0" tIns="0" rIns="0" bIns="0" rtlCol="0" anchor="ctr"/>
          <a:lstStyle/>
          <a:p>
            <a:pPr indent="0" marL="0">
              <a:buNone/>
            </a:pPr>
            <a:r>
              <a:rPr lang="en-US" sz="2300" b="1" dirty="0">
                <a:solidFill>
                  <a:srgbClr val="C40000"/>
                </a:solidFill>
                <a:latin typeface="Meiryo" pitchFamily="34" charset="0"/>
                <a:ea typeface="Meiryo" pitchFamily="34" charset="-122"/>
                <a:cs typeface="Meiryo" pitchFamily="34" charset="-120"/>
              </a:rPr>
              <a:t>「数値いいじゃん」と勘違い → 自己満足で終わる</a:t>
            </a:r>
            <a:endParaRPr lang="en-US" sz="2300" dirty="0"/>
          </a:p>
        </p:txBody>
      </p:sp>
      <p:sp>
        <p:nvSpPr>
          <p:cNvPr id="17" name="Text 14"/>
          <p:cNvSpPr txBox="1"/>
          <p:nvPr/>
        </p:nvSpPr>
        <p:spPr>
          <a:xfrm>
            <a:off x="640080" y="6035040"/>
            <a:ext cx="10972800" cy="548640"/>
          </a:xfrm>
          <a:prstGeom prst="rect">
            <a:avLst/>
          </a:prstGeom>
          <a:noFill/>
          <a:ln/>
        </p:spPr>
        <p:txBody>
          <a:bodyPr wrap="square" lIns="0" tIns="0" rIns="0" bIns="0" rtlCol="0" anchor="ctr"/>
          <a:lstStyle/>
          <a:p>
            <a:pPr indent="0" marL="0">
              <a:buNone/>
            </a:pPr>
            <a:r>
              <a:rPr lang="en-US" sz="2200" b="1" dirty="0">
                <a:solidFill>
                  <a:srgbClr val="C40000"/>
                </a:solidFill>
                <a:latin typeface="Meiryo" pitchFamily="34" charset="0"/>
                <a:ea typeface="Meiryo" pitchFamily="34" charset="-122"/>
                <a:cs typeface="Meiryo" pitchFamily="34" charset="-120"/>
              </a:rPr>
              <a:t>順番は：視聴者理解 → 動画を作る → そのうえで数値を見て改善</a:t>
            </a:r>
            <a:endParaRPr lang="en-US" sz="2200" dirty="0"/>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sz="1400" b="1">
                <a:solidFill>
                  <a:srgbClr val="C40000"/>
                </a:solidFill>
                <a:latin typeface="Meiryo"/>
              </a:rPr>
              <a:t>TRAP</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sz="3200" b="1">
                <a:solidFill>
                  <a:srgbClr val="333333"/>
                </a:solidFill>
                <a:latin typeface="Meiryo"/>
              </a:rPr>
              <a:t>図で見る「数値のワナ」</a:t>
            </a:r>
            <a:endParaRPr lang="en-US" sz="3000" dirty="0"/>
          </a:p>
        </p:txBody>
      </p:sp>
      <p:pic>
        <p:nvPicPr>
          <p:cNvPr id="4" name="Picture 3" descr="ill_d.png"/>
          <p:cNvPicPr>
            <a:picLocks noChangeAspect="1"/>
          </p:cNvPicPr>
          <p:nvPr/>
        </p:nvPicPr>
        <p:blipFill>
          <a:blip r:embed="rId2"/>
          <a:stretch>
            <a:fillRect/>
          </a:stretch>
        </p:blipFill>
        <p:spPr>
          <a:xfrm>
            <a:off x="547239" y="1783080"/>
            <a:ext cx="11097490"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見る人が少ないほど、数値だけは良く見えてしまう</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sz="1400" b="1">
                <a:solidFill>
                  <a:srgbClr val="C40000"/>
                </a:solidFill>
                <a:latin typeface="Meiryo"/>
              </a:rPr>
              <a:t>ORDER</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sz="3200" b="1">
                <a:solidFill>
                  <a:srgbClr val="333333"/>
                </a:solidFill>
                <a:latin typeface="Meiryo"/>
              </a:rPr>
              <a:t>正しい順番はこうです</a:t>
            </a:r>
            <a:endParaRPr lang="en-US" sz="3000" dirty="0"/>
          </a:p>
        </p:txBody>
      </p:sp>
      <p:pic>
        <p:nvPicPr>
          <p:cNvPr id="4" name="Picture 3" descr="ill_c.png"/>
          <p:cNvPicPr>
            <a:picLocks noChangeAspect="1"/>
          </p:cNvPicPr>
          <p:nvPr/>
        </p:nvPicPr>
        <p:blipFill>
          <a:blip r:embed="rId2"/>
          <a:stretch>
            <a:fillRect/>
          </a:stretch>
        </p:blipFill>
        <p:spPr>
          <a:xfrm>
            <a:off x="518144" y="1958340"/>
            <a:ext cx="11155680" cy="371856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視聴者理解 → 動画を作る → そのうえで数値を見て改善</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05</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体験ワーク</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あなたなら、どちらをクリック？</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WORK 1 / 3</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第1問：あなたなら、どれをクリック？</a:t>
            </a:r>
            <a:endParaRPr lang="en-US" sz="3000" dirty="0"/>
          </a:p>
        </p:txBody>
      </p:sp>
      <p:sp>
        <p:nvSpPr>
          <p:cNvPr id="11" name="Text 8"/>
          <p:cNvSpPr txBox="1"/>
          <p:nvPr/>
        </p:nvSpPr>
        <p:spPr>
          <a:xfrm>
            <a:off x="640080" y="5577840"/>
            <a:ext cx="10972800" cy="502920"/>
          </a:xfrm>
          <a:prstGeom prst="rect">
            <a:avLst/>
          </a:prstGeom>
          <a:noFill/>
          <a:ln/>
        </p:spPr>
        <p:txBody>
          <a:bodyPr wrap="square" lIns="0" tIns="0" rIns="0" bIns="0" rtlCol="0" anchor="ctr"/>
          <a:lstStyle/>
          <a:p>
            <a:pPr indent="0" marL="0">
              <a:buNone/>
            </a:pPr>
            <a:r>
              <a:rPr lang="en-US" sz="2000" dirty="0">
                <a:solidFill>
                  <a:srgbClr val="666666"/>
                </a:solidFill>
                <a:latin typeface="Meiryo" pitchFamily="34" charset="0"/>
                <a:ea typeface="Meiryo" pitchFamily="34" charset="-122"/>
                <a:cs typeface="Meiryo" pitchFamily="34" charset="-120"/>
              </a:rPr>
              <a:t>直感でどうぞ！　A・B・C、クリックしたいものに手を挙げてください</a:t>
            </a:r>
            <a:endParaRPr lang="en-US" sz="2000" dirty="0"/>
          </a:p>
        </p:txBody>
      </p:sp>
      <p:pic>
        <p:nvPicPr>
          <p:cNvPr id="12" name="Picture 11" descr="q1_1.png"/>
          <p:cNvPicPr>
            <a:picLocks noChangeAspect="1"/>
          </p:cNvPicPr>
          <p:nvPr/>
        </p:nvPicPr>
        <p:blipFill>
          <a:blip r:embed="rId3"/>
          <a:stretch>
            <a:fillRect/>
          </a:stretch>
        </p:blipFill>
        <p:spPr>
          <a:xfrm>
            <a:off x="640080" y="1828800"/>
            <a:ext cx="3520440" cy="1980247"/>
          </a:xfrm>
          <a:prstGeom prst="rect">
            <a:avLst/>
          </a:prstGeom>
        </p:spPr>
      </p:pic>
      <p:sp>
        <p:nvSpPr>
          <p:cNvPr id="13" name="TextBox 12"/>
          <p:cNvSpPr txBox="1"/>
          <p:nvPr/>
        </p:nvSpPr>
        <p:spPr>
          <a:xfrm>
            <a:off x="640080" y="3991927"/>
            <a:ext cx="3520440" cy="548640"/>
          </a:xfrm>
          <a:prstGeom prst="rect">
            <a:avLst/>
          </a:prstGeom>
          <a:noFill/>
        </p:spPr>
        <p:txBody>
          <a:bodyPr wrap="square" lIns="0" rIns="0" tIns="0" bIns="0">
            <a:spAutoFit/>
          </a:bodyPr>
          <a:lstStyle/>
          <a:p>
            <a:pPr algn="ctr"/>
            <a:r>
              <a:rPr sz="3200" b="1">
                <a:solidFill>
                  <a:srgbClr val="C40000"/>
                </a:solidFill>
              </a:rPr>
              <a:t>A</a:t>
            </a:r>
          </a:p>
        </p:txBody>
      </p:sp>
      <p:pic>
        <p:nvPicPr>
          <p:cNvPr id="18" name="Picture 17" descr="q1_2new.png"/>
          <p:cNvPicPr>
            <a:picLocks noChangeAspect="1"/>
          </p:cNvPicPr>
          <p:nvPr/>
        </p:nvPicPr>
        <p:blipFill>
          <a:blip r:embed="rId6"/>
          <a:stretch>
            <a:fillRect/>
          </a:stretch>
        </p:blipFill>
        <p:spPr>
          <a:xfrm>
            <a:off x="4366260" y="1828800"/>
            <a:ext cx="3520440" cy="1980247"/>
          </a:xfrm>
          <a:prstGeom prst="rect">
            <a:avLst/>
          </a:prstGeom>
        </p:spPr>
      </p:pic>
      <p:sp>
        <p:nvSpPr>
          <p:cNvPr id="15" name="TextBox 14"/>
          <p:cNvSpPr txBox="1"/>
          <p:nvPr/>
        </p:nvSpPr>
        <p:spPr>
          <a:xfrm>
            <a:off x="4366260" y="3991927"/>
            <a:ext cx="3520440" cy="548640"/>
          </a:xfrm>
          <a:prstGeom prst="rect">
            <a:avLst/>
          </a:prstGeom>
          <a:noFill/>
        </p:spPr>
        <p:txBody>
          <a:bodyPr wrap="square" lIns="0" rIns="0" tIns="0" bIns="0">
            <a:spAutoFit/>
          </a:bodyPr>
          <a:lstStyle/>
          <a:p>
            <a:pPr algn="ctr"/>
            <a:r>
              <a:rPr sz="3200" b="1">
                <a:solidFill>
                  <a:srgbClr val="C40000"/>
                </a:solidFill>
              </a:rPr>
              <a:t>B</a:t>
            </a:r>
          </a:p>
        </p:txBody>
      </p:sp>
      <p:pic>
        <p:nvPicPr>
          <p:cNvPr id="16" name="Picture 15" descr="q1_3.png"/>
          <p:cNvPicPr>
            <a:picLocks noChangeAspect="1"/>
          </p:cNvPicPr>
          <p:nvPr/>
        </p:nvPicPr>
        <p:blipFill>
          <a:blip r:embed="rId5"/>
          <a:stretch>
            <a:fillRect/>
          </a:stretch>
        </p:blipFill>
        <p:spPr>
          <a:xfrm>
            <a:off x="8092440" y="1828800"/>
            <a:ext cx="3520440" cy="1980247"/>
          </a:xfrm>
          <a:prstGeom prst="rect">
            <a:avLst/>
          </a:prstGeom>
        </p:spPr>
      </p:pic>
      <p:sp>
        <p:nvSpPr>
          <p:cNvPr id="17" name="TextBox 16"/>
          <p:cNvSpPr txBox="1"/>
          <p:nvPr/>
        </p:nvSpPr>
        <p:spPr>
          <a:xfrm>
            <a:off x="8092440" y="3991927"/>
            <a:ext cx="3520440" cy="548640"/>
          </a:xfrm>
          <a:prstGeom prst="rect">
            <a:avLst/>
          </a:prstGeom>
          <a:noFill/>
        </p:spPr>
        <p:txBody>
          <a:bodyPr wrap="square" lIns="0" rIns="0" tIns="0" bIns="0">
            <a:spAutoFit/>
          </a:bodyPr>
          <a:lstStyle/>
          <a:p>
            <a:pPr algn="ctr"/>
            <a:r>
              <a:rPr sz="3200" b="1">
                <a:solidFill>
                  <a:srgbClr val="C40000"/>
                </a:solidFill>
              </a:rPr>
              <a:t>C</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WORK 1 / 3　答え合わせ</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第1問の答え：再生数はこれだけ違う</a:t>
            </a:r>
            <a:endParaRPr lang="en-US" sz="3000" dirty="0"/>
          </a:p>
        </p:txBody>
      </p:sp>
      <p:sp>
        <p:nvSpPr>
          <p:cNvPr id="11" name="Text 8"/>
          <p:cNvSpPr txBox="1"/>
          <p:nvPr/>
        </p:nvSpPr>
        <p:spPr>
          <a:xfrm>
            <a:off x="640080" y="5577840"/>
            <a:ext cx="10972800" cy="502920"/>
          </a:xfrm>
          <a:prstGeom prst="rect">
            <a:avLst/>
          </a:prstGeom>
          <a:noFill/>
          <a:ln/>
        </p:spPr>
        <p:txBody>
          <a:bodyPr wrap="square" lIns="0" tIns="0" rIns="0" bIns="0" rtlCol="0" anchor="ctr"/>
          <a:lstStyle/>
          <a:p>
            <a:pPr indent="0" marL="0">
              <a:buNone/>
            </a:pPr>
            <a:r>
              <a:rPr lang="en-US" sz="2000" dirty="0" b="1">
                <a:solidFill>
                  <a:srgbClr val="C40000"/>
                </a:solidFill>
                <a:latin typeface="Meiryo" pitchFamily="34" charset="0"/>
                <a:ea typeface="Meiryo" pitchFamily="34" charset="-122"/>
                <a:cs typeface="Meiryo" pitchFamily="34" charset="-120"/>
              </a:rPr>
              <a:t>「誰が」「何を教えてくれるか」が一目で分かるサムネが、選ばれる</a:t>
            </a:r>
            <a:endParaRPr lang="en-US" sz="2000" dirty="0"/>
          </a:p>
        </p:txBody>
      </p:sp>
      <p:pic>
        <p:nvPicPr>
          <p:cNvPr id="12" name="Picture 11" descr="q1_1.png">
            <a:hlinkClick r:id="rId7"/>
          </p:cNvPr>
          <p:cNvPicPr>
            <a:picLocks noChangeAspect="1"/>
          </p:cNvPicPr>
          <p:nvPr/>
        </p:nvPicPr>
        <p:blipFill>
          <a:blip r:embed="rId2"/>
          <a:stretch>
            <a:fillRect/>
          </a:stretch>
        </p:blipFill>
        <p:spPr>
          <a:xfrm>
            <a:off x="640080" y="1828800"/>
            <a:ext cx="3520440" cy="1980247"/>
          </a:xfrm>
          <a:prstGeom prst="rect">
            <a:avLst/>
          </a:prstGeom>
        </p:spPr>
      </p:pic>
      <p:sp>
        <p:nvSpPr>
          <p:cNvPr id="13" name="TextBox 12"/>
          <p:cNvSpPr txBox="1"/>
          <p:nvPr/>
        </p:nvSpPr>
        <p:spPr>
          <a:xfrm>
            <a:off x="640080" y="3991927"/>
            <a:ext cx="2331720" cy="548640"/>
          </a:xfrm>
          <a:prstGeom prst="rect">
            <a:avLst/>
          </a:prstGeom>
          <a:noFill/>
        </p:spPr>
        <p:txBody>
          <a:bodyPr wrap="square" lIns="0" rIns="0" tIns="0" bIns="0">
            <a:spAutoFit/>
          </a:bodyPr>
          <a:lstStyle/>
          <a:p>
            <a:pPr algn="l"/>
            <a:r>
              <a:rPr sz="3200" b="1">
                <a:solidFill>
                  <a:srgbClr val="C40000"/>
                </a:solidFill>
              </a:rPr>
              <a:t>A</a:t>
            </a:r>
          </a:p>
        </p:txBody>
      </p:sp>
      <p:pic>
        <p:nvPicPr>
          <p:cNvPr id="22" name="Picture 21" descr="q1_2new.png">
            <a:hlinkClick r:id="rId8"/>
          </p:cNvPr>
          <p:cNvPicPr>
            <a:picLocks noChangeAspect="1"/>
          </p:cNvPicPr>
          <p:nvPr/>
        </p:nvPicPr>
        <p:blipFill>
          <a:blip r:embed="rId6"/>
          <a:stretch>
            <a:fillRect/>
          </a:stretch>
        </p:blipFill>
        <p:spPr>
          <a:xfrm>
            <a:off x="4366260" y="1828800"/>
            <a:ext cx="3520440" cy="1980247"/>
          </a:xfrm>
          <a:prstGeom prst="rect">
            <a:avLst/>
          </a:prstGeom>
        </p:spPr>
      </p:pic>
      <p:sp>
        <p:nvSpPr>
          <p:cNvPr id="15" name="TextBox 14"/>
          <p:cNvSpPr txBox="1"/>
          <p:nvPr/>
        </p:nvSpPr>
        <p:spPr>
          <a:xfrm>
            <a:off x="4366260" y="3991927"/>
            <a:ext cx="2331720" cy="548640"/>
          </a:xfrm>
          <a:prstGeom prst="rect">
            <a:avLst/>
          </a:prstGeom>
          <a:noFill/>
        </p:spPr>
        <p:txBody>
          <a:bodyPr wrap="square" lIns="0" rIns="0" tIns="0" bIns="0">
            <a:spAutoFit/>
          </a:bodyPr>
          <a:lstStyle/>
          <a:p>
            <a:pPr algn="l"/>
            <a:r>
              <a:rPr sz="3200" b="1">
                <a:solidFill>
                  <a:srgbClr val="C40000"/>
                </a:solidFill>
              </a:rPr>
              <a:t>B</a:t>
            </a:r>
          </a:p>
        </p:txBody>
      </p:sp>
      <p:pic>
        <p:nvPicPr>
          <p:cNvPr id="16" name="Picture 15" descr="q1_3.png">
            <a:hlinkClick r:id="rId9"/>
          </p:cNvPr>
          <p:cNvPicPr>
            <a:picLocks noChangeAspect="1"/>
          </p:cNvPicPr>
          <p:nvPr/>
        </p:nvPicPr>
        <p:blipFill>
          <a:blip r:embed="rId4"/>
          <a:stretch>
            <a:fillRect/>
          </a:stretch>
        </p:blipFill>
        <p:spPr>
          <a:xfrm>
            <a:off x="8092440" y="1828800"/>
            <a:ext cx="3520440" cy="1980247"/>
          </a:xfrm>
          <a:prstGeom prst="rect">
            <a:avLst/>
          </a:prstGeom>
        </p:spPr>
      </p:pic>
      <p:sp>
        <p:nvSpPr>
          <p:cNvPr id="17" name="TextBox 16"/>
          <p:cNvSpPr txBox="1"/>
          <p:nvPr/>
        </p:nvSpPr>
        <p:spPr>
          <a:xfrm>
            <a:off x="8092440" y="3991927"/>
            <a:ext cx="2331720" cy="548640"/>
          </a:xfrm>
          <a:prstGeom prst="rect">
            <a:avLst/>
          </a:prstGeom>
          <a:noFill/>
        </p:spPr>
        <p:txBody>
          <a:bodyPr wrap="square" lIns="0" rIns="0" tIns="0" bIns="0">
            <a:spAutoFit/>
          </a:bodyPr>
          <a:lstStyle/>
          <a:p>
            <a:pPr algn="l"/>
            <a:r>
              <a:rPr sz="3200" b="1">
                <a:solidFill>
                  <a:srgbClr val="C40000"/>
                </a:solidFill>
              </a:rPr>
              <a:t>C</a:t>
            </a:r>
          </a:p>
        </p:txBody>
      </p:sp>
      <p:sp>
        <p:nvSpPr>
          <p:cNvPr id="18" name="TextBox 17"/>
          <p:cNvSpPr txBox="1"/>
          <p:nvPr/>
        </p:nvSpPr>
        <p:spPr>
          <a:xfrm>
            <a:off x="640080" y="4540567"/>
            <a:ext cx="2331720" cy="548640"/>
          </a:xfrm>
          <a:prstGeom prst="rect">
            <a:avLst/>
          </a:prstGeom>
          <a:noFill/>
        </p:spPr>
        <p:txBody>
          <a:bodyPr wrap="square" lIns="0" rIns="0" tIns="0" bIns="0">
            <a:spAutoFit/>
          </a:bodyPr>
          <a:lstStyle/>
          <a:p>
            <a:pPr algn="l"/>
            <a:r>
              <a:rPr sz="3000" b="1">
                <a:solidFill>
                  <a:srgbClr val="C40000"/>
                </a:solidFill>
              </a:rPr>
              <a:t>7.5万再生</a:t>
            </a:r>
          </a:p>
        </p:txBody>
      </p:sp>
      <p:sp>
        <p:nvSpPr>
          <p:cNvPr id="19" name="Rectangle 18"/>
          <p:cNvSpPr/>
          <p:nvPr/>
        </p:nvSpPr>
        <p:spPr>
          <a:xfrm>
            <a:off x="585215" y="1773936"/>
            <a:ext cx="3630168" cy="2089975"/>
          </a:xfrm>
          <a:prstGeom prst="rect">
            <a:avLst/>
          </a:prstGeom>
          <a:noFill/>
          <a:ln w="63500">
            <a:solidFill>
              <a:srgbClr val="C4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66260" y="4540567"/>
            <a:ext cx="2331720" cy="548640"/>
          </a:xfrm>
          <a:prstGeom prst="rect">
            <a:avLst/>
          </a:prstGeom>
          <a:noFill/>
        </p:spPr>
        <p:txBody>
          <a:bodyPr wrap="square" lIns="0" rIns="0" tIns="0" bIns="0">
            <a:spAutoFit/>
          </a:bodyPr>
          <a:lstStyle/>
          <a:p>
            <a:pPr algn="l"/>
            <a:r>
              <a:rPr sz="2400" b="1">
                <a:solidFill>
                  <a:srgbClr val="555555"/>
                </a:solidFill>
              </a:rPr>
              <a:t>2.1万再生</a:t>
            </a:r>
          </a:p>
        </p:txBody>
      </p:sp>
      <p:sp>
        <p:nvSpPr>
          <p:cNvPr id="21" name="TextBox 20"/>
          <p:cNvSpPr txBox="1"/>
          <p:nvPr/>
        </p:nvSpPr>
        <p:spPr>
          <a:xfrm>
            <a:off x="8092440" y="4540567"/>
            <a:ext cx="2331720" cy="548640"/>
          </a:xfrm>
          <a:prstGeom prst="rect">
            <a:avLst/>
          </a:prstGeom>
          <a:noFill/>
        </p:spPr>
        <p:txBody>
          <a:bodyPr wrap="square" lIns="0" rIns="0" tIns="0" bIns="0">
            <a:spAutoFit/>
          </a:bodyPr>
          <a:lstStyle/>
          <a:p>
            <a:pPr algn="l"/>
            <a:r>
              <a:rPr sz="2400" b="1">
                <a:solidFill>
                  <a:srgbClr val="555555"/>
                </a:solidFill>
              </a:rPr>
              <a:t>1,086再生</a:t>
            </a:r>
          </a:p>
        </p:txBody>
      </p:sp>
      <p:pic>
        <p:nvPicPr>
          <p:cNvPr id="23" name="Picture 22" descr="qr_q1_0.png">
            <a:hlinkClick r:id="rId7"/>
          </p:cNvPr>
          <p:cNvPicPr>
            <a:picLocks noChangeAspect="1"/>
          </p:cNvPicPr>
          <p:nvPr/>
        </p:nvPicPr>
        <p:blipFill>
          <a:blip r:embed="rId10"/>
          <a:stretch>
            <a:fillRect/>
          </a:stretch>
        </p:blipFill>
        <p:spPr>
          <a:xfrm>
            <a:off x="3108960" y="3946207"/>
            <a:ext cx="1051560" cy="1051560"/>
          </a:xfrm>
          <a:prstGeom prst="rect">
            <a:avLst/>
          </a:prstGeom>
        </p:spPr>
      </p:pic>
      <p:pic>
        <p:nvPicPr>
          <p:cNvPr id="24" name="Picture 23" descr="qr_q1_1.png">
            <a:hlinkClick r:id="rId8"/>
          </p:cNvPr>
          <p:cNvPicPr>
            <a:picLocks noChangeAspect="1"/>
          </p:cNvPicPr>
          <p:nvPr/>
        </p:nvPicPr>
        <p:blipFill>
          <a:blip r:embed="rId11"/>
          <a:stretch>
            <a:fillRect/>
          </a:stretch>
        </p:blipFill>
        <p:spPr>
          <a:xfrm>
            <a:off x="6835140" y="3946207"/>
            <a:ext cx="1051560" cy="1051560"/>
          </a:xfrm>
          <a:prstGeom prst="rect">
            <a:avLst/>
          </a:prstGeom>
        </p:spPr>
      </p:pic>
      <p:pic>
        <p:nvPicPr>
          <p:cNvPr id="25" name="Picture 24" descr="qr_q1_2.png">
            <a:hlinkClick r:id="rId9"/>
          </p:cNvPr>
          <p:cNvPicPr>
            <a:picLocks noChangeAspect="1"/>
          </p:cNvPicPr>
          <p:nvPr/>
        </p:nvPicPr>
        <p:blipFill>
          <a:blip r:embed="rId12"/>
          <a:stretch>
            <a:fillRect/>
          </a:stretch>
        </p:blipFill>
        <p:spPr>
          <a:xfrm>
            <a:off x="10561319" y="3946207"/>
            <a:ext cx="1051560" cy="105156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WORK 2 / 3</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第2問：あなたなら、どちらをクリック？</a:t>
            </a:r>
            <a:endParaRPr lang="en-US" sz="3000" dirty="0"/>
          </a:p>
        </p:txBody>
      </p:sp>
      <p:sp>
        <p:nvSpPr>
          <p:cNvPr id="5" name="Shape 2"/>
          <p:cNvSpPr/>
          <p:nvPr/>
        </p:nvSpPr>
        <p:spPr>
          <a:xfrm>
            <a:off x="640080" y="1920240"/>
            <a:ext cx="5257800" cy="3291840"/>
          </a:xfrm>
          <a:prstGeom prst="roundRect">
            <a:avLst>
              <a:gd name="adj" fmla="val 3333"/>
            </a:avLst>
          </a:prstGeom>
          <a:solidFill>
            <a:srgbClr val="FFF3C4"/>
          </a:solidFill>
          <a:ln w="12700">
            <a:solidFill>
              <a:srgbClr val="CCCCCC"/>
            </a:solidFill>
            <a:prstDash val="dash"/>
          </a:ln>
        </p:spPr>
      </p:sp>
      <p:sp>
        <p:nvSpPr>
          <p:cNvPr id="6" name="Text 3"/>
          <p:cNvSpPr txBox="1"/>
          <p:nvPr/>
        </p:nvSpPr>
        <p:spPr>
          <a:xfrm>
            <a:off x="96012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A</a:t>
            </a:r>
            <a:endParaRPr lang="en-US" sz="4000" dirty="0"/>
          </a:p>
        </p:txBody>
      </p:sp>
      <p:sp>
        <p:nvSpPr>
          <p:cNvPr id="7" name="Text 4"/>
          <p:cNvSpPr txBox="1"/>
          <p:nvPr/>
        </p:nvSpPr>
        <p:spPr>
          <a:xfrm>
            <a:off x="64008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8" name="Shape 5"/>
          <p:cNvSpPr/>
          <p:nvPr/>
        </p:nvSpPr>
        <p:spPr>
          <a:xfrm>
            <a:off x="6309360" y="1920240"/>
            <a:ext cx="5257800" cy="3291840"/>
          </a:xfrm>
          <a:prstGeom prst="roundRect">
            <a:avLst>
              <a:gd name="adj" fmla="val 3333"/>
            </a:avLst>
          </a:prstGeom>
          <a:solidFill>
            <a:srgbClr val="FFF3C4"/>
          </a:solidFill>
          <a:ln w="12700">
            <a:solidFill>
              <a:srgbClr val="CCCCCC"/>
            </a:solidFill>
            <a:prstDash val="dash"/>
          </a:ln>
        </p:spPr>
      </p:sp>
      <p:sp>
        <p:nvSpPr>
          <p:cNvPr id="9" name="Text 6"/>
          <p:cNvSpPr txBox="1"/>
          <p:nvPr/>
        </p:nvSpPr>
        <p:spPr>
          <a:xfrm>
            <a:off x="662940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B</a:t>
            </a:r>
            <a:endParaRPr lang="en-US" sz="4000" dirty="0"/>
          </a:p>
        </p:txBody>
      </p:sp>
      <p:sp>
        <p:nvSpPr>
          <p:cNvPr id="10" name="Text 7"/>
          <p:cNvSpPr txBox="1"/>
          <p:nvPr/>
        </p:nvSpPr>
        <p:spPr>
          <a:xfrm>
            <a:off x="630936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11" name="Text 8"/>
          <p:cNvSpPr txBox="1"/>
          <p:nvPr/>
        </p:nvSpPr>
        <p:spPr>
          <a:xfrm>
            <a:off x="640080" y="5577840"/>
            <a:ext cx="10972800" cy="502920"/>
          </a:xfrm>
          <a:prstGeom prst="rect">
            <a:avLst/>
          </a:prstGeom>
          <a:noFill/>
          <a:ln/>
        </p:spPr>
        <p:txBody>
          <a:bodyPr wrap="square" lIns="0" tIns="0" rIns="0" bIns="0" rtlCol="0" anchor="ctr"/>
          <a:lstStyle/>
          <a:p>
            <a:pPr indent="0" marL="0">
              <a:buNone/>
            </a:pPr>
            <a:r>
              <a:rPr lang="en-US" sz="2000" dirty="0">
                <a:solidFill>
                  <a:srgbClr val="666666"/>
                </a:solidFill>
                <a:latin typeface="Meiryo" pitchFamily="34" charset="0"/>
                <a:ea typeface="Meiryo" pitchFamily="34" charset="-122"/>
                <a:cs typeface="Meiryo" pitchFamily="34" charset="-120"/>
              </a:rPr>
              <a:t>正解はありません。直感でどうぞ！</a:t>
            </a:r>
            <a:endParaRPr lang="en-US" sz="2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WORK 3 / 3</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第3問：あなたなら、どちらをクリック？</a:t>
            </a:r>
            <a:endParaRPr lang="en-US" sz="3000" dirty="0"/>
          </a:p>
        </p:txBody>
      </p:sp>
      <p:sp>
        <p:nvSpPr>
          <p:cNvPr id="5" name="Shape 2"/>
          <p:cNvSpPr/>
          <p:nvPr/>
        </p:nvSpPr>
        <p:spPr>
          <a:xfrm>
            <a:off x="640080" y="1920240"/>
            <a:ext cx="5257800" cy="3291840"/>
          </a:xfrm>
          <a:prstGeom prst="roundRect">
            <a:avLst>
              <a:gd name="adj" fmla="val 3333"/>
            </a:avLst>
          </a:prstGeom>
          <a:solidFill>
            <a:srgbClr val="FFF3C4"/>
          </a:solidFill>
          <a:ln w="12700">
            <a:solidFill>
              <a:srgbClr val="CCCCCC"/>
            </a:solidFill>
            <a:prstDash val="dash"/>
          </a:ln>
        </p:spPr>
      </p:sp>
      <p:sp>
        <p:nvSpPr>
          <p:cNvPr id="6" name="Text 3"/>
          <p:cNvSpPr txBox="1"/>
          <p:nvPr/>
        </p:nvSpPr>
        <p:spPr>
          <a:xfrm>
            <a:off x="96012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A</a:t>
            </a:r>
            <a:endParaRPr lang="en-US" sz="4000" dirty="0"/>
          </a:p>
        </p:txBody>
      </p:sp>
      <p:sp>
        <p:nvSpPr>
          <p:cNvPr id="7" name="Text 4"/>
          <p:cNvSpPr txBox="1"/>
          <p:nvPr/>
        </p:nvSpPr>
        <p:spPr>
          <a:xfrm>
            <a:off x="64008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8" name="Shape 5"/>
          <p:cNvSpPr/>
          <p:nvPr/>
        </p:nvSpPr>
        <p:spPr>
          <a:xfrm>
            <a:off x="6309360" y="1920240"/>
            <a:ext cx="5257800" cy="3291840"/>
          </a:xfrm>
          <a:prstGeom prst="roundRect">
            <a:avLst>
              <a:gd name="adj" fmla="val 3333"/>
            </a:avLst>
          </a:prstGeom>
          <a:solidFill>
            <a:srgbClr val="FFF3C4"/>
          </a:solidFill>
          <a:ln w="12700">
            <a:solidFill>
              <a:srgbClr val="CCCCCC"/>
            </a:solidFill>
            <a:prstDash val="dash"/>
          </a:ln>
        </p:spPr>
      </p:sp>
      <p:sp>
        <p:nvSpPr>
          <p:cNvPr id="9" name="Text 6"/>
          <p:cNvSpPr txBox="1"/>
          <p:nvPr/>
        </p:nvSpPr>
        <p:spPr>
          <a:xfrm>
            <a:off x="662940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B</a:t>
            </a:r>
            <a:endParaRPr lang="en-US" sz="4000" dirty="0"/>
          </a:p>
        </p:txBody>
      </p:sp>
      <p:sp>
        <p:nvSpPr>
          <p:cNvPr id="10" name="Text 7"/>
          <p:cNvSpPr txBox="1"/>
          <p:nvPr/>
        </p:nvSpPr>
        <p:spPr>
          <a:xfrm>
            <a:off x="630936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11" name="Text 8"/>
          <p:cNvSpPr txBox="1"/>
          <p:nvPr/>
        </p:nvSpPr>
        <p:spPr>
          <a:xfrm>
            <a:off x="640080" y="5577840"/>
            <a:ext cx="10972800" cy="502920"/>
          </a:xfrm>
          <a:prstGeom prst="rect">
            <a:avLst/>
          </a:prstGeom>
          <a:noFill/>
          <a:ln/>
        </p:spPr>
        <p:txBody>
          <a:bodyPr wrap="square" lIns="0" tIns="0" rIns="0" bIns="0" rtlCol="0" anchor="ctr"/>
          <a:lstStyle/>
          <a:p>
            <a:pPr indent="0" marL="0">
              <a:buNone/>
            </a:pPr>
            <a:r>
              <a:rPr lang="en-US" sz="2000" dirty="0">
                <a:solidFill>
                  <a:srgbClr val="666666"/>
                </a:solidFill>
                <a:latin typeface="Meiryo" pitchFamily="34" charset="0"/>
                <a:ea typeface="Meiryo" pitchFamily="34" charset="-122"/>
                <a:cs typeface="Meiryo" pitchFamily="34" charset="-120"/>
              </a:rPr>
              <a:t>正解はありません。直感でどうぞ！</a:t>
            </a:r>
            <a:endParaRPr lang="en-US" sz="2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INSIGHT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これが「視聴者理解」です</a:t>
            </a:r>
            <a:endParaRPr lang="en-US" sz="3000" dirty="0"/>
          </a:p>
        </p:txBody>
      </p:sp>
      <p:sp>
        <p:nvSpPr>
          <p:cNvPr id="5" name="Shape 2"/>
          <p:cNvSpPr/>
          <p:nvPr/>
        </p:nvSpPr>
        <p:spPr>
          <a:xfrm>
            <a:off x="640080" y="1828800"/>
            <a:ext cx="10972800" cy="1554480"/>
          </a:xfrm>
          <a:prstGeom prst="roundRect">
            <a:avLst>
              <a:gd name="adj" fmla="val 7059"/>
            </a:avLst>
          </a:prstGeom>
          <a:solidFill>
            <a:srgbClr val="C40000"/>
          </a:solidFill>
          <a:ln/>
        </p:spPr>
      </p:sp>
      <p:sp>
        <p:nvSpPr>
          <p:cNvPr id="6" name="Text 3"/>
          <p:cNvSpPr txBox="1"/>
          <p:nvPr/>
        </p:nvSpPr>
        <p:spPr>
          <a:xfrm>
            <a:off x="1097280" y="2240280"/>
            <a:ext cx="10058400" cy="731520"/>
          </a:xfrm>
          <a:prstGeom prst="rect">
            <a:avLst/>
          </a:prstGeom>
          <a:noFill/>
          <a:ln/>
        </p:spPr>
        <p:txBody>
          <a:bodyPr wrap="square" lIns="0" tIns="0" rIns="0" bIns="0" rtlCol="0" anchor="ctr"/>
          <a:lstStyle/>
          <a:p>
            <a:pPr indent="0" marL="0">
              <a:buNone/>
            </a:pPr>
            <a:r>
              <a:rPr lang="en-US" sz="3000" b="1" dirty="0">
                <a:solidFill>
                  <a:srgbClr val="FFD400"/>
                </a:solidFill>
                <a:latin typeface="Meiryo" pitchFamily="34" charset="0"/>
                <a:ea typeface="Meiryo" pitchFamily="34" charset="-122"/>
                <a:cs typeface="Meiryo" pitchFamily="34" charset="-120"/>
              </a:rPr>
              <a:t>体験しないと、分からないことがある</a:t>
            </a:r>
            <a:endParaRPr lang="en-US" sz="3000" dirty="0"/>
          </a:p>
        </p:txBody>
      </p:sp>
      <p:sp>
        <p:nvSpPr>
          <p:cNvPr id="7" name="Text 4"/>
          <p:cNvSpPr txBox="1"/>
          <p:nvPr/>
        </p:nvSpPr>
        <p:spPr>
          <a:xfrm>
            <a:off x="822960" y="3749040"/>
            <a:ext cx="10698480" cy="2194560"/>
          </a:xfrm>
          <a:prstGeom prst="rect">
            <a:avLst/>
          </a:prstGeom>
          <a:noFill/>
          <a:ln/>
        </p:spPr>
        <p:txBody>
          <a:bodyPr wrap="square" rtlCol="0" anchor="ctr"/>
          <a:lstStyle/>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皆さんの視聴者も、頭で考えた理屈ではなく画面の前の一瞬の「感覚」で動いている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自分がやりたいことより先に、視聴者がまず何を求めているのかを把握する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発信を考える前に、同じジャンルの競合が何を発信し視聴者がどう感じているかを徹底分析</a:t>
            </a:r>
            <a:endParaRPr lang="en-US" sz="2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6">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06</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伸ばすために必要なこと</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今日の核心。3本で1,000人の種明かしも</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CORE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ジャンルを俯瞰して見る＝競合の動画を見る</a:t>
            </a:r>
            <a:endParaRPr lang="en-US" sz="3000" dirty="0"/>
          </a:p>
        </p:txBody>
      </p:sp>
      <p:pic>
        <p:nvPicPr>
          <p:cNvPr id="4" name="Picture 3" descr="ill_e.png"/>
          <p:cNvPicPr>
            <a:picLocks noChangeAspect="1"/>
          </p:cNvPicPr>
          <p:nvPr/>
        </p:nvPicPr>
        <p:blipFill>
          <a:blip r:embed="rId3"/>
          <a:stretch>
            <a:fillRect/>
          </a:stretch>
        </p:blipFill>
        <p:spPr>
          <a:xfrm>
            <a:off x="1009634" y="1783080"/>
            <a:ext cx="10172700"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「再現の仕方」まで分解できれば、伸びた理由を根拠を持って語れる</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CASE STUDY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実例：500人 → 3本で1,000人増の道筋</a:t>
            </a:r>
            <a:endParaRPr lang="en-US" sz="3000" dirty="0"/>
          </a:p>
        </p:txBody>
      </p:sp>
      <p:sp>
        <p:nvSpPr>
          <p:cNvPr id="5" name="Shape 2"/>
          <p:cNvSpPr/>
          <p:nvPr/>
        </p:nvSpPr>
        <p:spPr>
          <a:xfrm>
            <a:off x="731520" y="1892808"/>
            <a:ext cx="475488" cy="475488"/>
          </a:xfrm>
          <a:prstGeom prst="ellipse">
            <a:avLst/>
          </a:prstGeom>
          <a:solidFill>
            <a:srgbClr val="C40000"/>
          </a:solidFill>
          <a:ln/>
        </p:spPr>
        <p:txBody>
          <a:bodyPr/>
          <a:p/>
        </p:txBody>
      </p:sp>
      <p:sp>
        <p:nvSpPr>
          <p:cNvPr id="6" name="Text 3"/>
          <p:cNvSpPr txBox="1"/>
          <p:nvPr/>
        </p:nvSpPr>
        <p:spPr>
          <a:xfrm>
            <a:off x="731520" y="188366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7" name="Text 4"/>
          <p:cNvSpPr txBox="1"/>
          <p:nvPr/>
        </p:nvSpPr>
        <p:spPr>
          <a:xfrm>
            <a:off x="1463040" y="1783080"/>
            <a:ext cx="3291840" cy="9144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俯瞰する</a:t>
            </a:r>
            <a:endParaRPr lang="en-US" sz="2100" dirty="0"/>
          </a:p>
        </p:txBody>
      </p:sp>
      <p:sp>
        <p:nvSpPr>
          <p:cNvPr id="8" name="Text 5"/>
          <p:cNvSpPr txBox="1"/>
          <p:nvPr/>
        </p:nvSpPr>
        <p:spPr>
          <a:xfrm>
            <a:off x="4846320" y="178308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陸上の動画を片っ端から見る。</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多いのはスパイクのレビュー、練習vlog、走り方のコツ</a:t>
            </a:r>
            <a:endParaRPr lang="en-US" sz="1800" dirty="0"/>
          </a:p>
        </p:txBody>
      </p:sp>
      <p:sp>
        <p:nvSpPr>
          <p:cNvPr id="9" name="Shape 6"/>
          <p:cNvSpPr/>
          <p:nvPr/>
        </p:nvSpPr>
        <p:spPr>
          <a:xfrm>
            <a:off x="731520" y="2944368"/>
            <a:ext cx="475488" cy="475488"/>
          </a:xfrm>
          <a:prstGeom prst="ellipse">
            <a:avLst/>
          </a:prstGeom>
          <a:solidFill>
            <a:srgbClr val="C40000"/>
          </a:solidFill>
          <a:ln/>
        </p:spPr>
        <p:txBody>
          <a:bodyPr/>
          <a:p/>
        </p:txBody>
      </p:sp>
      <p:sp>
        <p:nvSpPr>
          <p:cNvPr id="10" name="Text 7"/>
          <p:cNvSpPr txBox="1"/>
          <p:nvPr/>
        </p:nvSpPr>
        <p:spPr>
          <a:xfrm>
            <a:off x="731520" y="293522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1" name="Text 8"/>
          <p:cNvSpPr txBox="1"/>
          <p:nvPr/>
        </p:nvSpPr>
        <p:spPr>
          <a:xfrm>
            <a:off x="1463040" y="2834640"/>
            <a:ext cx="3291840" cy="9144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成功ラインを知る</a:t>
            </a:r>
            <a:endParaRPr lang="en-US" sz="2100" dirty="0"/>
          </a:p>
        </p:txBody>
      </p:sp>
      <p:sp>
        <p:nvSpPr>
          <p:cNvPr id="12" name="Text 9"/>
          <p:cNvSpPr txBox="1"/>
          <p:nvPr/>
        </p:nvSpPr>
        <p:spPr>
          <a:xfrm>
            <a:off x="4846320" y="283464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ジャンルの平均は1〜2万再生。</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過去のコールマン解説は3万再生＝需要あり</a:t>
            </a:r>
            <a:endParaRPr lang="en-US" sz="1800" dirty="0"/>
          </a:p>
        </p:txBody>
      </p:sp>
      <p:sp>
        <p:nvSpPr>
          <p:cNvPr id="13" name="Shape 10"/>
          <p:cNvSpPr/>
          <p:nvPr/>
        </p:nvSpPr>
        <p:spPr>
          <a:xfrm>
            <a:off x="731520" y="3995928"/>
            <a:ext cx="475488" cy="475488"/>
          </a:xfrm>
          <a:prstGeom prst="ellipse">
            <a:avLst/>
          </a:prstGeom>
          <a:solidFill>
            <a:srgbClr val="C40000"/>
          </a:solidFill>
          <a:ln/>
        </p:spPr>
        <p:txBody>
          <a:bodyPr/>
          <a:p/>
        </p:txBody>
      </p:sp>
      <p:sp>
        <p:nvSpPr>
          <p:cNvPr id="14" name="Text 11"/>
          <p:cNvSpPr txBox="1"/>
          <p:nvPr/>
        </p:nvSpPr>
        <p:spPr>
          <a:xfrm>
            <a:off x="731520" y="398678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5" name="Text 12"/>
          <p:cNvSpPr txBox="1"/>
          <p:nvPr/>
        </p:nvSpPr>
        <p:spPr>
          <a:xfrm>
            <a:off x="1463040" y="3886200"/>
            <a:ext cx="3291840" cy="9144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激戦区を知る</a:t>
            </a:r>
            <a:endParaRPr lang="en-US" sz="2100" dirty="0"/>
          </a:p>
        </p:txBody>
      </p:sp>
      <p:sp>
        <p:nvSpPr>
          <p:cNvPr id="16" name="Text 13"/>
          <p:cNvSpPr txBox="1"/>
          <p:nvPr/>
        </p:nvSpPr>
        <p:spPr>
          <a:xfrm>
            <a:off x="4846320" y="388620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スパイクのレビューや練習vlogは、</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強い人がひしめく激戦区</a:t>
            </a:r>
            <a:endParaRPr lang="en-US" sz="1800" dirty="0"/>
          </a:p>
        </p:txBody>
      </p:sp>
      <p:sp>
        <p:nvSpPr>
          <p:cNvPr id="17" name="Shape 14"/>
          <p:cNvSpPr/>
          <p:nvPr/>
        </p:nvSpPr>
        <p:spPr>
          <a:xfrm>
            <a:off x="731520" y="5047488"/>
            <a:ext cx="475488" cy="475488"/>
          </a:xfrm>
          <a:prstGeom prst="ellipse">
            <a:avLst/>
          </a:prstGeom>
          <a:solidFill>
            <a:srgbClr val="8A0000"/>
          </a:solidFill>
          <a:ln/>
        </p:spPr>
        <p:txBody>
          <a:bodyPr/>
          <a:p/>
        </p:txBody>
      </p:sp>
      <p:sp>
        <p:nvSpPr>
          <p:cNvPr id="18" name="Text 15"/>
          <p:cNvSpPr txBox="1"/>
          <p:nvPr/>
        </p:nvSpPr>
        <p:spPr>
          <a:xfrm>
            <a:off x="731520" y="503834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4</a:t>
            </a:r>
            <a:endParaRPr lang="en-US" sz="2200" dirty="0"/>
          </a:p>
        </p:txBody>
      </p:sp>
      <p:sp>
        <p:nvSpPr>
          <p:cNvPr id="19" name="Text 16"/>
          <p:cNvSpPr txBox="1"/>
          <p:nvPr/>
        </p:nvSpPr>
        <p:spPr>
          <a:xfrm>
            <a:off x="1463040" y="4937760"/>
            <a:ext cx="3291840" cy="914400"/>
          </a:xfrm>
          <a:prstGeom prst="rect">
            <a:avLst/>
          </a:prstGeom>
          <a:noFill/>
          <a:ln/>
        </p:spPr>
        <p:txBody>
          <a:bodyPr wrap="square" lIns="0" tIns="0" rIns="0" bIns="0" rtlCol="0" anchor="ctr"/>
          <a:lstStyle/>
          <a:p>
            <a:pPr indent="0" marL="0">
              <a:buNone/>
            </a:pPr>
            <a:r>
              <a:rPr lang="en-US" sz="2100" b="1" dirty="0">
                <a:solidFill>
                  <a:srgbClr val="C40000"/>
                </a:solidFill>
                <a:latin typeface="Meiryo" pitchFamily="34" charset="0"/>
                <a:ea typeface="Meiryo" pitchFamily="34" charset="-122"/>
                <a:cs typeface="Meiryo" pitchFamily="34" charset="-120"/>
              </a:rPr>
              <a:t>空いている場所を見つける</a:t>
            </a:r>
            <a:endParaRPr lang="en-US" sz="2100" dirty="0"/>
          </a:p>
        </p:txBody>
      </p:sp>
      <p:sp>
        <p:nvSpPr>
          <p:cNvPr id="20" name="Text 17"/>
          <p:cNvSpPr txBox="1"/>
          <p:nvPr/>
        </p:nvSpPr>
        <p:spPr>
          <a:xfrm>
            <a:off x="4846320" y="493776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プロの走りを徹底解説するチャンネルがない</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→「これなら勝てる」</a:t>
            </a:r>
            <a:endParaRPr lang="en-US" sz="1800" dirty="0"/>
          </a:p>
        </p:txBody>
      </p:sp>
      <p:sp>
        <p:nvSpPr>
          <p:cNvPr id="21" name="Text 18"/>
          <p:cNvSpPr txBox="1"/>
          <p:nvPr/>
        </p:nvSpPr>
        <p:spPr>
          <a:xfrm>
            <a:off x="640080" y="6080760"/>
            <a:ext cx="11155680" cy="548640"/>
          </a:xfrm>
          <a:prstGeom prst="rect">
            <a:avLst/>
          </a:prstGeom>
          <a:noFill/>
          <a:ln/>
        </p:spPr>
        <p:txBody>
          <a:bodyPr wrap="square" lIns="0" tIns="0" rIns="0" bIns="0" rtlCol="0" anchor="ctr"/>
          <a:lstStyle/>
          <a:p>
            <a:pPr indent="0" marL="0">
              <a:buNone/>
            </a:pPr>
            <a:r>
              <a:rPr lang="en-US" sz="1900" b="1" dirty="0">
                <a:solidFill>
                  <a:srgbClr val="C40000"/>
                </a:solidFill>
                <a:latin typeface="Meiryo" pitchFamily="34" charset="0"/>
                <a:ea typeface="Meiryo" pitchFamily="34" charset="-122"/>
                <a:cs typeface="Meiryo" pitchFamily="34" charset="-120"/>
              </a:rPr>
              <a:t>3本で登録者1,000人以上増・4,000時間達成。4本で合計約9万再生</a:t>
            </a:r>
            <a:endParaRPr lang="en-US" sz="1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ACTUAL VIDEOS</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実際に出した4本：プロの走りを「科学的に分析」</a:t>
            </a:r>
            <a:endParaRPr lang="en-US" sz="3000" dirty="0"/>
          </a:p>
        </p:txBody>
      </p:sp>
      <p:sp>
        <p:nvSpPr>
          <p:cNvPr id="21" name="Text 18"/>
          <p:cNvSpPr txBox="1"/>
          <p:nvPr/>
        </p:nvSpPr>
        <p:spPr>
          <a:xfrm>
            <a:off x="640080" y="6080760"/>
            <a:ext cx="11155680" cy="548640"/>
          </a:xfrm>
          <a:prstGeom prst="rect">
            <a:avLst/>
          </a:prstGeom>
          <a:noFill/>
          <a:ln/>
        </p:spPr>
        <p:txBody>
          <a:bodyPr wrap="square" lIns="0" tIns="0" rIns="0" bIns="0" rtlCol="0" anchor="ctr"/>
          <a:lstStyle/>
          <a:p>
            <a:pPr indent="0" marL="0">
              <a:buNone/>
            </a:pPr>
            <a:r>
              <a:rPr lang="en-US" sz="1900" b="1" dirty="0">
                <a:solidFill>
                  <a:srgbClr val="C40000"/>
                </a:solidFill>
                <a:latin typeface="Meiryo" pitchFamily="34" charset="0"/>
                <a:ea typeface="Meiryo" pitchFamily="34" charset="-122"/>
                <a:cs typeface="Meiryo" pitchFamily="34" charset="-120"/>
              </a:rPr>
              <a:t>平均1〜2万再生のジャンルで、4本すべてが平均以上。蘇炳添は3.6万再生</a:t>
            </a:r>
            <a:endParaRPr lang="en-US" sz="1900" dirty="0"/>
          </a:p>
        </p:txBody>
      </p:sp>
      <p:pic>
        <p:nvPicPr>
          <p:cNvPr id="22" name="Picture 21" descr="th_lyles_f.png"/>
          <p:cNvPicPr>
            <a:picLocks noChangeAspect="1"/>
          </p:cNvPicPr>
          <p:nvPr/>
        </p:nvPicPr>
        <p:blipFill>
          <a:blip r:embed="rId2"/>
          <a:stretch>
            <a:fillRect/>
          </a:stretch>
        </p:blipFill>
        <p:spPr>
          <a:xfrm>
            <a:off x="640080" y="1965960"/>
            <a:ext cx="2606040" cy="1465897"/>
          </a:xfrm>
          <a:prstGeom prst="rect">
            <a:avLst/>
          </a:prstGeom>
        </p:spPr>
      </p:pic>
      <p:sp>
        <p:nvSpPr>
          <p:cNvPr id="23" name="TextBox 22"/>
          <p:cNvSpPr txBox="1"/>
          <p:nvPr/>
        </p:nvSpPr>
        <p:spPr>
          <a:xfrm>
            <a:off x="640080" y="3569017"/>
            <a:ext cx="2606040" cy="822960"/>
          </a:xfrm>
          <a:prstGeom prst="rect">
            <a:avLst/>
          </a:prstGeom>
          <a:noFill/>
        </p:spPr>
        <p:txBody>
          <a:bodyPr wrap="square" lIns="0" rIns="0" tIns="0" bIns="0">
            <a:spAutoFit/>
          </a:bodyPr>
          <a:lstStyle/>
          <a:p>
            <a:r>
              <a:rPr sz="1600" b="1">
                <a:solidFill>
                  <a:srgbClr val="222222"/>
                </a:solidFill>
              </a:rPr>
              <a:t>ノア・ライルズ</a:t>
            </a:r>
          </a:p>
          <a:p>
            <a:r>
              <a:rPr sz="2200" b="1">
                <a:solidFill>
                  <a:srgbClr val="C40000"/>
                </a:solidFill>
              </a:rPr>
              <a:t>1.4万再生</a:t>
            </a:r>
          </a:p>
        </p:txBody>
      </p:sp>
      <p:pic>
        <p:nvPicPr>
          <p:cNvPr id="24" name="Picture 23" descr="th_kiryu_f.png"/>
          <p:cNvPicPr>
            <a:picLocks noChangeAspect="1"/>
          </p:cNvPicPr>
          <p:nvPr/>
        </p:nvPicPr>
        <p:blipFill>
          <a:blip r:embed="rId3"/>
          <a:stretch>
            <a:fillRect/>
          </a:stretch>
        </p:blipFill>
        <p:spPr>
          <a:xfrm>
            <a:off x="3429000" y="1965960"/>
            <a:ext cx="2606040" cy="1465897"/>
          </a:xfrm>
          <a:prstGeom prst="rect">
            <a:avLst/>
          </a:prstGeom>
        </p:spPr>
      </p:pic>
      <p:sp>
        <p:nvSpPr>
          <p:cNvPr id="25" name="TextBox 24"/>
          <p:cNvSpPr txBox="1"/>
          <p:nvPr/>
        </p:nvSpPr>
        <p:spPr>
          <a:xfrm>
            <a:off x="3429000" y="3569017"/>
            <a:ext cx="2606040" cy="822960"/>
          </a:xfrm>
          <a:prstGeom prst="rect">
            <a:avLst/>
          </a:prstGeom>
          <a:noFill/>
        </p:spPr>
        <p:txBody>
          <a:bodyPr wrap="square" lIns="0" rIns="0" tIns="0" bIns="0">
            <a:spAutoFit/>
          </a:bodyPr>
          <a:lstStyle/>
          <a:p>
            <a:r>
              <a:rPr sz="1600" b="1">
                <a:solidFill>
                  <a:srgbClr val="222222"/>
                </a:solidFill>
              </a:rPr>
              <a:t>桐生祥秀</a:t>
            </a:r>
          </a:p>
          <a:p>
            <a:r>
              <a:rPr sz="2200" b="1">
                <a:solidFill>
                  <a:srgbClr val="C40000"/>
                </a:solidFill>
              </a:rPr>
              <a:t>1.9万再生</a:t>
            </a:r>
          </a:p>
        </p:txBody>
      </p:sp>
      <p:pic>
        <p:nvPicPr>
          <p:cNvPr id="26" name="Picture 25" descr="th_su_f.png"/>
          <p:cNvPicPr>
            <a:picLocks noChangeAspect="1"/>
          </p:cNvPicPr>
          <p:nvPr/>
        </p:nvPicPr>
        <p:blipFill>
          <a:blip r:embed="rId4"/>
          <a:stretch>
            <a:fillRect/>
          </a:stretch>
        </p:blipFill>
        <p:spPr>
          <a:xfrm>
            <a:off x="6217920" y="1965960"/>
            <a:ext cx="2606040" cy="1465897"/>
          </a:xfrm>
          <a:prstGeom prst="rect">
            <a:avLst/>
          </a:prstGeom>
        </p:spPr>
      </p:pic>
      <p:sp>
        <p:nvSpPr>
          <p:cNvPr id="27" name="TextBox 26"/>
          <p:cNvSpPr txBox="1"/>
          <p:nvPr/>
        </p:nvSpPr>
        <p:spPr>
          <a:xfrm>
            <a:off x="6217920" y="3569017"/>
            <a:ext cx="2606040" cy="822960"/>
          </a:xfrm>
          <a:prstGeom prst="rect">
            <a:avLst/>
          </a:prstGeom>
          <a:noFill/>
        </p:spPr>
        <p:txBody>
          <a:bodyPr wrap="square" lIns="0" rIns="0" tIns="0" bIns="0">
            <a:spAutoFit/>
          </a:bodyPr>
          <a:lstStyle/>
          <a:p>
            <a:r>
              <a:rPr sz="1600" b="1">
                <a:solidFill>
                  <a:srgbClr val="222222"/>
                </a:solidFill>
              </a:rPr>
              <a:t>蘇炳添</a:t>
            </a:r>
          </a:p>
          <a:p>
            <a:r>
              <a:rPr sz="2200" b="1">
                <a:solidFill>
                  <a:srgbClr val="C40000"/>
                </a:solidFill>
              </a:rPr>
              <a:t>3.6万再生</a:t>
            </a:r>
          </a:p>
        </p:txBody>
      </p:sp>
      <p:pic>
        <p:nvPicPr>
          <p:cNvPr id="28" name="Picture 27" descr="th_sani_f.png"/>
          <p:cNvPicPr>
            <a:picLocks noChangeAspect="1"/>
          </p:cNvPicPr>
          <p:nvPr/>
        </p:nvPicPr>
        <p:blipFill>
          <a:blip r:embed="rId5"/>
          <a:stretch>
            <a:fillRect/>
          </a:stretch>
        </p:blipFill>
        <p:spPr>
          <a:xfrm>
            <a:off x="9006840" y="1965960"/>
            <a:ext cx="2606040" cy="1465897"/>
          </a:xfrm>
          <a:prstGeom prst="rect">
            <a:avLst/>
          </a:prstGeom>
        </p:spPr>
      </p:pic>
      <p:sp>
        <p:nvSpPr>
          <p:cNvPr id="29" name="TextBox 28"/>
          <p:cNvSpPr txBox="1"/>
          <p:nvPr/>
        </p:nvSpPr>
        <p:spPr>
          <a:xfrm>
            <a:off x="9006840" y="3569017"/>
            <a:ext cx="2606040" cy="822960"/>
          </a:xfrm>
          <a:prstGeom prst="rect">
            <a:avLst/>
          </a:prstGeom>
          <a:noFill/>
        </p:spPr>
        <p:txBody>
          <a:bodyPr wrap="square" lIns="0" rIns="0" tIns="0" bIns="0">
            <a:spAutoFit/>
          </a:bodyPr>
          <a:lstStyle/>
          <a:p>
            <a:r>
              <a:rPr sz="1600" b="1">
                <a:solidFill>
                  <a:srgbClr val="222222"/>
                </a:solidFill>
              </a:rPr>
              <a:t>サニブラウン</a:t>
            </a:r>
          </a:p>
          <a:p>
            <a:r>
              <a:rPr sz="2200" b="1">
                <a:solidFill>
                  <a:srgbClr val="C40000"/>
                </a:solidFill>
              </a:rPr>
              <a:t>1.7万再生</a:t>
            </a:r>
          </a:p>
        </p:txBody>
      </p:sp>
      <p:sp>
        <p:nvSpPr>
          <p:cNvPr id="7" name="Shape 4"/>
          <p:cNvSpPr/>
          <p:nvPr/>
        </p:nvSpPr>
        <p:spPr>
          <a:xfrm>
            <a:off x="640080" y="4480560"/>
            <a:ext cx="10972800" cy="1143000"/>
          </a:xfrm>
          <a:prstGeom prst="roundRect">
            <a:avLst>
              <a:gd name="adj" fmla="val 5455"/>
            </a:avLst>
          </a:prstGeom>
          <a:solidFill>
            <a:srgbClr val="FFF3C4"/>
          </a:solidFill>
          <a:ln/>
        </p:spPr>
      </p:sp>
      <p:sp>
        <p:nvSpPr>
          <p:cNvPr id="30" name="TextBox 29"/>
          <p:cNvSpPr txBox="1"/>
          <p:nvPr/>
        </p:nvSpPr>
        <p:spPr>
          <a:xfrm>
            <a:off x="1005840" y="4480560"/>
            <a:ext cx="10241280" cy="1143000"/>
          </a:xfrm>
          <a:prstGeom prst="rect">
            <a:avLst/>
          </a:prstGeom>
          <a:noFill/>
        </p:spPr>
        <p:txBody>
          <a:bodyPr wrap="square" anchor="ctr" lIns="0" rIns="0" tIns="0" bIns="0">
            <a:spAutoFit/>
          </a:bodyPr>
          <a:lstStyle/>
          <a:p>
            <a:r>
              <a:rPr sz="1400" b="1">
                <a:solidFill>
                  <a:srgbClr val="C40000"/>
                </a:solidFill>
              </a:rPr>
              <a:t>サムネの共通の型</a:t>
            </a:r>
          </a:p>
          <a:p>
            <a:r>
              <a:rPr sz="2000" b="1">
                <a:solidFill>
                  <a:srgbClr val="222222"/>
                </a:solidFill>
              </a:rPr>
              <a:t>選手名 ＋ 実績の数字 ＋「〇〇」で答えを隠す → 続きが気になって、クリックしたくなる</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PLAN</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目標「月10万円」から逆算する</a:t>
            </a:r>
            <a:endParaRPr lang="en-US" sz="3000" dirty="0"/>
          </a:p>
        </p:txBody>
      </p:sp>
      <p:sp>
        <p:nvSpPr>
          <p:cNvPr id="5" name="Shape 2"/>
          <p:cNvSpPr/>
          <p:nvPr/>
        </p:nvSpPr>
        <p:spPr>
          <a:xfrm>
            <a:off x="640080" y="1920240"/>
            <a:ext cx="3520440" cy="3566160"/>
          </a:xfrm>
          <a:prstGeom prst="roundRect">
            <a:avLst>
              <a:gd name="adj" fmla="val 3117"/>
            </a:avLst>
          </a:prstGeom>
          <a:solidFill>
            <a:srgbClr val="FFF3C4"/>
          </a:solidFill>
          <a:ln/>
        </p:spPr>
      </p:sp>
      <p:sp>
        <p:nvSpPr>
          <p:cNvPr id="6" name="Shape 3"/>
          <p:cNvSpPr/>
          <p:nvPr/>
        </p:nvSpPr>
        <p:spPr>
          <a:xfrm>
            <a:off x="1005840" y="2286000"/>
            <a:ext cx="475488" cy="475488"/>
          </a:xfrm>
          <a:prstGeom prst="ellipse">
            <a:avLst/>
          </a:prstGeom>
          <a:solidFill>
            <a:srgbClr val="C40000"/>
          </a:solidFill>
          <a:ln/>
        </p:spPr>
      </p:sp>
      <p:sp>
        <p:nvSpPr>
          <p:cNvPr id="7" name="Text 4"/>
          <p:cNvSpPr txBox="1"/>
          <p:nvPr/>
        </p:nvSpPr>
        <p:spPr>
          <a:xfrm>
            <a:off x="100584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8" name="Text 5"/>
          <p:cNvSpPr txBox="1"/>
          <p:nvPr/>
        </p:nvSpPr>
        <p:spPr>
          <a:xfrm>
            <a:off x="100584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上限を見積もる</a:t>
            </a:r>
            <a:endParaRPr lang="en-US" sz="2400" dirty="0"/>
          </a:p>
        </p:txBody>
      </p:sp>
      <p:sp>
        <p:nvSpPr>
          <p:cNvPr id="9" name="Text 6"/>
          <p:cNvSpPr txBox="1"/>
          <p:nvPr/>
        </p:nvSpPr>
        <p:spPr>
          <a:xfrm>
            <a:off x="100584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プロの走りの解説は、</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1本あたり最大10万再生</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くらいが上限の見込み</a:t>
            </a:r>
            <a:endParaRPr lang="en-US" sz="1800" dirty="0"/>
          </a:p>
        </p:txBody>
      </p:sp>
      <p:sp>
        <p:nvSpPr>
          <p:cNvPr id="10" name="Shape 7"/>
          <p:cNvSpPr/>
          <p:nvPr/>
        </p:nvSpPr>
        <p:spPr>
          <a:xfrm>
            <a:off x="4434840" y="1920240"/>
            <a:ext cx="3520440" cy="3566160"/>
          </a:xfrm>
          <a:prstGeom prst="roundRect">
            <a:avLst>
              <a:gd name="adj" fmla="val 3117"/>
            </a:avLst>
          </a:prstGeom>
          <a:solidFill>
            <a:srgbClr val="FFF3C4"/>
          </a:solidFill>
          <a:ln/>
        </p:spPr>
      </p:sp>
      <p:sp>
        <p:nvSpPr>
          <p:cNvPr id="11" name="Shape 8"/>
          <p:cNvSpPr/>
          <p:nvPr/>
        </p:nvSpPr>
        <p:spPr>
          <a:xfrm>
            <a:off x="4800600" y="2286000"/>
            <a:ext cx="475488" cy="475488"/>
          </a:xfrm>
          <a:prstGeom prst="ellipse">
            <a:avLst/>
          </a:prstGeom>
          <a:solidFill>
            <a:srgbClr val="C40000"/>
          </a:solidFill>
          <a:ln/>
        </p:spPr>
      </p:sp>
      <p:sp>
        <p:nvSpPr>
          <p:cNvPr id="12" name="Text 9"/>
          <p:cNvSpPr txBox="1"/>
          <p:nvPr/>
        </p:nvSpPr>
        <p:spPr>
          <a:xfrm>
            <a:off x="480060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3" name="Text 10"/>
          <p:cNvSpPr txBox="1"/>
          <p:nvPr/>
        </p:nvSpPr>
        <p:spPr>
          <a:xfrm>
            <a:off x="480060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収益を計算する</a:t>
            </a:r>
            <a:endParaRPr lang="en-US" sz="2400" dirty="0"/>
          </a:p>
        </p:txBody>
      </p:sp>
      <p:sp>
        <p:nvSpPr>
          <p:cNvPr id="14" name="Text 11"/>
          <p:cNvSpPr txBox="1"/>
          <p:nvPr/>
        </p:nvSpPr>
        <p:spPr>
          <a:xfrm>
            <a:off x="480060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週1本×10万再生</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＝月40万再生</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×1再生 約0.3円</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＝月10万円前後</a:t>
            </a:r>
            <a:endParaRPr lang="en-US" sz="1800" dirty="0"/>
          </a:p>
        </p:txBody>
      </p:sp>
      <p:sp>
        <p:nvSpPr>
          <p:cNvPr id="15" name="Shape 12"/>
          <p:cNvSpPr/>
          <p:nvPr/>
        </p:nvSpPr>
        <p:spPr>
          <a:xfrm>
            <a:off x="8229600" y="1920240"/>
            <a:ext cx="3520440" cy="3566160"/>
          </a:xfrm>
          <a:prstGeom prst="roundRect">
            <a:avLst>
              <a:gd name="adj" fmla="val 3117"/>
            </a:avLst>
          </a:prstGeom>
          <a:solidFill>
            <a:srgbClr val="FFF3C4"/>
          </a:solidFill>
          <a:ln/>
        </p:spPr>
      </p:sp>
      <p:sp>
        <p:nvSpPr>
          <p:cNvPr id="16" name="Shape 13"/>
          <p:cNvSpPr/>
          <p:nvPr/>
        </p:nvSpPr>
        <p:spPr>
          <a:xfrm>
            <a:off x="8595360" y="2286000"/>
            <a:ext cx="475488" cy="475488"/>
          </a:xfrm>
          <a:prstGeom prst="ellipse">
            <a:avLst/>
          </a:prstGeom>
          <a:solidFill>
            <a:srgbClr val="C40000"/>
          </a:solidFill>
          <a:ln/>
        </p:spPr>
      </p:sp>
      <p:sp>
        <p:nvSpPr>
          <p:cNvPr id="17" name="Text 14"/>
          <p:cNvSpPr txBox="1"/>
          <p:nvPr/>
        </p:nvSpPr>
        <p:spPr>
          <a:xfrm>
            <a:off x="859536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8" name="Text 15"/>
          <p:cNvSpPr txBox="1"/>
          <p:nvPr/>
        </p:nvSpPr>
        <p:spPr>
          <a:xfrm>
            <a:off x="859536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上乗せする</a:t>
            </a:r>
            <a:endParaRPr lang="en-US" sz="2400" dirty="0"/>
          </a:p>
        </p:txBody>
      </p:sp>
      <p:sp>
        <p:nvSpPr>
          <p:cNvPr id="19" name="Text 16"/>
          <p:cNvSpPr txBox="1"/>
          <p:nvPr/>
        </p:nvSpPr>
        <p:spPr>
          <a:xfrm>
            <a:off x="859536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走り方の講習会</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（1人1,000円など）や</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自社商品の開発につなげる</a:t>
            </a:r>
            <a:endParaRPr lang="en-US" sz="1800" dirty="0"/>
          </a:p>
        </p:txBody>
      </p:sp>
      <p:sp>
        <p:nvSpPr>
          <p:cNvPr id="20" name="Text 17"/>
          <p:cNvSpPr txBox="1"/>
          <p:nvPr/>
        </p:nvSpPr>
        <p:spPr>
          <a:xfrm>
            <a:off x="640080" y="5852160"/>
            <a:ext cx="10972800" cy="548640"/>
          </a:xfrm>
          <a:prstGeom prst="rect">
            <a:avLst/>
          </a:prstGeom>
          <a:noFill/>
          <a:ln/>
        </p:spPr>
        <p:txBody>
          <a:bodyPr wrap="square" lIns="0" tIns="0" rIns="0" bIns="0" rtlCol="0" anchor="ctr"/>
          <a:lstStyle/>
          <a:p>
            <a:pPr indent="0" marL="0">
              <a:buNone/>
            </a:pPr>
            <a:r>
              <a:rPr lang="en-US" sz="2200" b="1" dirty="0">
                <a:solidFill>
                  <a:srgbClr val="C40000"/>
                </a:solidFill>
                <a:latin typeface="Meiryo" pitchFamily="34" charset="0"/>
                <a:ea typeface="Meiryo" pitchFamily="34" charset="-122"/>
                <a:cs typeface="Meiryo" pitchFamily="34" charset="-120"/>
              </a:rPr>
              <a:t>本人の実績（社会人から100m 11秒台→10秒台）が、解説の説得力になる</a:t>
            </a:r>
            <a:endParaRPr lang="en-US" sz="2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HONESTLY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正直な後日談</a:t>
            </a:r>
            <a:endParaRPr lang="en-US" sz="3000" dirty="0"/>
          </a:p>
        </p:txBody>
      </p:sp>
      <p:sp>
        <p:nvSpPr>
          <p:cNvPr id="5" name="Text 2"/>
          <p:cNvSpPr txBox="1"/>
          <p:nvPr/>
        </p:nvSpPr>
        <p:spPr>
          <a:xfrm>
            <a:off x="640080" y="1920240"/>
            <a:ext cx="10972800" cy="548640"/>
          </a:xfrm>
          <a:prstGeom prst="rect">
            <a:avLst/>
          </a:prstGeom>
          <a:noFill/>
          <a:ln/>
        </p:spPr>
        <p:txBody>
          <a:bodyPr wrap="square" lIns="0" tIns="0" rIns="0" bIns="0" rtlCol="0" anchor="ctr"/>
          <a:lstStyle/>
          <a:p>
            <a:pPr indent="0" marL="0">
              <a:buNone/>
            </a:pPr>
            <a:r>
              <a:rPr lang="en-US" sz="2300" b="1" dirty="0">
                <a:solidFill>
                  <a:srgbClr val="222222"/>
                </a:solidFill>
                <a:latin typeface="Meiryo" pitchFamily="34" charset="0"/>
                <a:ea typeface="Meiryo" pitchFamily="34" charset="-122"/>
                <a:cs typeface="Meiryo" pitchFamily="34" charset="-120"/>
              </a:rPr>
              <a:t>実は今、このチャンネルの更新は止まっています。</a:t>
            </a:r>
            <a:endParaRPr lang="en-US" sz="2300" dirty="0"/>
          </a:p>
        </p:txBody>
      </p:sp>
      <p:sp>
        <p:nvSpPr>
          <p:cNvPr id="6" name="Text 3"/>
          <p:cNvSpPr txBox="1"/>
          <p:nvPr/>
        </p:nvSpPr>
        <p:spPr>
          <a:xfrm>
            <a:off x="640080" y="2560320"/>
            <a:ext cx="10972800" cy="100584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講習会や商品開発につなげる予定だったが、会社員とYouTubeの両立で熱量が下がり、</a:t>
            </a:r>
            <a:br>
              <a:rPr lang="en-US" sz="1900" dirty="0">
                <a:solidFill>
                  <a:srgbClr val="666666"/>
                </a:solidFill>
                <a:latin typeface="Meiryo" pitchFamily="34" charset="0"/>
                <a:ea typeface="Meiryo" pitchFamily="34" charset="-122"/>
                <a:cs typeface="Meiryo" pitchFamily="34" charset="-120"/>
              </a:rPr>
            </a:br>
            <a:r>
              <a:rPr lang="en-US" sz="1900" dirty="0">
                <a:solidFill>
                  <a:srgbClr val="666666"/>
                </a:solidFill>
                <a:latin typeface="Meiryo" pitchFamily="34" charset="0"/>
                <a:ea typeface="Meiryo" pitchFamily="34" charset="-122"/>
                <a:cs typeface="Meiryo" pitchFamily="34" charset="-120"/>
              </a:rPr>
              <a:t>連絡も途絶えがちに。途中で更新が止まってしまった。……惜しい。</a:t>
            </a:r>
            <a:endParaRPr lang="en-US" sz="1900" dirty="0"/>
          </a:p>
        </p:txBody>
      </p:sp>
      <p:sp>
        <p:nvSpPr>
          <p:cNvPr id="7" name="Shape 4"/>
          <p:cNvSpPr/>
          <p:nvPr/>
        </p:nvSpPr>
        <p:spPr>
          <a:xfrm>
            <a:off x="640080" y="3840480"/>
            <a:ext cx="5257800" cy="2011680"/>
          </a:xfrm>
          <a:prstGeom prst="roundRect">
            <a:avLst>
              <a:gd name="adj" fmla="val 5455"/>
            </a:avLst>
          </a:prstGeom>
          <a:solidFill>
            <a:srgbClr val="FFF3C4"/>
          </a:solidFill>
          <a:ln/>
        </p:spPr>
      </p:sp>
      <p:sp>
        <p:nvSpPr>
          <p:cNvPr id="8" name="Text 5"/>
          <p:cNvSpPr txBox="1"/>
          <p:nvPr/>
        </p:nvSpPr>
        <p:spPr>
          <a:xfrm>
            <a:off x="1005840" y="4160520"/>
            <a:ext cx="4572000" cy="54864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正しい道筋を立てる</a:t>
            </a:r>
            <a:endParaRPr lang="en-US" sz="2200" dirty="0"/>
          </a:p>
        </p:txBody>
      </p:sp>
      <p:sp>
        <p:nvSpPr>
          <p:cNvPr id="9" name="Text 6"/>
          <p:cNvSpPr txBox="1"/>
          <p:nvPr/>
        </p:nvSpPr>
        <p:spPr>
          <a:xfrm>
            <a:off x="1005840" y="4846320"/>
            <a:ext cx="4572000" cy="7315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俯瞰 → 成功ライン → 激戦区 → 空いている場所</a:t>
            </a:r>
            <a:endParaRPr lang="en-US" sz="1800" dirty="0"/>
          </a:p>
        </p:txBody>
      </p:sp>
      <p:sp>
        <p:nvSpPr>
          <p:cNvPr id="10" name="Shape 7"/>
          <p:cNvSpPr/>
          <p:nvPr/>
        </p:nvSpPr>
        <p:spPr>
          <a:xfrm>
            <a:off x="6309360" y="3840480"/>
            <a:ext cx="5257800" cy="2011680"/>
          </a:xfrm>
          <a:prstGeom prst="roundRect">
            <a:avLst>
              <a:gd name="adj" fmla="val 5455"/>
            </a:avLst>
          </a:prstGeom>
          <a:solidFill>
            <a:srgbClr val="C40000"/>
          </a:solidFill>
          <a:ln/>
        </p:spPr>
      </p:sp>
      <p:sp>
        <p:nvSpPr>
          <p:cNvPr id="11" name="Text 8"/>
          <p:cNvSpPr txBox="1"/>
          <p:nvPr/>
        </p:nvSpPr>
        <p:spPr>
          <a:xfrm>
            <a:off x="6675120" y="4160520"/>
            <a:ext cx="4572000" cy="54864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続けられる体制で始める</a:t>
            </a:r>
            <a:endParaRPr lang="en-US" sz="2200" dirty="0"/>
          </a:p>
        </p:txBody>
      </p:sp>
      <p:sp>
        <p:nvSpPr>
          <p:cNvPr id="12" name="Text 9"/>
          <p:cNvSpPr txBox="1"/>
          <p:nvPr/>
        </p:nvSpPr>
        <p:spPr>
          <a:xfrm>
            <a:off x="6675120" y="4846320"/>
            <a:ext cx="4572000" cy="731520"/>
          </a:xfrm>
          <a:prstGeom prst="rect">
            <a:avLst/>
          </a:prstGeom>
          <a:noFill/>
          <a:ln/>
        </p:spPr>
        <p:txBody>
          <a:bodyPr wrap="square" lIns="0" tIns="0" rIns="0" bIns="0" rtlCol="0" anchor="ctr"/>
          <a:lstStyle/>
          <a:p>
            <a:pPr indent="0" marL="0">
              <a:buNone/>
            </a:pPr>
            <a:r>
              <a:rPr lang="en-US" sz="1800" dirty="0">
                <a:solidFill>
                  <a:srgbClr val="FFFFFF"/>
                </a:solidFill>
                <a:latin typeface="Meiryo" pitchFamily="34" charset="0"/>
                <a:ea typeface="Meiryo" pitchFamily="34" charset="-122"/>
                <a:cs typeface="Meiryo" pitchFamily="34" charset="-120"/>
              </a:rPr>
              <a:t>全振りは不要。生活の中で無理なく続けられるペース設計</a:t>
            </a:r>
            <a:endParaRPr lang="en-US" sz="1800" dirty="0"/>
          </a:p>
        </p:txBody>
      </p:sp>
      <p:sp>
        <p:nvSpPr>
          <p:cNvPr id="13" name="Text 10"/>
          <p:cNvSpPr txBox="1"/>
          <p:nvPr/>
        </p:nvSpPr>
        <p:spPr>
          <a:xfrm>
            <a:off x="640080" y="6126480"/>
            <a:ext cx="10972800" cy="457200"/>
          </a:xfrm>
          <a:prstGeom prst="rect">
            <a:avLst/>
          </a:prstGeom>
          <a:noFill/>
          <a:ln/>
        </p:spPr>
        <p:txBody>
          <a:bodyPr wrap="square" lIns="0" tIns="0" rIns="0" bIns="0" rtlCol="0" anchor="ctr"/>
          <a:lstStyle/>
          <a:p>
            <a:pPr indent="0" marL="0">
              <a:buNone/>
            </a:pPr>
            <a:r>
              <a:rPr lang="en-US" sz="2100" b="1" dirty="0">
                <a:solidFill>
                  <a:srgbClr val="C40000"/>
                </a:solidFill>
                <a:latin typeface="Meiryo" pitchFamily="34" charset="0"/>
                <a:ea typeface="Meiryo" pitchFamily="34" charset="-122"/>
                <a:cs typeface="Meiryo" pitchFamily="34" charset="-120"/>
              </a:rPr>
              <a:t>この2つが揃って、はじめてチャンネルは育つ</a:t>
            </a:r>
            <a:endParaRPr lang="en-US" sz="2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0">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txBody>
          <a:bodyPr/>
          <a:p/>
        </p:txBody>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07</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注意点とよくある失敗</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一番致命的な失敗と、知っておきたい2つの注意点</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txBody>
          <a:bodyPr/>
          <a:p/>
        </p:txBody>
      </p:sp>
      <p:sp>
        <p:nvSpPr>
          <p:cNvPr id="7" name="Shape 5"/>
          <p:cNvSpPr/>
          <p:nvPr/>
        </p:nvSpPr>
        <p:spPr>
          <a:xfrm rot="5400000">
            <a:off x="10696651" y="5621292"/>
            <a:ext cx="356616" cy="355665"/>
          </a:xfrm>
          <a:prstGeom prst="triangle">
            <a:avLst/>
          </a:prstGeom>
          <a:solidFill>
            <a:srgbClr val="FFFFFF"/>
          </a:solidFill>
          <a:ln/>
        </p:spPr>
        <p:txBody>
          <a:body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MISTAKE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よくある失敗：「好きなことで、生きていく」？</a:t>
            </a:r>
            <a:endParaRPr lang="en-US" sz="3000" dirty="0"/>
          </a:p>
        </p:txBody>
      </p:sp>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自分の「好き」ではなく、視聴者の「好き」を動画にする</a:t>
            </a:r>
          </a:p>
        </p:txBody>
      </p:sp>
      <p:pic>
        <p:nvPicPr>
          <p:cNvPr id="6" name="Picture 5" descr="hikakin_ad.png"/>
          <p:cNvPicPr>
            <a:picLocks noChangeAspect="1"/>
          </p:cNvPicPr>
          <p:nvPr/>
        </p:nvPicPr>
        <p:blipFill>
          <a:blip r:embed="rId2"/>
          <a:stretch>
            <a:fillRect/>
          </a:stretch>
        </p:blipFill>
        <p:spPr>
          <a:xfrm>
            <a:off x="822960" y="1783080"/>
            <a:ext cx="3840480" cy="3200400"/>
          </a:xfrm>
          <a:prstGeom prst="rect">
            <a:avLst/>
          </a:prstGeom>
        </p:spPr>
      </p:pic>
      <p:sp>
        <p:nvSpPr>
          <p:cNvPr id="7" name="TextBox 6"/>
          <p:cNvSpPr txBox="1"/>
          <p:nvPr/>
        </p:nvSpPr>
        <p:spPr>
          <a:xfrm>
            <a:off x="822960" y="5074920"/>
            <a:ext cx="3840480" cy="320040"/>
          </a:xfrm>
          <a:prstGeom prst="rect">
            <a:avLst/>
          </a:prstGeom>
          <a:noFill/>
        </p:spPr>
        <p:txBody>
          <a:bodyPr wrap="square" anchor="t" lIns="0" rIns="0" tIns="0" bIns="0">
            <a:spAutoFit/>
          </a:bodyPr>
          <a:lstStyle/>
          <a:p>
            <a:pPr algn="l"/>
            <a:r>
              <a:rPr sz="1000" b="0">
                <a:solidFill>
                  <a:srgbClr val="777777"/>
                </a:solidFill>
              </a:rPr>
              <a:t>出典：YouTube「好きなことで、生きていく」広告（2014年）</a:t>
            </a:r>
          </a:p>
        </p:txBody>
      </p:sp>
      <p:sp>
        <p:nvSpPr>
          <p:cNvPr id="8" name="TextBox 7"/>
          <p:cNvSpPr txBox="1"/>
          <p:nvPr/>
        </p:nvSpPr>
        <p:spPr>
          <a:xfrm>
            <a:off x="5212080" y="1783080"/>
            <a:ext cx="6309360" cy="3200400"/>
          </a:xfrm>
          <a:prstGeom prst="rect">
            <a:avLst/>
          </a:prstGeom>
          <a:noFill/>
        </p:spPr>
        <p:txBody>
          <a:bodyPr wrap="square" anchor="ctr" lIns="0" rIns="0" tIns="0" bIns="0">
            <a:spAutoFit/>
          </a:bodyPr>
          <a:lstStyle/>
          <a:p>
            <a:pPr algn="l">
              <a:spcAft>
                <a:spcPts val="1400"/>
              </a:spcAft>
            </a:pPr>
            <a:r>
              <a:rPr sz="1800" b="1">
                <a:solidFill>
                  <a:srgbClr val="555555"/>
                </a:solidFill>
              </a:rPr>
              <a:t>YouTubeで伸ばしたいなら…</a:t>
            </a:r>
          </a:p>
          <a:p>
            <a:pPr algn="l">
              <a:spcAft>
                <a:spcPts val="600"/>
              </a:spcAft>
            </a:pPr>
            <a:r>
              <a:rPr sz="2800" b="1" strike="sngStrike">
                <a:solidFill>
                  <a:srgbClr val="999999"/>
                </a:solidFill>
              </a:rPr>
              <a:t>好きなことで、生きていく</a:t>
            </a:r>
          </a:p>
          <a:p>
            <a:pPr algn="l">
              <a:spcAft>
                <a:spcPts val="600"/>
              </a:spcAft>
            </a:pPr>
            <a:r>
              <a:rPr sz="2800" b="1">
                <a:solidFill>
                  <a:srgbClr val="C40000"/>
                </a:solidFill>
              </a:rPr>
              <a:t>↓</a:t>
            </a:r>
          </a:p>
          <a:p>
            <a:pPr algn="l">
              <a:spcAft>
                <a:spcPts val="0"/>
              </a:spcAft>
            </a:pPr>
            <a:r>
              <a:rPr sz="4000" b="1">
                <a:solidFill>
                  <a:srgbClr val="C40000"/>
                </a:solidFill>
              </a:rPr>
              <a:t>視聴者の</a:t>
            </a:r>
          </a:p>
          <a:p>
            <a:pPr algn="l">
              <a:spcAft>
                <a:spcPts val="0"/>
              </a:spcAft>
            </a:pPr>
            <a:r>
              <a:rPr sz="3600" b="1">
                <a:solidFill>
                  <a:srgbClr val="222222"/>
                </a:solidFill>
              </a:rPr>
              <a:t>好きなことで、生きていく</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MISTAKE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失敗の正体：自分のやりたいことをやってしまう</a:t>
            </a:r>
            <a:endParaRPr lang="en-US" sz="3000" dirty="0"/>
          </a:p>
        </p:txBody>
      </p:sp>
      <p:pic>
        <p:nvPicPr>
          <p:cNvPr id="4" name="Picture 3" descr="ill_f.png"/>
          <p:cNvPicPr>
            <a:picLocks noChangeAspect="1"/>
          </p:cNvPicPr>
          <p:nvPr/>
        </p:nvPicPr>
        <p:blipFill>
          <a:blip r:embed="rId3"/>
          <a:stretch>
            <a:fillRect/>
          </a:stretch>
        </p:blipFill>
        <p:spPr>
          <a:xfrm>
            <a:off x="1009634" y="1783080"/>
            <a:ext cx="10172700"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主役は視聴者。運営者は「見たいもの」を動画にして届ける側</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ALGORITHM</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アルゴリズムが見ているのは、結局これ</a:t>
            </a:r>
            <a:endParaRPr lang="en-US" sz="3000" dirty="0"/>
          </a:p>
        </p:txBody>
      </p:sp>
      <p:sp>
        <p:nvSpPr>
          <p:cNvPr id="5" name="Shape 2"/>
          <p:cNvSpPr/>
          <p:nvPr/>
        </p:nvSpPr>
        <p:spPr>
          <a:xfrm>
            <a:off x="640080" y="1920240"/>
            <a:ext cx="10972800" cy="1920240"/>
          </a:xfrm>
          <a:prstGeom prst="roundRect">
            <a:avLst>
              <a:gd name="adj" fmla="val 5714"/>
            </a:avLst>
          </a:prstGeom>
          <a:solidFill>
            <a:srgbClr val="C40000"/>
          </a:solidFill>
          <a:ln/>
        </p:spPr>
      </p:sp>
      <p:sp>
        <p:nvSpPr>
          <p:cNvPr id="6" name="Text 3"/>
          <p:cNvSpPr txBox="1"/>
          <p:nvPr/>
        </p:nvSpPr>
        <p:spPr>
          <a:xfrm>
            <a:off x="1097280" y="2286000"/>
            <a:ext cx="10058400" cy="1280160"/>
          </a:xfrm>
          <a:prstGeom prst="rect">
            <a:avLst/>
          </a:prstGeom>
          <a:noFill/>
          <a:ln/>
        </p:spPr>
        <p:txBody>
          <a:bodyPr wrap="square" lIns="0" tIns="0" rIns="0" bIns="0" rtlCol="0" anchor="ctr"/>
          <a:lstStyle/>
          <a:p>
            <a:pPr indent="0" marL="0">
              <a:buNone/>
            </a:pPr>
            <a:r>
              <a:rPr lang="en-US" sz="2800" b="1" dirty="0">
                <a:solidFill>
                  <a:srgbClr val="FFD400"/>
                </a:solidFill>
                <a:latin typeface="Meiryo" pitchFamily="34" charset="0"/>
                <a:ea typeface="Meiryo" pitchFamily="34" charset="-122"/>
                <a:cs typeface="Meiryo" pitchFamily="34" charset="-120"/>
              </a:rPr>
              <a:t>視聴者の求めていることに、</a:t>
            </a:r>
            <a:endParaRPr lang="en-US" sz="2800" dirty="0"/>
          </a:p>
          <a:p>
            <a:pPr indent="0" marL="0">
              <a:buNone/>
            </a:pPr>
            <a:r>
              <a:rPr lang="en-US" sz="2800" b="1" dirty="0">
                <a:solidFill>
                  <a:srgbClr val="FFD400"/>
                </a:solidFill>
                <a:latin typeface="Meiryo" pitchFamily="34" charset="0"/>
                <a:ea typeface="Meiryo" pitchFamily="34" charset="-122"/>
                <a:cs typeface="Meiryo" pitchFamily="34" charset="-120"/>
              </a:rPr>
              <a:t>運営者が動画でしっかり対応できているか</a:t>
            </a:r>
            <a:endParaRPr lang="en-US" sz="2800" dirty="0"/>
          </a:p>
        </p:txBody>
      </p:sp>
      <p:sp>
        <p:nvSpPr>
          <p:cNvPr id="7" name="Text 4"/>
          <p:cNvSpPr txBox="1"/>
          <p:nvPr/>
        </p:nvSpPr>
        <p:spPr>
          <a:xfrm>
            <a:off x="640080" y="4206240"/>
            <a:ext cx="10972800" cy="54864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数値が良ければ拡散される。悪ければ伸びない。それだけ。</a:t>
            </a:r>
            <a:endParaRPr lang="en-US" sz="2200" dirty="0"/>
          </a:p>
        </p:txBody>
      </p:sp>
      <p:sp>
        <p:nvSpPr>
          <p:cNvPr id="8" name="Text 5"/>
          <p:cNvSpPr txBox="1"/>
          <p:nvPr/>
        </p:nvSpPr>
        <p:spPr>
          <a:xfrm>
            <a:off x="640080" y="4937760"/>
            <a:ext cx="10972800" cy="640080"/>
          </a:xfrm>
          <a:prstGeom prst="rect">
            <a:avLst/>
          </a:prstGeom>
          <a:noFill/>
          <a:ln/>
        </p:spPr>
        <p:txBody>
          <a:bodyPr wrap="square" lIns="0" tIns="0" rIns="0" bIns="0" rtlCol="0" anchor="ctr"/>
          <a:lstStyle/>
          <a:p>
            <a:pPr indent="0" marL="0">
              <a:buNone/>
            </a:pPr>
            <a:r>
              <a:rPr lang="en-US" sz="2400" b="1" dirty="0">
                <a:solidFill>
                  <a:srgbClr val="C40000"/>
                </a:solidFill>
                <a:latin typeface="Meiryo" pitchFamily="34" charset="0"/>
                <a:ea typeface="Meiryo" pitchFamily="34" charset="-122"/>
                <a:cs typeface="Meiryo" pitchFamily="34" charset="-120"/>
              </a:rPr>
              <a:t>視聴者に応える動画を作れば、アルゴリズムは勝手に味方してくれる</a:t>
            </a:r>
            <a:endParaRPr lang="en-US" sz="2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COPYRIGHT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注意点①：素材の著作権</a:t>
            </a:r>
            <a:endParaRPr lang="en-US" sz="3000" dirty="0"/>
          </a:p>
        </p:txBody>
      </p:sp>
      <p:sp>
        <p:nvSpPr>
          <p:cNvPr id="5" name="Shape 2"/>
          <p:cNvSpPr/>
          <p:nvPr/>
        </p:nvSpPr>
        <p:spPr>
          <a:xfrm>
            <a:off x="640080" y="1828800"/>
            <a:ext cx="10972800" cy="1737360"/>
          </a:xfrm>
          <a:prstGeom prst="roundRect">
            <a:avLst>
              <a:gd name="adj" fmla="val 6316"/>
            </a:avLst>
          </a:prstGeom>
          <a:solidFill>
            <a:srgbClr val="C40000"/>
          </a:solidFill>
          <a:ln/>
        </p:spPr>
        <p:txBody>
          <a:bodyPr/>
          <a:p/>
        </p:txBody>
      </p:sp>
      <p:sp>
        <p:nvSpPr>
          <p:cNvPr id="6" name="Text 3"/>
          <p:cNvSpPr txBox="1"/>
          <p:nvPr/>
        </p:nvSpPr>
        <p:spPr>
          <a:xfrm>
            <a:off x="1097280" y="2286000"/>
            <a:ext cx="10058400" cy="822960"/>
          </a:xfrm>
          <a:prstGeom prst="rect">
            <a:avLst/>
          </a:prstGeom>
          <a:noFill/>
          <a:ln/>
        </p:spPr>
        <p:txBody>
          <a:bodyPr wrap="square" lIns="0" tIns="0" rIns="0" bIns="0" rtlCol="0" anchor="ctr"/>
          <a:lstStyle/>
          <a:p>
            <a:pPr indent="0" marL="0">
              <a:buNone/>
            </a:pPr>
            <a:r>
              <a:rPr lang="en-US" sz="3000" b="1" dirty="0">
                <a:solidFill>
                  <a:srgbClr val="FFD400"/>
                </a:solidFill>
                <a:latin typeface="Meiryo" pitchFamily="34" charset="0"/>
                <a:ea typeface="Meiryo" pitchFamily="34" charset="-122"/>
                <a:cs typeface="Meiryo" pitchFamily="34" charset="-120"/>
              </a:rPr>
              <a:t>他人の音楽・映像・画像は、原則そのまま使えない</a:t>
            </a:r>
            <a:endParaRPr lang="en-US" sz="3000" dirty="0"/>
          </a:p>
        </p:txBody>
      </p:sp>
      <p:sp>
        <p:nvSpPr>
          <p:cNvPr id="7" name="Text 4"/>
          <p:cNvSpPr txBox="1"/>
          <p:nvPr/>
        </p:nvSpPr>
        <p:spPr>
          <a:xfrm>
            <a:off x="822960" y="3886200"/>
            <a:ext cx="10698480" cy="2377440"/>
          </a:xfrm>
          <a:prstGeom prst="rect">
            <a:avLst/>
          </a:prstGeom>
          <a:noFill/>
          <a:ln/>
        </p:spPr>
        <p:txBody>
          <a:bodyPr wrap="square" rtlCol="0" anchor="ctr"/>
          <a:lstStyle/>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市販の音楽やテレビ番組の映像を無断で使うと、著作権の申し立てで収益が権利者に回ったり、動画が削除されたりする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違反が重なるとチャンネル自体が停止されることも。1本の失敗で、積み上げたものが全部なくなる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使うならYouTubeオーディオライブラリなど「利用OK」と明記された素材を。迷ったら使わない</a:t>
            </a:r>
            <a:endParaRPr lang="en-US" sz="2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MINDSET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注意点②：挫折しやすいポイント</a:t>
            </a:r>
            <a:endParaRPr lang="en-US" sz="3000" dirty="0"/>
          </a:p>
        </p:txBody>
      </p:sp>
      <p:sp>
        <p:nvSpPr>
          <p:cNvPr id="5" name="Shape 2"/>
          <p:cNvSpPr/>
          <p:nvPr/>
        </p:nvSpPr>
        <p:spPr>
          <a:xfrm>
            <a:off x="640080" y="1920240"/>
            <a:ext cx="5257800" cy="3017520"/>
          </a:xfrm>
          <a:prstGeom prst="roundRect">
            <a:avLst>
              <a:gd name="adj" fmla="val 3636"/>
            </a:avLst>
          </a:prstGeom>
          <a:solidFill>
            <a:srgbClr val="FFF3C4"/>
          </a:solidFill>
          <a:ln/>
        </p:spPr>
        <p:txBody>
          <a:bodyPr/>
          <a:p/>
        </p:txBody>
      </p:sp>
      <p:sp>
        <p:nvSpPr>
          <p:cNvPr id="6" name="Shape 3"/>
          <p:cNvSpPr/>
          <p:nvPr/>
        </p:nvSpPr>
        <p:spPr>
          <a:xfrm>
            <a:off x="1051560" y="2286000"/>
            <a:ext cx="475488" cy="475488"/>
          </a:xfrm>
          <a:prstGeom prst="ellipse">
            <a:avLst/>
          </a:prstGeom>
          <a:solidFill>
            <a:srgbClr val="C40000"/>
          </a:solidFill>
          <a:ln/>
        </p:spPr>
        <p:txBody>
          <a:bodyPr/>
          <a:p/>
        </p:txBody>
      </p:sp>
      <p:sp>
        <p:nvSpPr>
          <p:cNvPr id="7" name="Text 4"/>
          <p:cNvSpPr txBox="1"/>
          <p:nvPr/>
        </p:nvSpPr>
        <p:spPr>
          <a:xfrm>
            <a:off x="105156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8" name="Text 5"/>
          <p:cNvSpPr txBox="1"/>
          <p:nvPr/>
        </p:nvSpPr>
        <p:spPr>
          <a:xfrm>
            <a:off x="1051560" y="2926080"/>
            <a:ext cx="4572000" cy="64008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最初は伸びなくて当たり前</a:t>
            </a:r>
            <a:endParaRPr lang="en-US" sz="2400" dirty="0"/>
          </a:p>
        </p:txBody>
      </p:sp>
      <p:sp>
        <p:nvSpPr>
          <p:cNvPr id="9" name="Text 6"/>
          <p:cNvSpPr txBox="1"/>
          <p:nvPr/>
        </p:nvSpPr>
        <p:spPr>
          <a:xfrm>
            <a:off x="1051560" y="3657600"/>
            <a:ext cx="4572000" cy="109728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伸びないのは失敗ではなく、データ集め。</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見直して改善した回数が、実力になる。</a:t>
            </a:r>
            <a:endParaRPr lang="en-US" sz="1800" dirty="0"/>
          </a:p>
        </p:txBody>
      </p:sp>
      <p:sp>
        <p:nvSpPr>
          <p:cNvPr id="10" name="Shape 7"/>
          <p:cNvSpPr/>
          <p:nvPr/>
        </p:nvSpPr>
        <p:spPr>
          <a:xfrm>
            <a:off x="6309360" y="1920240"/>
            <a:ext cx="5257800" cy="3017520"/>
          </a:xfrm>
          <a:prstGeom prst="roundRect">
            <a:avLst>
              <a:gd name="adj" fmla="val 3636"/>
            </a:avLst>
          </a:prstGeom>
          <a:solidFill>
            <a:srgbClr val="C40000"/>
          </a:solidFill>
          <a:ln/>
        </p:spPr>
        <p:txBody>
          <a:bodyPr/>
          <a:p/>
        </p:txBody>
      </p:sp>
      <p:sp>
        <p:nvSpPr>
          <p:cNvPr id="11" name="Shape 8"/>
          <p:cNvSpPr/>
          <p:nvPr/>
        </p:nvSpPr>
        <p:spPr>
          <a:xfrm>
            <a:off x="6720840" y="2286000"/>
            <a:ext cx="475488" cy="475488"/>
          </a:xfrm>
          <a:prstGeom prst="ellipse">
            <a:avLst/>
          </a:prstGeom>
          <a:solidFill>
            <a:srgbClr val="8A0000"/>
          </a:solidFill>
          <a:ln/>
        </p:spPr>
        <p:txBody>
          <a:bodyPr/>
          <a:p/>
        </p:txBody>
      </p:sp>
      <p:sp>
        <p:nvSpPr>
          <p:cNvPr id="12" name="Text 9"/>
          <p:cNvSpPr txBox="1"/>
          <p:nvPr/>
        </p:nvSpPr>
        <p:spPr>
          <a:xfrm>
            <a:off x="672084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3" name="Text 10"/>
          <p:cNvSpPr txBox="1"/>
          <p:nvPr/>
        </p:nvSpPr>
        <p:spPr>
          <a:xfrm>
            <a:off x="6720840" y="2926080"/>
            <a:ext cx="4572000" cy="640080"/>
          </a:xfrm>
          <a:prstGeom prst="rect">
            <a:avLst/>
          </a:prstGeom>
          <a:noFill/>
          <a:ln/>
        </p:spPr>
        <p:txBody>
          <a:bodyPr wrap="square" lIns="0" tIns="0" rIns="0" bIns="0" rtlCol="0" anchor="ctr"/>
          <a:lstStyle/>
          <a:p>
            <a:pPr indent="0" marL="0">
              <a:buNone/>
            </a:pPr>
            <a:r>
              <a:rPr lang="en-US" sz="2400" b="1" dirty="0">
                <a:solidFill>
                  <a:srgbClr val="FFFFFF"/>
                </a:solidFill>
                <a:latin typeface="Meiryo" pitchFamily="34" charset="0"/>
                <a:ea typeface="Meiryo" pitchFamily="34" charset="-122"/>
                <a:cs typeface="Meiryo" pitchFamily="34" charset="-120"/>
              </a:rPr>
              <a:t>比べる相手を間違えない</a:t>
            </a:r>
            <a:endParaRPr lang="en-US" sz="2400" dirty="0"/>
          </a:p>
        </p:txBody>
      </p:sp>
      <p:sp>
        <p:nvSpPr>
          <p:cNvPr id="14" name="Text 11"/>
          <p:cNvSpPr txBox="1"/>
          <p:nvPr/>
        </p:nvSpPr>
        <p:spPr>
          <a:xfrm>
            <a:off x="6720840" y="3657600"/>
            <a:ext cx="4572000" cy="1097280"/>
          </a:xfrm>
          <a:prstGeom prst="rect">
            <a:avLst/>
          </a:prstGeom>
          <a:noFill/>
          <a:ln/>
        </p:spPr>
        <p:txBody>
          <a:bodyPr wrap="square" lIns="0" tIns="0" rIns="0" bIns="0" rtlCol="0" anchor="ctr"/>
          <a:lstStyle/>
          <a:p>
            <a:pPr indent="0" marL="0">
              <a:buNone/>
            </a:pPr>
            <a:r>
              <a:rPr lang="en-US" sz="1800" dirty="0">
                <a:solidFill>
                  <a:srgbClr val="FFFFFF"/>
                </a:solidFill>
                <a:latin typeface="Meiryo" pitchFamily="34" charset="0"/>
                <a:ea typeface="Meiryo" pitchFamily="34" charset="-122"/>
                <a:cs typeface="Meiryo" pitchFamily="34" charset="-120"/>
              </a:rPr>
              <a:t>伸びているチャンネルの「今」と比べない。</a:t>
            </a:r>
            <a:endParaRPr lang="en-US" sz="1800" dirty="0"/>
          </a:p>
          <a:p>
            <a:pPr indent="0" marL="0">
              <a:buNone/>
            </a:pPr>
            <a:r>
              <a:rPr lang="en-US" sz="1800" dirty="0">
                <a:solidFill>
                  <a:srgbClr val="FFFFFF"/>
                </a:solidFill>
                <a:latin typeface="Meiryo" pitchFamily="34" charset="0"/>
                <a:ea typeface="Meiryo" pitchFamily="34" charset="-122"/>
                <a:cs typeface="Meiryo" pitchFamily="34" charset="-120"/>
              </a:rPr>
              <a:t>比べるのは、先月の自分。</a:t>
            </a:r>
            <a:endParaRPr lang="en-US" sz="1800" dirty="0"/>
          </a:p>
        </p:txBody>
      </p:sp>
      <p:sp>
        <p:nvSpPr>
          <p:cNvPr id="15" name="Text 12"/>
          <p:cNvSpPr txBox="1"/>
          <p:nvPr/>
        </p:nvSpPr>
        <p:spPr>
          <a:xfrm>
            <a:off x="640080" y="5394960"/>
            <a:ext cx="10972800" cy="640080"/>
          </a:xfrm>
          <a:prstGeom prst="rect">
            <a:avLst/>
          </a:prstGeom>
          <a:noFill/>
          <a:ln/>
        </p:spPr>
        <p:txBody>
          <a:bodyPr wrap="square" lIns="0" tIns="0" rIns="0" bIns="0" rtlCol="0" anchor="ctr"/>
          <a:lstStyle/>
          <a:p>
            <a:pPr indent="0" marL="0">
              <a:buNone/>
            </a:pPr>
            <a:r>
              <a:rPr lang="en-US" sz="2100" b="1" dirty="0">
                <a:solidFill>
                  <a:srgbClr val="C40000"/>
                </a:solidFill>
                <a:latin typeface="Meiryo" pitchFamily="34" charset="0"/>
                <a:ea typeface="Meiryo" pitchFamily="34" charset="-122"/>
                <a:cs typeface="Meiryo" pitchFamily="34" charset="-120"/>
              </a:rPr>
              <a:t>止めた時点で止まる。続けられるペースで、打席に立ち続ける</a:t>
            </a:r>
            <a:endParaRPr lang="en-US" sz="2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SUMMARY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今日の持ち帰り</a:t>
            </a:r>
            <a:endParaRPr lang="en-US" sz="3000" dirty="0"/>
          </a:p>
        </p:txBody>
      </p:sp>
      <p:sp>
        <p:nvSpPr>
          <p:cNvPr id="5" name="Shape 2"/>
          <p:cNvSpPr/>
          <p:nvPr/>
        </p:nvSpPr>
        <p:spPr>
          <a:xfrm>
            <a:off x="731520" y="2103120"/>
            <a:ext cx="475488" cy="475488"/>
          </a:xfrm>
          <a:prstGeom prst="ellipse">
            <a:avLst/>
          </a:prstGeom>
          <a:solidFill>
            <a:srgbClr val="C40000"/>
          </a:solidFill>
          <a:ln/>
        </p:spPr>
      </p:sp>
      <p:sp>
        <p:nvSpPr>
          <p:cNvPr id="6" name="Text 3"/>
          <p:cNvSpPr txBox="1"/>
          <p:nvPr/>
        </p:nvSpPr>
        <p:spPr>
          <a:xfrm>
            <a:off x="731520" y="20939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7" name="Text 4"/>
          <p:cNvSpPr txBox="1"/>
          <p:nvPr/>
        </p:nvSpPr>
        <p:spPr>
          <a:xfrm>
            <a:off x="1463040" y="1920240"/>
            <a:ext cx="1005840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視聴者理解がすべての土台</a:t>
            </a:r>
            <a:endParaRPr lang="en-US" sz="2400" dirty="0"/>
          </a:p>
        </p:txBody>
      </p:sp>
      <p:sp>
        <p:nvSpPr>
          <p:cNvPr id="8" name="Text 5"/>
          <p:cNvSpPr txBox="1"/>
          <p:nvPr/>
        </p:nvSpPr>
        <p:spPr>
          <a:xfrm>
            <a:off x="1463040" y="2487168"/>
            <a:ext cx="10058400" cy="45720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自分のやりたい事ではなく、視聴者が求める事を再現する</a:t>
            </a:r>
            <a:endParaRPr lang="en-US" sz="1900" dirty="0"/>
          </a:p>
        </p:txBody>
      </p:sp>
      <p:sp>
        <p:nvSpPr>
          <p:cNvPr id="9" name="Shape 6"/>
          <p:cNvSpPr/>
          <p:nvPr/>
        </p:nvSpPr>
        <p:spPr>
          <a:xfrm>
            <a:off x="731520" y="3474720"/>
            <a:ext cx="475488" cy="475488"/>
          </a:xfrm>
          <a:prstGeom prst="ellipse">
            <a:avLst/>
          </a:prstGeom>
          <a:solidFill>
            <a:srgbClr val="C40000"/>
          </a:solidFill>
          <a:ln/>
        </p:spPr>
      </p:sp>
      <p:sp>
        <p:nvSpPr>
          <p:cNvPr id="10" name="Text 7"/>
          <p:cNvSpPr txBox="1"/>
          <p:nvPr/>
        </p:nvSpPr>
        <p:spPr>
          <a:xfrm>
            <a:off x="731520" y="34655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1" name="Text 8"/>
          <p:cNvSpPr txBox="1"/>
          <p:nvPr/>
        </p:nvSpPr>
        <p:spPr>
          <a:xfrm>
            <a:off x="1463040" y="3291840"/>
            <a:ext cx="1005840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ジャンルを俯瞰して、道筋を立てる</a:t>
            </a:r>
            <a:endParaRPr lang="en-US" sz="2400" dirty="0"/>
          </a:p>
        </p:txBody>
      </p:sp>
      <p:sp>
        <p:nvSpPr>
          <p:cNvPr id="12" name="Text 9"/>
          <p:cNvSpPr txBox="1"/>
          <p:nvPr/>
        </p:nvSpPr>
        <p:spPr>
          <a:xfrm>
            <a:off x="1463040" y="3858768"/>
            <a:ext cx="10058400" cy="45720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競合を見る → 成功ライン → 激戦区 → 空いている場所</a:t>
            </a:r>
            <a:endParaRPr lang="en-US" sz="1900" dirty="0"/>
          </a:p>
        </p:txBody>
      </p:sp>
      <p:sp>
        <p:nvSpPr>
          <p:cNvPr id="13" name="Shape 10"/>
          <p:cNvSpPr/>
          <p:nvPr/>
        </p:nvSpPr>
        <p:spPr>
          <a:xfrm>
            <a:off x="731520" y="4846320"/>
            <a:ext cx="475488" cy="475488"/>
          </a:xfrm>
          <a:prstGeom prst="ellipse">
            <a:avLst/>
          </a:prstGeom>
          <a:solidFill>
            <a:srgbClr val="C40000"/>
          </a:solidFill>
          <a:ln/>
        </p:spPr>
      </p:sp>
      <p:sp>
        <p:nvSpPr>
          <p:cNvPr id="14" name="Text 11"/>
          <p:cNvSpPr txBox="1"/>
          <p:nvPr/>
        </p:nvSpPr>
        <p:spPr>
          <a:xfrm>
            <a:off x="731520" y="48371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5" name="Text 12"/>
          <p:cNvSpPr txBox="1"/>
          <p:nvPr/>
        </p:nvSpPr>
        <p:spPr>
          <a:xfrm>
            <a:off x="1463040" y="4663440"/>
            <a:ext cx="1005840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無理なく続けられる体制で始める</a:t>
            </a:r>
            <a:endParaRPr lang="en-US" sz="2400" dirty="0"/>
          </a:p>
        </p:txBody>
      </p:sp>
      <p:sp>
        <p:nvSpPr>
          <p:cNvPr id="16" name="Text 13"/>
          <p:cNvSpPr txBox="1"/>
          <p:nvPr/>
        </p:nvSpPr>
        <p:spPr>
          <a:xfrm>
            <a:off x="1463040" y="5230368"/>
            <a:ext cx="10058400" cy="45720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道筋が正しくても、続かなければ止まる。ペース設計も実力のうち</a:t>
            </a:r>
            <a:endParaRPr lang="en-US" sz="1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4">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1005840"/>
            <a:ext cx="10515600" cy="640080"/>
          </a:xfrm>
          <a:prstGeom prst="rect">
            <a:avLst/>
          </a:prstGeom>
          <a:noFill/>
          <a:ln/>
        </p:spPr>
        <p:txBody>
          <a:bodyPr wrap="square" lIns="0" tIns="0" rIns="0" bIns="0" rtlCol="0" anchor="ctr"/>
          <a:lstStyle/>
          <a:p>
            <a:pPr indent="0" marL="0">
              <a:buNone/>
            </a:pPr>
            <a:r>
              <a:rPr lang="en-US" sz="2600" b="1" dirty="0">
                <a:solidFill>
                  <a:srgbClr val="FFD9D9"/>
                </a:solidFill>
                <a:latin typeface="Meiryo" pitchFamily="34" charset="0"/>
                <a:ea typeface="Meiryo" pitchFamily="34" charset="-122"/>
                <a:cs typeface="Meiryo" pitchFamily="34" charset="-120"/>
              </a:rPr>
              <a:t>今日帰ってからやること、1つだけ</a:t>
            </a:r>
            <a:endParaRPr lang="en-US" sz="2600" dirty="0"/>
          </a:p>
        </p:txBody>
      </p:sp>
      <p:sp>
        <p:nvSpPr>
          <p:cNvPr id="3" name="Shape 1"/>
          <p:cNvSpPr/>
          <p:nvPr/>
        </p:nvSpPr>
        <p:spPr>
          <a:xfrm>
            <a:off x="822960" y="1920240"/>
            <a:ext cx="10515600" cy="2377440"/>
          </a:xfrm>
          <a:prstGeom prst="roundRect">
            <a:avLst>
              <a:gd name="adj" fmla="val 5769"/>
            </a:avLst>
          </a:prstGeom>
          <a:solidFill>
            <a:srgbClr val="FFD400"/>
          </a:solidFill>
          <a:ln/>
        </p:spPr>
      </p:sp>
      <p:sp>
        <p:nvSpPr>
          <p:cNvPr id="4" name="Text 2"/>
          <p:cNvSpPr txBox="1"/>
          <p:nvPr/>
        </p:nvSpPr>
        <p:spPr>
          <a:xfrm>
            <a:off x="1280160" y="2148840"/>
            <a:ext cx="9692640" cy="1920240"/>
          </a:xfrm>
          <a:prstGeom prst="rect">
            <a:avLst/>
          </a:prstGeom>
          <a:noFill/>
          <a:ln/>
        </p:spPr>
        <p:txBody>
          <a:bodyPr wrap="square" lIns="0" tIns="0" rIns="0" bIns="0" rtlCol="0" anchor="ctr"/>
          <a:lstStyle/>
          <a:p>
            <a:pPr indent="0" marL="0">
              <a:buNone/>
            </a:pPr>
            <a:r>
              <a:rPr lang="en-US" sz="3600" b="1" dirty="0">
                <a:solidFill>
                  <a:srgbClr val="C40000"/>
                </a:solidFill>
                <a:latin typeface="Meiryo" pitchFamily="34" charset="0"/>
                <a:ea typeface="Meiryo" pitchFamily="34" charset="-122"/>
                <a:cs typeface="Meiryo" pitchFamily="34" charset="-120"/>
              </a:rPr>
              <a:t>自分のジャンルの動画を、</a:t>
            </a:r>
            <a:endParaRPr lang="en-US" sz="3600" dirty="0"/>
          </a:p>
          <a:p>
            <a:pPr indent="0" marL="0">
              <a:buNone/>
            </a:pPr>
            <a:r>
              <a:rPr lang="en-US" sz="3600" b="1" dirty="0">
                <a:solidFill>
                  <a:srgbClr val="C40000"/>
                </a:solidFill>
                <a:latin typeface="Meiryo" pitchFamily="34" charset="0"/>
                <a:ea typeface="Meiryo" pitchFamily="34" charset="-122"/>
                <a:cs typeface="Meiryo" pitchFamily="34" charset="-120"/>
              </a:rPr>
              <a:t>視聴者として「ワークの目線」で見る</a:t>
            </a:r>
            <a:endParaRPr lang="en-US" sz="3600" dirty="0"/>
          </a:p>
        </p:txBody>
      </p:sp>
      <p:sp>
        <p:nvSpPr>
          <p:cNvPr id="5" name="Text 3"/>
          <p:cNvSpPr txBox="1"/>
          <p:nvPr/>
        </p:nvSpPr>
        <p:spPr>
          <a:xfrm>
            <a:off x="822960" y="4572000"/>
            <a:ext cx="10515600" cy="1188720"/>
          </a:xfrm>
          <a:prstGeom prst="rect">
            <a:avLst/>
          </a:prstGeom>
          <a:noFill/>
          <a:ln/>
        </p:spPr>
        <p:txBody>
          <a:bodyPr wrap="square" lIns="0" tIns="0" rIns="0" bIns="0" rtlCol="0" anchor="ctr"/>
          <a:lstStyle/>
          <a:p>
            <a:pPr indent="0" marL="0">
              <a:buNone/>
            </a:pPr>
            <a:r>
              <a:rPr lang="en-US" sz="2000" dirty="0">
                <a:solidFill>
                  <a:srgbClr val="FFFFFF"/>
                </a:solidFill>
                <a:latin typeface="Meiryo" pitchFamily="34" charset="0"/>
                <a:ea typeface="Meiryo" pitchFamily="34" charset="-122"/>
                <a:cs typeface="Meiryo" pitchFamily="34" charset="-120"/>
              </a:rPr>
              <a:t>動画を撮らなくていい。機材も買わなくていい。</a:t>
            </a:r>
            <a:endParaRPr lang="en-US" sz="2000" dirty="0"/>
          </a:p>
          <a:p>
            <a:pPr indent="0" marL="0">
              <a:buNone/>
            </a:pPr>
            <a:r>
              <a:rPr lang="en-US" sz="2000" dirty="0">
                <a:solidFill>
                  <a:srgbClr val="FFFFFF"/>
                </a:solidFill>
                <a:latin typeface="Meiryo" pitchFamily="34" charset="0"/>
                <a:ea typeface="Meiryo" pitchFamily="34" charset="-122"/>
                <a:cs typeface="Meiryo" pitchFamily="34" charset="-120"/>
              </a:rPr>
              <a:t>「自分ならどっちをクリックするか」「なぜ見続けてしまうのか」を考えながら。</a:t>
            </a:r>
            <a:endParaRPr lang="en-US" sz="2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5">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914400"/>
            <a:ext cx="10515600" cy="640080"/>
          </a:xfrm>
          <a:prstGeom prst="rect">
            <a:avLst/>
          </a:prstGeom>
          <a:noFill/>
          <a:ln/>
        </p:spPr>
        <p:txBody>
          <a:bodyPr wrap="square" lIns="0" tIns="0" rIns="0" bIns="0" rtlCol="0" anchor="ctr"/>
          <a:lstStyle/>
          <a:p>
            <a:pPr indent="0" marL="0">
              <a:buNone/>
            </a:pPr>
            <a:r>
              <a:rPr lang="en-US" sz="2600" b="1" dirty="0">
                <a:solidFill>
                  <a:srgbClr val="FFD9D9"/>
                </a:solidFill>
                <a:latin typeface="Meiryo" pitchFamily="34" charset="0"/>
                <a:ea typeface="Meiryo" pitchFamily="34" charset="-122"/>
                <a:cs typeface="Meiryo" pitchFamily="34" charset="-120"/>
              </a:rPr>
              <a:t>参加者特典</a:t>
            </a:r>
            <a:endParaRPr lang="en-US" sz="2600" dirty="0"/>
          </a:p>
        </p:txBody>
      </p:sp>
      <p:sp>
        <p:nvSpPr>
          <p:cNvPr id="3" name="Text 1"/>
          <p:cNvSpPr txBox="1"/>
          <p:nvPr/>
        </p:nvSpPr>
        <p:spPr>
          <a:xfrm>
            <a:off x="822960" y="1645920"/>
            <a:ext cx="10607040" cy="822960"/>
          </a:xfrm>
          <a:prstGeom prst="rect">
            <a:avLst/>
          </a:prstGeom>
          <a:noFill/>
          <a:ln/>
        </p:spPr>
        <p:txBody>
          <a:bodyPr wrap="square" lIns="0" tIns="0" rIns="0" bIns="0" rtlCol="0" anchor="ctr"/>
          <a:lstStyle/>
          <a:p>
            <a:pPr indent="0" marL="0">
              <a:buNone/>
            </a:pPr>
            <a:r>
              <a:rPr lang="en-US" sz="3400" b="1" dirty="0">
                <a:solidFill>
                  <a:srgbClr val="FFFFFF"/>
                </a:solidFill>
                <a:latin typeface="Meiryo" pitchFamily="34" charset="0"/>
                <a:ea typeface="Meiryo" pitchFamily="34" charset="-122"/>
                <a:cs typeface="Meiryo" pitchFamily="34" charset="-120"/>
              </a:rPr>
              <a:t>あなたのチャンネルに合わせた「個別相談」</a:t>
            </a:r>
            <a:endParaRPr lang="en-US" sz="3400" dirty="0"/>
          </a:p>
        </p:txBody>
      </p:sp>
      <p:sp>
        <p:nvSpPr>
          <p:cNvPr id="4" name="Shape 2"/>
          <p:cNvSpPr/>
          <p:nvPr/>
        </p:nvSpPr>
        <p:spPr>
          <a:xfrm>
            <a:off x="822960" y="2834640"/>
            <a:ext cx="10515600" cy="2103120"/>
          </a:xfrm>
          <a:prstGeom prst="roundRect">
            <a:avLst>
              <a:gd name="adj" fmla="val 6522"/>
            </a:avLst>
          </a:prstGeom>
          <a:solidFill>
            <a:srgbClr val="FFD400"/>
          </a:solidFill>
          <a:ln/>
        </p:spPr>
        <p:txBody>
          <a:bodyPr/>
          <a:p/>
        </p:txBody>
      </p:sp>
      <p:sp>
        <p:nvSpPr>
          <p:cNvPr id="5" name="Text 3"/>
          <p:cNvSpPr txBox="1"/>
          <p:nvPr/>
        </p:nvSpPr>
        <p:spPr>
          <a:xfrm>
            <a:off x="1188720" y="3383280"/>
            <a:ext cx="8183879" cy="1005840"/>
          </a:xfrm>
          <a:prstGeom prst="rect">
            <a:avLst/>
          </a:prstGeom>
          <a:noFill/>
          <a:ln/>
        </p:spPr>
        <p:txBody>
          <a:bodyPr wrap="square" lIns="0" tIns="0" rIns="0" bIns="0" rtlCol="0" anchor="ctr"/>
          <a:lstStyle/>
          <a:p>
            <a:pPr indent="0" marL="0">
              <a:buNone/>
            </a:pPr>
            <a:r>
              <a:rPr lang="en-US" sz="2400" strike="sngStrike" dirty="0">
                <a:solidFill>
                  <a:srgbClr val="7A6A00"/>
                </a:solidFill>
                <a:latin typeface="Meiryo" pitchFamily="34" charset="0"/>
                <a:ea typeface="Meiryo" pitchFamily="34" charset="-122"/>
                <a:cs typeface="Meiryo" pitchFamily="34" charset="-120"/>
              </a:rPr>
              <a:t>通常 30,000円 </a:t>
            </a:r>
            <a:pPr indent="0" marL="0">
              <a:buNone/>
            </a:pPr>
            <a:r>
              <a:rPr lang="en-US" sz="3400" b="1" dirty="0">
                <a:solidFill>
                  <a:srgbClr val="C40000"/>
                </a:solidFill>
                <a:latin typeface="Meiryo" pitchFamily="34" charset="0"/>
                <a:ea typeface="Meiryo" pitchFamily="34" charset="-122"/>
                <a:cs typeface="Meiryo" pitchFamily="34" charset="-120"/>
              </a:rPr>
              <a:t> →  特別価格 15,000円</a:t>
            </a:r>
            <a:endParaRPr lang="en-US" sz="3000" dirty="0"/>
          </a:p>
        </p:txBody>
      </p:sp>
      <p:sp>
        <p:nvSpPr>
          <p:cNvPr id="6" name="Text 4"/>
          <p:cNvSpPr txBox="1"/>
          <p:nvPr/>
        </p:nvSpPr>
        <p:spPr>
          <a:xfrm>
            <a:off x="822960" y="5440680"/>
            <a:ext cx="6126480" cy="1188720"/>
          </a:xfrm>
          <a:prstGeom prst="rect">
            <a:avLst/>
          </a:prstGeom>
          <a:noFill/>
          <a:ln/>
        </p:spPr>
        <p:txBody>
          <a:bodyPr wrap="square" lIns="0" tIns="0" rIns="0" bIns="0" rtlCol="0" anchor="ctr"/>
          <a:lstStyle/>
          <a:p>
            <a:pPr indent="0" marL="0">
              <a:buNone/>
            </a:pPr>
            <a:r>
              <a:rPr lang="en-US" sz="2000" dirty="0">
                <a:solidFill>
                  <a:srgbClr val="FFFFFF"/>
                </a:solidFill>
                <a:latin typeface="Meiryo" pitchFamily="34" charset="0"/>
                <a:ea typeface="Meiryo" pitchFamily="34" charset="-122"/>
                <a:cs typeface="Meiryo" pitchFamily="34" charset="-120"/>
              </a:rPr>
              <a:t>業種・目的に合わせて、チャンネルの方向性・続けられるペース設計を一緒に整理します（30分／Zoom・対面どちらも可／希望者のみ）</a:t>
            </a:r>
            <a:endParaRPr lang="en-US" sz="2000" dirty="0"/>
          </a:p>
          <a:p>
            <a:pPr indent="0" marL="0">
              <a:buNone/>
            </a:pPr>
            <a:r>
              <a:rPr lang="en-US" sz="2000" dirty="0" b="1">
                <a:solidFill>
                  <a:srgbClr val="FFFFFF"/>
                </a:solidFill>
                <a:latin typeface="Meiryo" pitchFamily="34" charset="0"/>
                <a:ea typeface="Meiryo" pitchFamily="34" charset="-122"/>
                <a:cs typeface="Meiryo" pitchFamily="34" charset="-120"/>
              </a:rPr>
              <a:t>お申し込み期限：10月10日（土）まで</a:t>
            </a:r>
            <a:endParaRPr lang="en-US" sz="2000" dirty="0"/>
          </a:p>
        </p:txBody>
      </p:sp>
      <p:pic>
        <p:nvPicPr>
          <p:cNvPr id="7" name="Picture 6" descr="qr_lp.png"/>
          <p:cNvPicPr>
            <a:picLocks noChangeAspect="1"/>
          </p:cNvPicPr>
          <p:nvPr/>
        </p:nvPicPr>
        <p:blipFill>
          <a:blip r:embed="rId3"/>
          <a:stretch>
            <a:fillRect/>
          </a:stretch>
        </p:blipFill>
        <p:spPr>
          <a:xfrm>
            <a:off x="9555480" y="2944368"/>
            <a:ext cx="1463040" cy="1463040"/>
          </a:xfrm>
          <a:prstGeom prst="rect">
            <a:avLst/>
          </a:prstGeom>
        </p:spPr>
      </p:pic>
      <p:sp>
        <p:nvSpPr>
          <p:cNvPr id="8" name="TextBox 7"/>
          <p:cNvSpPr txBox="1"/>
          <p:nvPr/>
        </p:nvSpPr>
        <p:spPr>
          <a:xfrm>
            <a:off x="9098280" y="4443984"/>
            <a:ext cx="2377440" cy="365760"/>
          </a:xfrm>
          <a:prstGeom prst="rect">
            <a:avLst/>
          </a:prstGeom>
          <a:noFill/>
        </p:spPr>
        <p:txBody>
          <a:bodyPr wrap="none" lIns="0" rIns="0" tIns="0" bIns="0">
            <a:spAutoFit/>
          </a:bodyPr>
          <a:lstStyle/>
          <a:p>
            <a:pPr algn="ctr"/>
            <a:r>
              <a:rPr sz="1300" b="1">
                <a:solidFill>
                  <a:srgbClr val="C40000"/>
                </a:solidFill>
              </a:rPr>
              <a:t>お申し込みはこちら</a:t>
            </a:r>
          </a:p>
        </p:txBody>
      </p:sp>
      <p:sp>
        <p:nvSpPr>
          <p:cNvPr id="9" name="Rounded Rectangle 8"/>
          <p:cNvSpPr/>
          <p:nvPr/>
        </p:nvSpPr>
        <p:spPr>
          <a:xfrm>
            <a:off x="9829800" y="5230368"/>
            <a:ext cx="1371600" cy="13716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line_qr.png">
            <a:hlinkClick r:id="rId5"/>
          </p:cNvPr>
          <p:cNvPicPr>
            <a:picLocks noChangeAspect="1"/>
          </p:cNvPicPr>
          <p:nvPr/>
        </p:nvPicPr>
        <p:blipFill>
          <a:blip r:embed="rId4"/>
          <a:stretch>
            <a:fillRect/>
          </a:stretch>
        </p:blipFill>
        <p:spPr>
          <a:xfrm>
            <a:off x="9902952" y="5303520"/>
            <a:ext cx="1225296" cy="1225296"/>
          </a:xfrm>
          <a:prstGeom prst="rect">
            <a:avLst/>
          </a:prstGeom>
        </p:spPr>
      </p:pic>
      <p:sp>
        <p:nvSpPr>
          <p:cNvPr id="11" name="TextBox 10"/>
          <p:cNvSpPr txBox="1"/>
          <p:nvPr/>
        </p:nvSpPr>
        <p:spPr>
          <a:xfrm>
            <a:off x="7086600" y="5303520"/>
            <a:ext cx="2606040" cy="1225296"/>
          </a:xfrm>
          <a:prstGeom prst="rect">
            <a:avLst/>
          </a:prstGeom>
          <a:noFill/>
        </p:spPr>
        <p:txBody>
          <a:bodyPr wrap="square" anchor="ctr" lIns="0" rIns="0" tIns="0" bIns="0">
            <a:spAutoFit/>
          </a:bodyPr>
          <a:lstStyle/>
          <a:p>
            <a:pPr algn="r"/>
            <a:r>
              <a:rPr sz="1400" b="1">
                <a:solidFill>
                  <a:srgbClr val="FFFFFF"/>
                </a:solidFill>
              </a:rPr>
              <a:t>LINE（@031svhsj）</a:t>
            </a:r>
          </a:p>
          <a:p>
            <a:pPr algn="r"/>
            <a:r>
              <a:rPr sz="1800" b="1">
                <a:solidFill>
                  <a:srgbClr val="FFD400"/>
                </a:solidFill>
              </a:rPr>
              <a:t>次回セミナーの</a:t>
            </a:r>
          </a:p>
          <a:p>
            <a:pPr algn="r"/>
            <a:r>
              <a:rPr sz="1800" b="1">
                <a:solidFill>
                  <a:srgbClr val="FFD400"/>
                </a:solidFill>
              </a:rPr>
              <a:t>招待はこちら →</a:t>
            </a:r>
          </a:p>
        </p:txBody>
      </p:sp>
      <p:sp>
        <p:nvSpPr>
          <p:cNvPr id="12" name="TextBox 11"/>
          <p:cNvSpPr txBox="1"/>
          <p:nvPr/>
        </p:nvSpPr>
        <p:spPr>
          <a:xfrm>
            <a:off x="1188720" y="4343400"/>
            <a:ext cx="7890000" cy="457200"/>
          </a:xfrm>
          <a:prstGeom prst="rect">
            <a:avLst/>
          </a:prstGeom>
          <a:noFill/>
        </p:spPr>
        <p:txBody>
          <a:bodyPr wrap="square">
            <a:spAutoFit/>
          </a:bodyPr>
          <a:lstStyle/>
          <a:p>
            <a:r>
              <a:rPr sz="1500" b="1">
                <a:solidFill>
                  <a:srgbClr val="5A3A00"/>
                </a:solidFill>
                <a:latin typeface="Meiryo"/>
              </a:rPr>
              <a:t>続けたい方へ：月額サポートもあります（週1回ミーティング＋Discordで質問）</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36">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2743200"/>
            <a:ext cx="10515600" cy="91440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ご清聴ありがとうございました</a:t>
            </a:r>
            <a:endParaRPr lang="en-US" sz="4000" dirty="0"/>
          </a:p>
        </p:txBody>
      </p:sp>
      <p:sp>
        <p:nvSpPr>
          <p:cNvPr id="3" name="Text 1"/>
          <p:cNvSpPr txBox="1"/>
          <p:nvPr/>
        </p:nvSpPr>
        <p:spPr>
          <a:xfrm>
            <a:off x="822960" y="3840480"/>
            <a:ext cx="10515600" cy="548640"/>
          </a:xfrm>
          <a:prstGeom prst="rect">
            <a:avLst/>
          </a:prstGeom>
          <a:noFill/>
          <a:ln/>
        </p:spPr>
        <p:txBody>
          <a:bodyPr wrap="square" lIns="0" tIns="0" rIns="0" bIns="0" rtlCol="0" anchor="ctr"/>
          <a:lstStyle/>
          <a:p>
            <a:pPr indent="0" marL="0">
              <a:buNone/>
            </a:pPr>
            <a:r>
              <a:rPr lang="en-US" sz="2200" dirty="0">
                <a:solidFill>
                  <a:srgbClr val="FFE9A8"/>
                </a:solidFill>
                <a:latin typeface="Meiryo" pitchFamily="34" charset="0"/>
                <a:ea typeface="Meiryo" pitchFamily="34" charset="-122"/>
                <a:cs typeface="Meiryo" pitchFamily="34" charset="-120"/>
              </a:rPr>
              <a:t>質疑応答の時間です。お気軽にどうぞ！</a:t>
            </a:r>
            <a:endParaRPr lang="en-US" sz="2200" dirty="0"/>
          </a:p>
        </p:txBody>
      </p:sp>
      <p:sp>
        <p:nvSpPr>
          <p:cNvPr id="4" name="Shape 2"/>
          <p:cNvSpPr/>
          <p:nvPr/>
        </p:nvSpPr>
        <p:spPr>
          <a:xfrm>
            <a:off x="9445752" y="914400"/>
            <a:ext cx="1645920" cy="1119226"/>
          </a:xfrm>
          <a:prstGeom prst="roundRect">
            <a:avLst>
              <a:gd name="adj" fmla="val 28000"/>
            </a:avLst>
          </a:prstGeom>
          <a:solidFill>
            <a:srgbClr val="E60000"/>
          </a:solidFill>
          <a:ln/>
        </p:spPr>
      </p:sp>
      <p:sp>
        <p:nvSpPr>
          <p:cNvPr id="5" name="Shape 3"/>
          <p:cNvSpPr/>
          <p:nvPr/>
        </p:nvSpPr>
        <p:spPr>
          <a:xfrm rot="5400000">
            <a:off x="10038283" y="1227783"/>
            <a:ext cx="493776" cy="492459"/>
          </a:xfrm>
          <a:prstGeom prst="triangle">
            <a:avLst/>
          </a:prstGeom>
          <a:solidFill>
            <a:srgbClr val="FFFFFF"/>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2026-09-24T07:21:36Z</dcterms:created>
  <dcterms:modified xsi:type="dcterms:W3CDTF">2026-09-24T07:21:36Z</dcterms:modified>
</cp:coreProperties>
</file>