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99" r:id="rId50"/>
    <p:sldId id="278" r:id="rId24"/>
    <p:sldId id="279" r:id="rId25"/>
    <p:sldId id="280" r:id="rId26"/>
    <p:sldId id="281" r:id="rId27"/>
    <p:sldId id="282" r:id="rId28"/>
    <p:sldId id="283" r:id="rId29"/>
    <p:sldId id="297" r:id="rId48"/>
    <p:sldId id="296" r:id="rId47"/>
    <p:sldId id="284" r:id="rId30"/>
    <p:sldId id="285" r:id="rId31"/>
    <p:sldId id="298" r:id="rId49"/>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3.xml"/><Relationship Id="rId31" Type="http://schemas.openxmlformats.org/officeDocument/2006/relationships/slide" Target="slides/slide34.xml"/><Relationship Id="rId32" Type="http://schemas.openxmlformats.org/officeDocument/2006/relationships/slide" Target="slides/slide36.xml"/><Relationship Id="rId33" Type="http://schemas.openxmlformats.org/officeDocument/2006/relationships/slide" Target="slides/slide37.xml"/><Relationship Id="rId34" Type="http://schemas.openxmlformats.org/officeDocument/2006/relationships/slide" Target="slides/slide40.xml"/><Relationship Id="rId35" Type="http://schemas.openxmlformats.org/officeDocument/2006/relationships/slide" Target="slides/slide41.xml"/><Relationship Id="rId36" Type="http://schemas.openxmlformats.org/officeDocument/2006/relationships/slide" Target="slides/slide42.xml"/><Relationship Id="rId37" Type="http://schemas.openxmlformats.org/officeDocument/2006/relationships/slide" Target="slides/slide43.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32.xml"/><Relationship Id="rId48" Type="http://schemas.openxmlformats.org/officeDocument/2006/relationships/slide" Target="slides/slide31.xml"/><Relationship Id="rId49" Type="http://schemas.openxmlformats.org/officeDocument/2006/relationships/slide" Target="slides/slide35.xml"/><Relationship Id="rId5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から逆算。プロの走りの解説だけなら、取れても1本10万再生くらいが上限。週1本なら月40万再生。10分弱の動画で1再生あたり約0.3円→月10万円前後＝彼の目標に届く。さらに、競技場を借りて1人1,000円などで走り方の講習会をしているチャンネルもあったので、それを絡める。自分の商品の開発も話していた。彼自身、社会人から100m 11秒台→10秒台になった実績があり、体の構造にも詳しい→説得力がある。「これはいける」と思った。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20万円ほど、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チャンネル画面を見せる。スライドの画面をクリックするとチャンネルが開く）パッと見て、何のチャンネルか分からないですよね？（反応を見る）アートもコンセプトも作り込まれていない。でも一番人気は258万再生、他にも154万・145万・118万と100万超えが並ぶ。登録者13.2万人・動画227本。「アルコール中毒者の超危険行動を見るチャンネル」（笑）。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第1問は外構のサムネ3つ（実在の動画。タイトルと再生数は隠している）。A・B・Cで挙手。考え込まずに直感で。建設・外構の方にとっては身近なテーマ。</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直感で挙手してもらう。例：モノ・風景だけ vs 人の顔・表情入り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直感で挙手してもらう。例：内容を説明 vs 続きが気になる（自分のチャンネルのビフォーアフターが最適）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公開の許可あり）。「月10万円稼ぎたい」という相談。(1)俯瞰：陸上の動画を片っ端から。多いのはスパイクのレビュー、練習vlog、速く走るコツ。プロの走りを解説するチャンネルはない。(2)成功ライン：ジャンル平均1〜2万再生。このチャンネルで3〜4年前に出したコールマンの走りの解説が3万再生＝平均より上＝需要あり。その後は本人のvlogになっていた。(3)激戦区：スパイクレビュー・vlog系。(4)空いている場所：プロの走りの徹底解説→「これなら勝てる」。結果：3本目で登録者1,000人以上増・4,000時間の見込み→4本目を出して、4本で合計約9万再生。コメントに「すごく分か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講習会や商品開発につなげる予定だった。でも会社員とYouTubeの両立では身が入りきらず、YouTubeの大変さも知って熱量が下がり、連絡も返ってこなくなって更新が止まった。動画は熱量が伝わる良い動画なので、ぜひ家で見てほしい。惜しい。教訓：正しい道筋＋無理なく続けられる体制。この2つが揃って初めて育つ。全振り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 右下のQRはLINE公式アカウント。月1回〜2か月に1回のセミナーの招待と、週1回のYouTubeワンポイントが届く。相談はまだ早いという方も、まずLINEだけでも。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出した4本（@haman100m）。どれもプロ選手の走りを「科学的に分析」する企画。ノア・ライルズ（股関節）1.4万、桐生（室内60m日本記録）1.9万、蘇炳添（10秒16→9秒83、31歳でアジア記録）3.6万、サニブラウン（ナンバ走り）1.7万。平均1〜2万のジャンルで4本とも平均以上。サムネは「選手名＋実績の数字＋〇〇で答えを隠す」型で統一→続きが気になる（ワーク第3問とつながる）。コメントにも「すごく分かりやすい」。帰って他のvlog系と見比べてみて。</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を見せて）この広告、見たことありますか？YouTubeの「好きなことで、生きていく」。ヒカキンさんのあれです。……でも、今日お伝えしたいのは、実はこの逆なんです（間）。「視聴者の」好きなことで、生きていく（笑いを取る）。自分が好きなものではなく、視聴者が好きな動画を作っていく。これが伸びるチャンネルの考え方。→次のスライドで「失敗の正体」へ。</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答え合わせ：A 7.5万／B 2.1万／C 1,086再生。Aは①「外構専門店が解説」＝誰が話すか②「これだけ抑えて！」＝初心者でも見やすい③「スタートガイド」＝何が分かるか④完成した庭の実写＝見たい結果、が一目で伝わる。Bも「外構業者の見つけ方」「抑えるべきポイント2点」で何が分かるかが明確、人の表情と実際の家の外構も入っている→2.1万。Cは「必ず見て！」だけで何が分かるか伝わらない→1,086。※チャンネル規模の差もあるが、サムネの差は見て分かる。外構・建築の会社ならA・Bの型はすぐ真似できる。 【動画を見せる】サムネをクリックするとYouTubeが開く。A→B→Cの順に、冒頭1分ずつ再生。会場の方はQRコードから手元のスマホで見られる。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hyperlink" Target="https://www.youtube.com/@wawawa184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43.xml"/><Relationship Id="rId6" Type="http://schemas.openxmlformats.org/officeDocument/2006/relationships/image" Target="../media/image17.png"/><Relationship Id="rId7" Type="http://schemas.openxmlformats.org/officeDocument/2006/relationships/hyperlink" Target="https://youtu.be/pu3-B_kIUVE" TargetMode="External"/><Relationship Id="rId8" Type="http://schemas.openxmlformats.org/officeDocument/2006/relationships/hyperlink" Target="https://youtu.be/S7CIe6k3ED0" TargetMode="External"/><Relationship Id="rId9" Type="http://schemas.openxmlformats.org/officeDocument/2006/relationships/hyperlink" Target="https://youtu.be/43ak-26J18M" TargetMode="External"/><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22.png"/><Relationship Id="rId5" Type="http://schemas.openxmlformats.org/officeDocument/2006/relationships/hyperlink" Target="https://line.me/R/ti/p/@031svhsj"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
        <p:nvSpPr>
          <p:cNvPr id="7" name="Text 5"/>
          <p:cNvSpPr txBox="1"/>
          <p:nvPr/>
        </p:nvSpPr>
        <p:spPr>
          <a:xfrm>
            <a:off x="822960" y="5532120"/>
            <a:ext cx="10058400" cy="548640"/>
          </a:xfrm>
          <a:prstGeom prst="rect">
            <a:avLst/>
          </a:prstGeom>
          <a:noFill/>
          <a:ln/>
        </p:spPr>
        <p:txBody>
          <a:bodyPr wrap="square" lIns="0" tIns="0" rIns="0" bIns="0" rtlCol="0" anchor="ctr"/>
          <a:lstStyle/>
          <a:p>
            <a:pPr indent="0" marL="0">
              <a:buNone/>
            </a:pPr>
            <a:r>
              <a:rPr lang="en-US" sz="2400" dirty="0" b="1">
                <a:solidFill>
                  <a:srgbClr val="FFFFFF"/>
                </a:solidFill>
                <a:latin typeface="Meiryo" pitchFamily="34" charset="0"/>
                <a:ea typeface="Meiryo" pitchFamily="34" charset="-122"/>
                <a:cs typeface="Meiryo" pitchFamily="34" charset="-120"/>
              </a:rPr>
              <a:t>講師：Ykkn</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自己紹介：Ykkn（会社員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196596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74320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20040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16052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493776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txBody>
          <a:bodyPr/>
          <a:p/>
        </p:txBody>
      </p:sp>
      <p:sp>
        <p:nvSpPr>
          <p:cNvPr id="6" name="Text 3"/>
          <p:cNvSpPr txBox="1"/>
          <p:nvPr/>
        </p:nvSpPr>
        <p:spPr>
          <a:xfrm>
            <a:off x="3738489" y="2103120"/>
            <a:ext cx="270803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3738489" y="2560320"/>
            <a:ext cx="270803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@wawawa1840</a:t>
            </a:r>
            <a:endParaRPr lang="en-US" sz="1900" dirty="0"/>
          </a:p>
        </p:txBody>
      </p:sp>
      <p:sp>
        <p:nvSpPr>
          <p:cNvPr id="9" name="Text 6"/>
          <p:cNvSpPr txBox="1"/>
          <p:nvPr/>
        </p:nvSpPr>
        <p:spPr>
          <a:xfrm>
            <a:off x="3738489" y="4023360"/>
            <a:ext cx="270803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概要欄も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258万再生</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登録者13.2万人・動画227本</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100万再生超えが何本も並ぶ</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＝一発屋ではない</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pic>
        <p:nvPicPr>
          <p:cNvPr id="14" name="Picture 13" descr="wawawa_ch.png">
            <a:hlinkClick r:id="rId4"/>
          </p:cNvPr>
          <p:cNvPicPr>
            <a:picLocks noChangeAspect="1"/>
          </p:cNvPicPr>
          <p:nvPr/>
        </p:nvPicPr>
        <p:blipFill>
          <a:blip r:embed="rId3"/>
          <a:stretch>
            <a:fillRect/>
          </a:stretch>
        </p:blipFill>
        <p:spPr>
          <a:xfrm>
            <a:off x="868680" y="1920240"/>
            <a:ext cx="2595489" cy="3749039"/>
          </a:xfrm>
          <a:prstGeom prst="rect">
            <a:avLst/>
          </a:prstGeom>
          <a:ln w="12700">
            <a:solidFill>
              <a:srgbClr val="DDDDDD"/>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txBody>
          <a:bodyPr/>
          <a:p/>
        </p:txBody>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txBody>
          <a:bodyPr/>
          <a:p/>
        </p:txBody>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txBody>
          <a:bodyPr/>
          <a:p/>
        </p:txBody>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概要欄は「視聴者をお客さんに変える入り口」。HP・事業内容・問い合わせ先を必ず書く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txBody>
          <a:bodyPr/>
          <a:p/>
        </p:txBody>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txBody>
          <a:bodyPr/>
          <a:p/>
        </p:txBody>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例：「シロアリ 対策」と検索すると、検索結果に動画が出てくる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あなたなら、どちらをクリック？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第1問：あなたなら、どれをクリック？</a:t>
            </a:r>
            <a:endParaRPr lang="en-US" sz="30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直感でどうぞ！　A・B・C、クリックしたいものに手を挙げてください</a:t>
            </a:r>
            <a:endParaRPr lang="en-US" sz="2000" dirty="0"/>
          </a:p>
        </p:txBody>
      </p:sp>
      <p:pic>
        <p:nvPicPr>
          <p:cNvPr id="12" name="Picture 11" descr="q1_1.png"/>
          <p:cNvPicPr>
            <a:picLocks noChangeAspect="1"/>
          </p:cNvPicPr>
          <p:nvPr/>
        </p:nvPicPr>
        <p:blipFill>
          <a:blip r:embed="rId3"/>
          <a:stretch>
            <a:fillRect/>
          </a:stretch>
        </p:blipFill>
        <p:spPr>
          <a:xfrm>
            <a:off x="640080" y="1828800"/>
            <a:ext cx="3520440" cy="1980247"/>
          </a:xfrm>
          <a:prstGeom prst="rect">
            <a:avLst/>
          </a:prstGeom>
        </p:spPr>
      </p:pic>
      <p:sp>
        <p:nvSpPr>
          <p:cNvPr id="13" name="TextBox 12"/>
          <p:cNvSpPr txBox="1"/>
          <p:nvPr/>
        </p:nvSpPr>
        <p:spPr>
          <a:xfrm>
            <a:off x="640080" y="3991927"/>
            <a:ext cx="3520440" cy="548640"/>
          </a:xfrm>
          <a:prstGeom prst="rect">
            <a:avLst/>
          </a:prstGeom>
          <a:noFill/>
        </p:spPr>
        <p:txBody>
          <a:bodyPr wrap="square" lIns="0" rIns="0" tIns="0" bIns="0">
            <a:spAutoFit/>
          </a:bodyPr>
          <a:lstStyle/>
          <a:p>
            <a:pPr algn="ctr"/>
            <a:r>
              <a:rPr sz="3200" b="1">
                <a:solidFill>
                  <a:srgbClr val="C40000"/>
                </a:solidFill>
              </a:rPr>
              <a:t>A</a:t>
            </a:r>
          </a:p>
        </p:txBody>
      </p:sp>
      <p:pic>
        <p:nvPicPr>
          <p:cNvPr id="18" name="Picture 17" descr="q1_2new.png"/>
          <p:cNvPicPr>
            <a:picLocks noChangeAspect="1"/>
          </p:cNvPicPr>
          <p:nvPr/>
        </p:nvPicPr>
        <p:blipFill>
          <a:blip r:embed="rId6"/>
          <a:stretch>
            <a:fillRect/>
          </a:stretch>
        </p:blipFill>
        <p:spPr>
          <a:xfrm>
            <a:off x="4366260" y="1828800"/>
            <a:ext cx="3520440" cy="1980247"/>
          </a:xfrm>
          <a:prstGeom prst="rect">
            <a:avLst/>
          </a:prstGeom>
        </p:spPr>
      </p:pic>
      <p:sp>
        <p:nvSpPr>
          <p:cNvPr id="15" name="TextBox 14"/>
          <p:cNvSpPr txBox="1"/>
          <p:nvPr/>
        </p:nvSpPr>
        <p:spPr>
          <a:xfrm>
            <a:off x="4366260" y="3991927"/>
            <a:ext cx="3520440" cy="548640"/>
          </a:xfrm>
          <a:prstGeom prst="rect">
            <a:avLst/>
          </a:prstGeom>
          <a:noFill/>
        </p:spPr>
        <p:txBody>
          <a:bodyPr wrap="square" lIns="0" rIns="0" tIns="0" bIns="0">
            <a:spAutoFit/>
          </a:bodyPr>
          <a:lstStyle/>
          <a:p>
            <a:pPr algn="ctr"/>
            <a:r>
              <a:rPr sz="3200" b="1">
                <a:solidFill>
                  <a:srgbClr val="C40000"/>
                </a:solidFill>
              </a:rPr>
              <a:t>B</a:t>
            </a:r>
          </a:p>
        </p:txBody>
      </p:sp>
      <p:pic>
        <p:nvPicPr>
          <p:cNvPr id="16" name="Picture 15" descr="q1_3.png"/>
          <p:cNvPicPr>
            <a:picLocks noChangeAspect="1"/>
          </p:cNvPicPr>
          <p:nvPr/>
        </p:nvPicPr>
        <p:blipFill>
          <a:blip r:embed="rId5"/>
          <a:stretch>
            <a:fillRect/>
          </a:stretch>
        </p:blipFill>
        <p:spPr>
          <a:xfrm>
            <a:off x="8092440" y="1828800"/>
            <a:ext cx="3520440" cy="1980247"/>
          </a:xfrm>
          <a:prstGeom prst="rect">
            <a:avLst/>
          </a:prstGeom>
        </p:spPr>
      </p:pic>
      <p:sp>
        <p:nvSpPr>
          <p:cNvPr id="17" name="TextBox 16"/>
          <p:cNvSpPr txBox="1"/>
          <p:nvPr/>
        </p:nvSpPr>
        <p:spPr>
          <a:xfrm>
            <a:off x="8092440" y="3991927"/>
            <a:ext cx="3520440" cy="548640"/>
          </a:xfrm>
          <a:prstGeom prst="rect">
            <a:avLst/>
          </a:prstGeom>
          <a:noFill/>
        </p:spPr>
        <p:txBody>
          <a:bodyPr wrap="square" lIns="0" rIns="0" tIns="0" bIns="0">
            <a:spAutoFit/>
          </a:bodyPr>
          <a:lstStyle/>
          <a:p>
            <a:pPr algn="ctr"/>
            <a:r>
              <a:rPr sz="3200" b="1">
                <a:solidFill>
                  <a:srgbClr val="C40000"/>
                </a:solidFill>
              </a:rPr>
              <a:t>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　答え合わせ</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第1問の答え：再生数はこれだけ違う</a:t>
            </a:r>
            <a:endParaRPr lang="en-US" sz="30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b="1">
                <a:solidFill>
                  <a:srgbClr val="C40000"/>
                </a:solidFill>
                <a:latin typeface="Meiryo" pitchFamily="34" charset="0"/>
                <a:ea typeface="Meiryo" pitchFamily="34" charset="-122"/>
                <a:cs typeface="Meiryo" pitchFamily="34" charset="-120"/>
              </a:rPr>
              <a:t>「誰が」「何を教えてくれるか」が一目で分かるサムネが、選ばれる</a:t>
            </a:r>
            <a:endParaRPr lang="en-US" sz="2000" dirty="0"/>
          </a:p>
        </p:txBody>
      </p:sp>
      <p:pic>
        <p:nvPicPr>
          <p:cNvPr id="12" name="Picture 11" descr="q1_1.png">
            <a:hlinkClick r:id="rId7"/>
          </p:cNvPr>
          <p:cNvPicPr>
            <a:picLocks noChangeAspect="1"/>
          </p:cNvPicPr>
          <p:nvPr/>
        </p:nvPicPr>
        <p:blipFill>
          <a:blip r:embed="rId2"/>
          <a:stretch>
            <a:fillRect/>
          </a:stretch>
        </p:blipFill>
        <p:spPr>
          <a:xfrm>
            <a:off x="640080" y="1828800"/>
            <a:ext cx="3520440" cy="1980247"/>
          </a:xfrm>
          <a:prstGeom prst="rect">
            <a:avLst/>
          </a:prstGeom>
        </p:spPr>
      </p:pic>
      <p:sp>
        <p:nvSpPr>
          <p:cNvPr id="13" name="TextBox 12"/>
          <p:cNvSpPr txBox="1"/>
          <p:nvPr/>
        </p:nvSpPr>
        <p:spPr>
          <a:xfrm>
            <a:off x="640080" y="3991927"/>
            <a:ext cx="2331720" cy="548640"/>
          </a:xfrm>
          <a:prstGeom prst="rect">
            <a:avLst/>
          </a:prstGeom>
          <a:noFill/>
        </p:spPr>
        <p:txBody>
          <a:bodyPr wrap="square" lIns="0" rIns="0" tIns="0" bIns="0">
            <a:spAutoFit/>
          </a:bodyPr>
          <a:lstStyle/>
          <a:p>
            <a:pPr algn="l"/>
            <a:r>
              <a:rPr sz="3200" b="1">
                <a:solidFill>
                  <a:srgbClr val="C40000"/>
                </a:solidFill>
              </a:rPr>
              <a:t>A</a:t>
            </a:r>
          </a:p>
        </p:txBody>
      </p:sp>
      <p:pic>
        <p:nvPicPr>
          <p:cNvPr id="22" name="Picture 21" descr="q1_2new.png">
            <a:hlinkClick r:id="rId8"/>
          </p:cNvPr>
          <p:cNvPicPr>
            <a:picLocks noChangeAspect="1"/>
          </p:cNvPicPr>
          <p:nvPr/>
        </p:nvPicPr>
        <p:blipFill>
          <a:blip r:embed="rId6"/>
          <a:stretch>
            <a:fillRect/>
          </a:stretch>
        </p:blipFill>
        <p:spPr>
          <a:xfrm>
            <a:off x="4366260" y="1828800"/>
            <a:ext cx="3520440" cy="1980247"/>
          </a:xfrm>
          <a:prstGeom prst="rect">
            <a:avLst/>
          </a:prstGeom>
        </p:spPr>
      </p:pic>
      <p:sp>
        <p:nvSpPr>
          <p:cNvPr id="15" name="TextBox 14"/>
          <p:cNvSpPr txBox="1"/>
          <p:nvPr/>
        </p:nvSpPr>
        <p:spPr>
          <a:xfrm>
            <a:off x="4366260" y="3991927"/>
            <a:ext cx="2331720" cy="548640"/>
          </a:xfrm>
          <a:prstGeom prst="rect">
            <a:avLst/>
          </a:prstGeom>
          <a:noFill/>
        </p:spPr>
        <p:txBody>
          <a:bodyPr wrap="square" lIns="0" rIns="0" tIns="0" bIns="0">
            <a:spAutoFit/>
          </a:bodyPr>
          <a:lstStyle/>
          <a:p>
            <a:pPr algn="l"/>
            <a:r>
              <a:rPr sz="3200" b="1">
                <a:solidFill>
                  <a:srgbClr val="C40000"/>
                </a:solidFill>
              </a:rPr>
              <a:t>B</a:t>
            </a:r>
          </a:p>
        </p:txBody>
      </p:sp>
      <p:pic>
        <p:nvPicPr>
          <p:cNvPr id="16" name="Picture 15" descr="q1_3.png">
            <a:hlinkClick r:id="rId9"/>
          </p:cNvPr>
          <p:cNvPicPr>
            <a:picLocks noChangeAspect="1"/>
          </p:cNvPicPr>
          <p:nvPr/>
        </p:nvPicPr>
        <p:blipFill>
          <a:blip r:embed="rId4"/>
          <a:stretch>
            <a:fillRect/>
          </a:stretch>
        </p:blipFill>
        <p:spPr>
          <a:xfrm>
            <a:off x="8092440" y="1828800"/>
            <a:ext cx="3520440" cy="1980247"/>
          </a:xfrm>
          <a:prstGeom prst="rect">
            <a:avLst/>
          </a:prstGeom>
        </p:spPr>
      </p:pic>
      <p:sp>
        <p:nvSpPr>
          <p:cNvPr id="17" name="TextBox 16"/>
          <p:cNvSpPr txBox="1"/>
          <p:nvPr/>
        </p:nvSpPr>
        <p:spPr>
          <a:xfrm>
            <a:off x="8092440" y="3991927"/>
            <a:ext cx="2331720" cy="548640"/>
          </a:xfrm>
          <a:prstGeom prst="rect">
            <a:avLst/>
          </a:prstGeom>
          <a:noFill/>
        </p:spPr>
        <p:txBody>
          <a:bodyPr wrap="square" lIns="0" rIns="0" tIns="0" bIns="0">
            <a:spAutoFit/>
          </a:bodyPr>
          <a:lstStyle/>
          <a:p>
            <a:pPr algn="l"/>
            <a:r>
              <a:rPr sz="3200" b="1">
                <a:solidFill>
                  <a:srgbClr val="C40000"/>
                </a:solidFill>
              </a:rPr>
              <a:t>C</a:t>
            </a:r>
          </a:p>
        </p:txBody>
      </p:sp>
      <p:sp>
        <p:nvSpPr>
          <p:cNvPr id="18" name="TextBox 17"/>
          <p:cNvSpPr txBox="1"/>
          <p:nvPr/>
        </p:nvSpPr>
        <p:spPr>
          <a:xfrm>
            <a:off x="640080" y="4540567"/>
            <a:ext cx="2331720" cy="548640"/>
          </a:xfrm>
          <a:prstGeom prst="rect">
            <a:avLst/>
          </a:prstGeom>
          <a:noFill/>
        </p:spPr>
        <p:txBody>
          <a:bodyPr wrap="square" lIns="0" rIns="0" tIns="0" bIns="0">
            <a:spAutoFit/>
          </a:bodyPr>
          <a:lstStyle/>
          <a:p>
            <a:pPr algn="l"/>
            <a:r>
              <a:rPr sz="3000" b="1">
                <a:solidFill>
                  <a:srgbClr val="C40000"/>
                </a:solidFill>
              </a:rPr>
              <a:t>7.5万再生</a:t>
            </a:r>
          </a:p>
        </p:txBody>
      </p:sp>
      <p:sp>
        <p:nvSpPr>
          <p:cNvPr id="19" name="Rectangle 18"/>
          <p:cNvSpPr/>
          <p:nvPr/>
        </p:nvSpPr>
        <p:spPr>
          <a:xfrm>
            <a:off x="585215" y="1773936"/>
            <a:ext cx="3630168" cy="2089975"/>
          </a:xfrm>
          <a:prstGeom prst="rect">
            <a:avLst/>
          </a:prstGeom>
          <a:noFill/>
          <a:ln w="635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66260" y="4540567"/>
            <a:ext cx="2331720" cy="548640"/>
          </a:xfrm>
          <a:prstGeom prst="rect">
            <a:avLst/>
          </a:prstGeom>
          <a:noFill/>
        </p:spPr>
        <p:txBody>
          <a:bodyPr wrap="square" lIns="0" rIns="0" tIns="0" bIns="0">
            <a:spAutoFit/>
          </a:bodyPr>
          <a:lstStyle/>
          <a:p>
            <a:pPr algn="l"/>
            <a:r>
              <a:rPr sz="2400" b="1">
                <a:solidFill>
                  <a:srgbClr val="555555"/>
                </a:solidFill>
              </a:rPr>
              <a:t>2.1万再生</a:t>
            </a:r>
          </a:p>
        </p:txBody>
      </p:sp>
      <p:sp>
        <p:nvSpPr>
          <p:cNvPr id="21" name="TextBox 20"/>
          <p:cNvSpPr txBox="1"/>
          <p:nvPr/>
        </p:nvSpPr>
        <p:spPr>
          <a:xfrm>
            <a:off x="8092440" y="4540567"/>
            <a:ext cx="2331720" cy="548640"/>
          </a:xfrm>
          <a:prstGeom prst="rect">
            <a:avLst/>
          </a:prstGeom>
          <a:noFill/>
        </p:spPr>
        <p:txBody>
          <a:bodyPr wrap="square" lIns="0" rIns="0" tIns="0" bIns="0">
            <a:spAutoFit/>
          </a:bodyPr>
          <a:lstStyle/>
          <a:p>
            <a:pPr algn="l"/>
            <a:r>
              <a:rPr sz="2400" b="1">
                <a:solidFill>
                  <a:srgbClr val="555555"/>
                </a:solidFill>
              </a:rPr>
              <a:t>1,086再生</a:t>
            </a:r>
          </a:p>
        </p:txBody>
      </p:sp>
      <p:pic>
        <p:nvPicPr>
          <p:cNvPr id="23" name="Picture 22" descr="qr_q1_0.png">
            <a:hlinkClick r:id="rId7"/>
          </p:cNvPr>
          <p:cNvPicPr>
            <a:picLocks noChangeAspect="1"/>
          </p:cNvPicPr>
          <p:nvPr/>
        </p:nvPicPr>
        <p:blipFill>
          <a:blip r:embed="rId10"/>
          <a:stretch>
            <a:fillRect/>
          </a:stretch>
        </p:blipFill>
        <p:spPr>
          <a:xfrm>
            <a:off x="3108960" y="3946207"/>
            <a:ext cx="1051560" cy="1051560"/>
          </a:xfrm>
          <a:prstGeom prst="rect">
            <a:avLst/>
          </a:prstGeom>
        </p:spPr>
      </p:pic>
      <p:pic>
        <p:nvPicPr>
          <p:cNvPr id="24" name="Picture 23" descr="qr_q1_1.png">
            <a:hlinkClick r:id="rId8"/>
          </p:cNvPr>
          <p:cNvPicPr>
            <a:picLocks noChangeAspect="1"/>
          </p:cNvPicPr>
          <p:nvPr/>
        </p:nvPicPr>
        <p:blipFill>
          <a:blip r:embed="rId11"/>
          <a:stretch>
            <a:fillRect/>
          </a:stretch>
        </p:blipFill>
        <p:spPr>
          <a:xfrm>
            <a:off x="6835140" y="3946207"/>
            <a:ext cx="1051560" cy="1051560"/>
          </a:xfrm>
          <a:prstGeom prst="rect">
            <a:avLst/>
          </a:prstGeom>
        </p:spPr>
      </p:pic>
      <p:pic>
        <p:nvPicPr>
          <p:cNvPr id="25" name="Picture 24" descr="qr_q1_2.png">
            <a:hlinkClick r:id="rId9"/>
          </p:cNvPr>
          <p:cNvPicPr>
            <a:picLocks noChangeAspect="1"/>
          </p:cNvPicPr>
          <p:nvPr/>
        </p:nvPicPr>
        <p:blipFill>
          <a:blip r:embed="rId12"/>
          <a:stretch>
            <a:fillRect/>
          </a:stretch>
        </p:blipFill>
        <p:spPr>
          <a:xfrm>
            <a:off x="10561319" y="3946207"/>
            <a:ext cx="1051560" cy="10515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2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第2問：あなたなら、どちらをクリック？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3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第3問：あなたなら、どちらをクリック？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txBody>
          <a:bodyPr/>
          <a:p/>
        </p:txBody>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陸上の動画を片っ端から見る。</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多いのはスパイクのレビュー、練習vlog、走り方のコツ</a:t>
            </a:r>
            <a:endParaRPr lang="en-US" sz="1800" dirty="0"/>
          </a:p>
        </p:txBody>
      </p:sp>
      <p:sp>
        <p:nvSpPr>
          <p:cNvPr id="9" name="Shape 6"/>
          <p:cNvSpPr/>
          <p:nvPr/>
        </p:nvSpPr>
        <p:spPr>
          <a:xfrm>
            <a:off x="731520" y="2944368"/>
            <a:ext cx="475488" cy="475488"/>
          </a:xfrm>
          <a:prstGeom prst="ellipse">
            <a:avLst/>
          </a:prstGeom>
          <a:solidFill>
            <a:srgbClr val="C40000"/>
          </a:solidFill>
          <a:ln/>
        </p:spPr>
        <p:txBody>
          <a:bodyPr/>
          <a:p/>
        </p:txBody>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ジャンルの平均は1〜2万再生。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過去のコールマン解説は3万再生＝需要あり</a:t>
            </a:r>
            <a:endParaRPr lang="en-US" sz="1800" dirty="0"/>
          </a:p>
        </p:txBody>
      </p:sp>
      <p:sp>
        <p:nvSpPr>
          <p:cNvPr id="13" name="Shape 10"/>
          <p:cNvSpPr/>
          <p:nvPr/>
        </p:nvSpPr>
        <p:spPr>
          <a:xfrm>
            <a:off x="731520" y="3995928"/>
            <a:ext cx="475488" cy="475488"/>
          </a:xfrm>
          <a:prstGeom prst="ellipse">
            <a:avLst/>
          </a:prstGeom>
          <a:solidFill>
            <a:srgbClr val="C40000"/>
          </a:solidFill>
          <a:ln/>
        </p:spPr>
        <p:txBody>
          <a:bodyPr/>
          <a:p/>
        </p:txBody>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スパイクのレビューや練習vlogは、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強い人がひしめく激戦区</a:t>
            </a:r>
            <a:endParaRPr lang="en-US" sz="1800" dirty="0"/>
          </a:p>
        </p:txBody>
      </p:sp>
      <p:sp>
        <p:nvSpPr>
          <p:cNvPr id="17" name="Shape 14"/>
          <p:cNvSpPr/>
          <p:nvPr/>
        </p:nvSpPr>
        <p:spPr>
          <a:xfrm>
            <a:off x="731520" y="5047488"/>
            <a:ext cx="475488" cy="475488"/>
          </a:xfrm>
          <a:prstGeom prst="ellipse">
            <a:avLst/>
          </a:prstGeom>
          <a:solidFill>
            <a:srgbClr val="8A0000"/>
          </a:solidFill>
          <a:ln/>
        </p:spPr>
        <p:txBody>
          <a:bodyPr/>
          <a:p/>
        </p:txBody>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プロの走りを徹底解説するチャンネルがない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3本で登録者1,000人以上増・4,000時間達成。4本で合計約9万再生</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ACTUAL VIDEOS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実際に出した4本：プロの走りを「科学的に分析」</a:t>
            </a:r>
            <a:endParaRPr lang="en-US" sz="30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平均1〜2万再生のジャンルで、4本すべてが平均以上。蘇炳添は3.6万再生</a:t>
            </a:r>
            <a:endParaRPr lang="en-US" sz="1900" dirty="0"/>
          </a:p>
        </p:txBody>
      </p:sp>
      <p:pic>
        <p:nvPicPr>
          <p:cNvPr id="22" name="Picture 21" descr="th_lyles_f.png"/>
          <p:cNvPicPr>
            <a:picLocks noChangeAspect="1"/>
          </p:cNvPicPr>
          <p:nvPr/>
        </p:nvPicPr>
        <p:blipFill>
          <a:blip r:embed="rId2"/>
          <a:stretch>
            <a:fillRect/>
          </a:stretch>
        </p:blipFill>
        <p:spPr>
          <a:xfrm>
            <a:off x="640080" y="1965960"/>
            <a:ext cx="2606040" cy="1465897"/>
          </a:xfrm>
          <a:prstGeom prst="rect">
            <a:avLst/>
          </a:prstGeom>
        </p:spPr>
      </p:pic>
      <p:sp>
        <p:nvSpPr>
          <p:cNvPr id="23" name="TextBox 22"/>
          <p:cNvSpPr txBox="1"/>
          <p:nvPr/>
        </p:nvSpPr>
        <p:spPr>
          <a:xfrm>
            <a:off x="640080" y="3569017"/>
            <a:ext cx="2606040" cy="822960"/>
          </a:xfrm>
          <a:prstGeom prst="rect">
            <a:avLst/>
          </a:prstGeom>
          <a:noFill/>
        </p:spPr>
        <p:txBody>
          <a:bodyPr wrap="square" lIns="0" rIns="0" tIns="0" bIns="0">
            <a:spAutoFit/>
          </a:bodyPr>
          <a:lstStyle/>
          <a:p>
            <a:r>
              <a:rPr sz="1600" b="1">
                <a:solidFill>
                  <a:srgbClr val="222222"/>
                </a:solidFill>
              </a:rPr>
              <a:t>ノア・ライルズ</a:t>
            </a:r>
          </a:p>
          <a:p>
            <a:r>
              <a:rPr sz="2200" b="1">
                <a:solidFill>
                  <a:srgbClr val="C40000"/>
                </a:solidFill>
              </a:rPr>
              <a:t>1.4万再生</a:t>
            </a:r>
          </a:p>
        </p:txBody>
      </p:sp>
      <p:pic>
        <p:nvPicPr>
          <p:cNvPr id="24" name="Picture 23" descr="th_kiryu_f.png"/>
          <p:cNvPicPr>
            <a:picLocks noChangeAspect="1"/>
          </p:cNvPicPr>
          <p:nvPr/>
        </p:nvPicPr>
        <p:blipFill>
          <a:blip r:embed="rId3"/>
          <a:stretch>
            <a:fillRect/>
          </a:stretch>
        </p:blipFill>
        <p:spPr>
          <a:xfrm>
            <a:off x="3429000" y="1965960"/>
            <a:ext cx="2606040" cy="1465897"/>
          </a:xfrm>
          <a:prstGeom prst="rect">
            <a:avLst/>
          </a:prstGeom>
        </p:spPr>
      </p:pic>
      <p:sp>
        <p:nvSpPr>
          <p:cNvPr id="25" name="TextBox 24"/>
          <p:cNvSpPr txBox="1"/>
          <p:nvPr/>
        </p:nvSpPr>
        <p:spPr>
          <a:xfrm>
            <a:off x="3429000" y="3569017"/>
            <a:ext cx="2606040" cy="822960"/>
          </a:xfrm>
          <a:prstGeom prst="rect">
            <a:avLst/>
          </a:prstGeom>
          <a:noFill/>
        </p:spPr>
        <p:txBody>
          <a:bodyPr wrap="square" lIns="0" rIns="0" tIns="0" bIns="0">
            <a:spAutoFit/>
          </a:bodyPr>
          <a:lstStyle/>
          <a:p>
            <a:r>
              <a:rPr sz="1600" b="1">
                <a:solidFill>
                  <a:srgbClr val="222222"/>
                </a:solidFill>
              </a:rPr>
              <a:t>桐生祥秀</a:t>
            </a:r>
          </a:p>
          <a:p>
            <a:r>
              <a:rPr sz="2200" b="1">
                <a:solidFill>
                  <a:srgbClr val="C40000"/>
                </a:solidFill>
              </a:rPr>
              <a:t>1.9万再生</a:t>
            </a:r>
          </a:p>
        </p:txBody>
      </p:sp>
      <p:pic>
        <p:nvPicPr>
          <p:cNvPr id="26" name="Picture 25" descr="th_su_f.png"/>
          <p:cNvPicPr>
            <a:picLocks noChangeAspect="1"/>
          </p:cNvPicPr>
          <p:nvPr/>
        </p:nvPicPr>
        <p:blipFill>
          <a:blip r:embed="rId4"/>
          <a:stretch>
            <a:fillRect/>
          </a:stretch>
        </p:blipFill>
        <p:spPr>
          <a:xfrm>
            <a:off x="6217920" y="1965960"/>
            <a:ext cx="2606040" cy="1465897"/>
          </a:xfrm>
          <a:prstGeom prst="rect">
            <a:avLst/>
          </a:prstGeom>
        </p:spPr>
      </p:pic>
      <p:sp>
        <p:nvSpPr>
          <p:cNvPr id="27" name="TextBox 26"/>
          <p:cNvSpPr txBox="1"/>
          <p:nvPr/>
        </p:nvSpPr>
        <p:spPr>
          <a:xfrm>
            <a:off x="6217920" y="3569017"/>
            <a:ext cx="2606040" cy="822960"/>
          </a:xfrm>
          <a:prstGeom prst="rect">
            <a:avLst/>
          </a:prstGeom>
          <a:noFill/>
        </p:spPr>
        <p:txBody>
          <a:bodyPr wrap="square" lIns="0" rIns="0" tIns="0" bIns="0">
            <a:spAutoFit/>
          </a:bodyPr>
          <a:lstStyle/>
          <a:p>
            <a:r>
              <a:rPr sz="1600" b="1">
                <a:solidFill>
                  <a:srgbClr val="222222"/>
                </a:solidFill>
              </a:rPr>
              <a:t>蘇炳添</a:t>
            </a:r>
          </a:p>
          <a:p>
            <a:r>
              <a:rPr sz="2200" b="1">
                <a:solidFill>
                  <a:srgbClr val="C40000"/>
                </a:solidFill>
              </a:rPr>
              <a:t>3.6万再生</a:t>
            </a:r>
          </a:p>
        </p:txBody>
      </p:sp>
      <p:pic>
        <p:nvPicPr>
          <p:cNvPr id="28" name="Picture 27" descr="th_sani_f.png"/>
          <p:cNvPicPr>
            <a:picLocks noChangeAspect="1"/>
          </p:cNvPicPr>
          <p:nvPr/>
        </p:nvPicPr>
        <p:blipFill>
          <a:blip r:embed="rId5"/>
          <a:stretch>
            <a:fillRect/>
          </a:stretch>
        </p:blipFill>
        <p:spPr>
          <a:xfrm>
            <a:off x="9006840" y="1965960"/>
            <a:ext cx="2606040" cy="1465897"/>
          </a:xfrm>
          <a:prstGeom prst="rect">
            <a:avLst/>
          </a:prstGeom>
        </p:spPr>
      </p:pic>
      <p:sp>
        <p:nvSpPr>
          <p:cNvPr id="29" name="TextBox 28"/>
          <p:cNvSpPr txBox="1"/>
          <p:nvPr/>
        </p:nvSpPr>
        <p:spPr>
          <a:xfrm>
            <a:off x="9006840" y="3569017"/>
            <a:ext cx="2606040" cy="822960"/>
          </a:xfrm>
          <a:prstGeom prst="rect">
            <a:avLst/>
          </a:prstGeom>
          <a:noFill/>
        </p:spPr>
        <p:txBody>
          <a:bodyPr wrap="square" lIns="0" rIns="0" tIns="0" bIns="0">
            <a:spAutoFit/>
          </a:bodyPr>
          <a:lstStyle/>
          <a:p>
            <a:r>
              <a:rPr sz="1600" b="1">
                <a:solidFill>
                  <a:srgbClr val="222222"/>
                </a:solidFill>
              </a:rPr>
              <a:t>サニブラウン</a:t>
            </a:r>
          </a:p>
          <a:p>
            <a:r>
              <a:rPr sz="2200" b="1">
                <a:solidFill>
                  <a:srgbClr val="C40000"/>
                </a:solidFill>
              </a:rPr>
              <a:t>1.7万再生</a:t>
            </a:r>
          </a:p>
        </p:txBody>
      </p:sp>
      <p:sp>
        <p:nvSpPr>
          <p:cNvPr id="7" name="Shape 4"/>
          <p:cNvSpPr/>
          <p:nvPr/>
        </p:nvSpPr>
        <p:spPr>
          <a:xfrm>
            <a:off x="640080" y="4480560"/>
            <a:ext cx="10972800" cy="1143000"/>
          </a:xfrm>
          <a:prstGeom prst="roundRect">
            <a:avLst>
              <a:gd name="adj" fmla="val 5455"/>
            </a:avLst>
          </a:prstGeom>
          <a:solidFill>
            <a:srgbClr val="FFF3C4"/>
          </a:solidFill>
          <a:ln/>
        </p:spPr>
      </p:sp>
      <p:sp>
        <p:nvSpPr>
          <p:cNvPr id="30" name="TextBox 29"/>
          <p:cNvSpPr txBox="1"/>
          <p:nvPr/>
        </p:nvSpPr>
        <p:spPr>
          <a:xfrm>
            <a:off x="1005840" y="4480560"/>
            <a:ext cx="10241280" cy="1143000"/>
          </a:xfrm>
          <a:prstGeom prst="rect">
            <a:avLst/>
          </a:prstGeom>
          <a:noFill/>
        </p:spPr>
        <p:txBody>
          <a:bodyPr wrap="square" anchor="ctr" lIns="0" rIns="0" tIns="0" bIns="0">
            <a:spAutoFit/>
          </a:bodyPr>
          <a:lstStyle/>
          <a:p>
            <a:r>
              <a:rPr sz="1400" b="1">
                <a:solidFill>
                  <a:srgbClr val="C40000"/>
                </a:solidFill>
              </a:rPr>
              <a:t>サムネの共通の型</a:t>
            </a:r>
          </a:p>
          <a:p>
            <a:r>
              <a:rPr sz="2000" b="1">
                <a:solidFill>
                  <a:srgbClr val="222222"/>
                </a:solidFill>
              </a:rPr>
              <a:t>選手名 ＋ 実績の数字 ＋「〇〇」で答えを隠す → 続きが気になって、クリックしたくなる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PLAN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目標「月10万円」から逆算する</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上限を見積もる</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プロの走りの解説は、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1本あたり最大10万再生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くらいが上限の見込み</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収益を計算する</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週1本×10万再生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＝月40万再生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×1再生 約0.3円</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＝月10万円前後</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上乗せする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走り方の講習会</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（1人1,000円など）や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自社商品の開発につなげる</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本人の実績（社会人から100m 11秒台→10秒台）が、解説の説得力になる</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講習会や商品開発につなげる予定だったが、会社員とYouTubeの両立で熱量が下がり、</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連絡も途絶えがちに。途中で更新が止まってしまった。……惜しい。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よくある失敗：「好きなことで、生きていく」？</a:t>
            </a:r>
            <a:endParaRPr lang="en-US" sz="3000" dirty="0"/>
          </a:p>
        </p:txBody>
      </p:sp>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自分の「好き」ではなく、視聴者の「好き」を動画にする</a:t>
            </a:r>
          </a:p>
        </p:txBody>
      </p:sp>
      <p:pic>
        <p:nvPicPr>
          <p:cNvPr id="6" name="Picture 5" descr="hikakin_ad.png"/>
          <p:cNvPicPr>
            <a:picLocks noChangeAspect="1"/>
          </p:cNvPicPr>
          <p:nvPr/>
        </p:nvPicPr>
        <p:blipFill>
          <a:blip r:embed="rId2"/>
          <a:stretch>
            <a:fillRect/>
          </a:stretch>
        </p:blipFill>
        <p:spPr>
          <a:xfrm>
            <a:off x="822960" y="1783080"/>
            <a:ext cx="3840480" cy="3200400"/>
          </a:xfrm>
          <a:prstGeom prst="rect">
            <a:avLst/>
          </a:prstGeom>
        </p:spPr>
      </p:pic>
      <p:sp>
        <p:nvSpPr>
          <p:cNvPr id="7" name="TextBox 6"/>
          <p:cNvSpPr txBox="1"/>
          <p:nvPr/>
        </p:nvSpPr>
        <p:spPr>
          <a:xfrm>
            <a:off x="822960" y="5074920"/>
            <a:ext cx="3840480" cy="320040"/>
          </a:xfrm>
          <a:prstGeom prst="rect">
            <a:avLst/>
          </a:prstGeom>
          <a:noFill/>
        </p:spPr>
        <p:txBody>
          <a:bodyPr wrap="square" anchor="t" lIns="0" rIns="0" tIns="0" bIns="0">
            <a:spAutoFit/>
          </a:bodyPr>
          <a:lstStyle/>
          <a:p>
            <a:pPr algn="l"/>
            <a:r>
              <a:rPr sz="1000" b="0">
                <a:solidFill>
                  <a:srgbClr val="777777"/>
                </a:solidFill>
              </a:rPr>
              <a:t>出典：YouTube「好きなことで、生きていく」広告（2014年）</a:t>
            </a:r>
          </a:p>
        </p:txBody>
      </p:sp>
      <p:sp>
        <p:nvSpPr>
          <p:cNvPr id="8" name="TextBox 7"/>
          <p:cNvSpPr txBox="1"/>
          <p:nvPr/>
        </p:nvSpPr>
        <p:spPr>
          <a:xfrm>
            <a:off x="5212080" y="1783080"/>
            <a:ext cx="6309360" cy="3200400"/>
          </a:xfrm>
          <a:prstGeom prst="rect">
            <a:avLst/>
          </a:prstGeom>
          <a:noFill/>
        </p:spPr>
        <p:txBody>
          <a:bodyPr wrap="square" anchor="ctr" lIns="0" rIns="0" tIns="0" bIns="0">
            <a:spAutoFit/>
          </a:bodyPr>
          <a:lstStyle/>
          <a:p>
            <a:pPr algn="l">
              <a:spcAft>
                <a:spcPts val="1400"/>
              </a:spcAft>
            </a:pPr>
            <a:r>
              <a:rPr sz="1800" b="1">
                <a:solidFill>
                  <a:srgbClr val="555555"/>
                </a:solidFill>
              </a:rPr>
              <a:t>YouTubeで伸ばしたいなら…</a:t>
            </a:r>
          </a:p>
          <a:p>
            <a:pPr algn="l">
              <a:spcAft>
                <a:spcPts val="600"/>
              </a:spcAft>
            </a:pPr>
            <a:r>
              <a:rPr sz="2800" b="1" strike="sngStrike">
                <a:solidFill>
                  <a:srgbClr val="999999"/>
                </a:solidFill>
              </a:rPr>
              <a:t>好きなことで、生きていく</a:t>
            </a:r>
          </a:p>
          <a:p>
            <a:pPr algn="l">
              <a:spcAft>
                <a:spcPts val="600"/>
              </a:spcAft>
            </a:pPr>
            <a:r>
              <a:rPr sz="2800" b="1">
                <a:solidFill>
                  <a:srgbClr val="C40000"/>
                </a:solidFill>
              </a:rPr>
              <a:t>↓</a:t>
            </a:r>
          </a:p>
          <a:p>
            <a:pPr algn="l">
              <a:spcAft>
                <a:spcPts val="0"/>
              </a:spcAft>
            </a:pPr>
            <a:r>
              <a:rPr sz="4000" b="1">
                <a:solidFill>
                  <a:srgbClr val="C40000"/>
                </a:solidFill>
              </a:rPr>
              <a:t>視聴者の</a:t>
            </a:r>
          </a:p>
          <a:p>
            <a:pPr algn="l">
              <a:spcAft>
                <a:spcPts val="0"/>
              </a:spcAft>
            </a:pPr>
            <a:r>
              <a:rPr sz="3600" b="1">
                <a:solidFill>
                  <a:srgbClr val="222222"/>
                </a:solidFill>
              </a:rPr>
              <a:t>好きなことで、生きていく</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注意点①：素材の著作権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txBody>
          <a:bodyPr/>
          <a:p/>
        </p:txBody>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612648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
        <p:nvSpPr>
          <p:cNvPr id="9" name="Rounded Rectangle 8"/>
          <p:cNvSpPr/>
          <p:nvPr/>
        </p:nvSpPr>
        <p:spPr>
          <a:xfrm>
            <a:off x="9829800" y="5230368"/>
            <a:ext cx="1371600"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ine_qr.png">
            <a:hlinkClick r:id="rId5"/>
          </p:cNvPr>
          <p:cNvPicPr>
            <a:picLocks noChangeAspect="1"/>
          </p:cNvPicPr>
          <p:nvPr/>
        </p:nvPicPr>
        <p:blipFill>
          <a:blip r:embed="rId4"/>
          <a:stretch>
            <a:fillRect/>
          </a:stretch>
        </p:blipFill>
        <p:spPr>
          <a:xfrm>
            <a:off x="9902952" y="5303520"/>
            <a:ext cx="1225296" cy="1225296"/>
          </a:xfrm>
          <a:prstGeom prst="rect">
            <a:avLst/>
          </a:prstGeom>
        </p:spPr>
      </p:pic>
      <p:sp>
        <p:nvSpPr>
          <p:cNvPr id="11" name="TextBox 10"/>
          <p:cNvSpPr txBox="1"/>
          <p:nvPr/>
        </p:nvSpPr>
        <p:spPr>
          <a:xfrm>
            <a:off x="7086600" y="5303520"/>
            <a:ext cx="2606040" cy="1225296"/>
          </a:xfrm>
          <a:prstGeom prst="rect">
            <a:avLst/>
          </a:prstGeom>
          <a:noFill/>
        </p:spPr>
        <p:txBody>
          <a:bodyPr wrap="square" anchor="ctr" lIns="0" rIns="0" tIns="0" bIns="0">
            <a:spAutoFit/>
          </a:bodyPr>
          <a:lstStyle/>
          <a:p>
            <a:pPr algn="r"/>
            <a:r>
              <a:rPr sz="1400" b="1">
                <a:solidFill>
                  <a:srgbClr val="FFFFFF"/>
                </a:solidFill>
              </a:rPr>
              <a:t>LINE（@031svhsj）</a:t>
            </a:r>
          </a:p>
          <a:p>
            <a:pPr algn="r"/>
            <a:r>
              <a:rPr sz="1800" b="1">
                <a:solidFill>
                  <a:srgbClr val="FFD400"/>
                </a:solidFill>
              </a:rPr>
              <a:t>次回セミナーの</a:t>
            </a:r>
          </a:p>
          <a:p>
            <a:pPr algn="r"/>
            <a:r>
              <a:rPr sz="1800" b="1">
                <a:solidFill>
                  <a:srgbClr val="FFD400"/>
                </a:solidFill>
              </a:rPr>
              <a:t>招待はこちら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