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78" r:id="rId24"/>
    <p:sldId id="279" r:id="rId25"/>
    <p:sldId id="280" r:id="rId26"/>
    <p:sldId id="281" r:id="rId27"/>
    <p:sldId id="282" r:id="rId28"/>
    <p:sldId id="283" r:id="rId29"/>
    <p:sldId id="296" r:id="rId47"/>
    <p:sldId id="284" r:id="rId30"/>
    <p:sldId id="285" r:id="rId31"/>
    <p:sldId id="286" r:id="rId32"/>
    <p:sldId id="287" r:id="rId33"/>
    <p:sldId id="294" r:id="rId45"/>
    <p:sldId id="295" r:id="rId46"/>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条件（登録者1,000人・総再生4,000時間）をほぼ1年でクリア。この1〜2年は1チャンネルに絞っていたので、参入していればもっと増えていた。ただ収益化＝大きな利益ではない（正直に）。キャラでなく企画で伸ばした (2)友人のチャンネル：3年で500人前後→私が入って3本で1,000人増、4,000時間も3本で達成。後半で許可を得て実際のチャンネルを公開（伏線） (3)親のチャンネル：9,000人近く。撮影は本人、私はサムネの手直しと企画の相談だけ。副業で「月5万円」が目標→私が提示したジャンルで先月も5万円達成。考え方を共有できれば作り手が私でなくても結果は出る＝会社員・副業でも結果は出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標から逆算。プロの走りの解説だけなら、取れても1本10万再生くらいが上限。週1本なら月40万再生。10分弱の動画で1再生あたり約0.3円→月10万円前後＝彼の目標に届く。さらに、競技場を借りて1人1,000円などで走り方の講習会をしているチャンネルもあったので、それを絡める。自分の商品の開発も話していた。彼自身、社会人から100m 11秒台→10秒台になった実績があり、体の構造にも詳しい→説得力がある。「これはいける」と思った。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と実感すること。よく聞く「クリック率が大事」「サムネが一番大事」という一点突破の話ではない。動画は一本一本見てもらうものなので、丁寧にやる作業を積み上げる。逆に力を抜いていい部分もある（このあとのチャンネルページの話がまさにそれ）。裏ワザは一切ない。(2)「伸びるための思考」を少しでも学ぶこと。全部マスターしなくていい。視点を1つ持ち帰れたら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るか。一番は地域貢献。もう1つは、いろいろなチャンネルの運営に関わりたいから。正直、私がメインで撮影・台本・企画・喋りまで全部やったチャンネルは、思ったようには伸びなかった（喋りが上手くない）。一方、企画・サムネ・分析で裏から支えた友人や親のチャンネルは結果が出ている。裏方で力を発揮するタイプ。だから企業さん・個人事業主さんのバックアップで、皆さんの商品やサービスを求める人に届けたい。場を設けていただいた塩谷先生に感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今日か昨日、何かしらのSNSを開きませんでしたか？→ほとんど開いている。お客さんも同じ。お客さんが毎日いる場所に看板を出せる。一番大事：SNSは無料で広告を打てる。撮影・編集はかかるが、編集はAIで下げられる。実例：弟（個人事業主）が高砂に絞ってGoogle広告→月【要確認：金額】、問い合わせはちょこちょこ、成果はそこまで。全国ならもっと必要。広告が合う業種もあるが、ほとんどの会社はSNSをやった方がいい。YouTube動画はGoogle検索にも出る→信用・信頼→依頼・見積もり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でも、数年後はまったく違う運営スタイルに。片方は直接営業しなくてもSNSからお客さんが来る＝看板を置いておいたら立ち寄ってくれる状態。片方は集客のたびに支払い続ける。SNSで集客できれば、同業者と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業種に当てはまるわけではない。1対1で話してお客さんを取る方が合う業種もある。伸びやすい／伸びにくいジャンルがある。ジャンルを見れば「この業種はきついかな」「こうすれば集客につながるかも」が大体分かる。（ちょっといやらしい話だが）後半の個別相談で手伝える。まず自分のジャンルの相場を把握。</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す以上、やってはいけないことをすれば必ず炎上。有名YouTuberでもちょくちょく炎上。企業ほどリスクは大きい。初期に「やってはいけないこと／やるべきこと」を押さえればそこまでの炎上はない。自分のチャンネルは名前が批判されやすい→逆手にとって動画のクオリティを上げている。ただ会社のイメージに良いかは別。最後はご自身の判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集客だけじゃない。(1)広告収益：再生数が伸びるジャンルなら広告収益。種銭にもなる (2)案件：影響力がつくと企業から「商品を使ってもらえませんか」。自分にもよく来る (3)幅が広がる：一番大きい。このセミナーもYouTubeを伸ばせたから話が来た＝選択肢が増えた。会社でも選択肢が増えれば評価・事業の幅に。→ここまでは皆さんご存じのこと。ここから作り方・伸ばし方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ンネルの作り方…と言いつつ、あまりこだわらない。他のセミナーで「まず強みは？」「ペルソナを作ろう」と言われるが、最初はやらない。理由：チャレンジできなくなる（一番のデメリット）。視聴者が何を思っているか分からないままペルソナを作ると、結局自分が思ったものを作ってしまう。代わりに、そのジャンルで求められていることを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などの細かい手順はこの参考動画で大体分かる（本当に細かく説明されている）。URLは配布資料にも。今日はそれ以外に時間を使いたい。この動画でチャンネルを作って、運営中の相談は私に。なぜ詳しくやらないか→チャンネルページは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wawa1840を表示）パッと見て何のチャンネルか分からない（反応を見る）。アートもコンセプトも作り込まれていない。でも最高250万再生超、コンスタントに再生。中身：お酒好きのおじさんが炊飯器に味の素と具材、ハイボールをほぼロックで一気飲み…はちゃめちゃだが行動が面白い。動画を出すほど「こういうチャンネル」と伝わる→好きな視聴者はついてくる。チャンネルページは「どういうチャンネルか」が伝われば十分。アイコンは目立つもの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チャンネルページは少し整える程度。作ってすぐ出すスピード優先。会社はチャンネルページ＝看板。概要欄・チャンネルページに「何をしている会社か」と連絡先。気になった人は概要欄からHPへ＝お客さんへの入り口。HPリンク・事業内容・問い合わせ先はしっか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収益は「おすすめ」経由と、Google検索など外部検索経由がある。YouTubeはGoogleのサービス→検索結果に動画が出る。（実演：「シロアリ 対策」で動画枠を見せる。予備スクショ／出にくければ「ネクタイ 結び方」）悩みの多いジャンルは検索に強い。建設・建築なら「シロアリが出たら？」「こういう時どうする？」。動画の質が良いと上位に載りやすい。良い動画の形は大体決まっている→そこに自社ならどう解決するかを乗せる。ジャンル選び＋中身の設計が大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でも初期はアナリティクスをほぼ見ない。クリック率を少し見る程度。見るのは視聴者の年齢・属性＝届けたい人に届いているか。合っていないと、クリック率や維持率が良くても違う人に届いている→成果につながらない。だから出す前に視聴者理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一番大事なのは視聴者理解。看板の例え：店名だけで何をしているか書いていない看板（当てはまる会社さんがいたらすみません）。「不動産 賃貸」と書けば分かるのに。フックが取れていない、本気で売りたいのかなと思ってしまう。YouTubeなら、伝えたいことをサムネに書いていない（白黒で文字だけ、イラストなし）状態。数値は出した「あと」、視聴者理解は出す「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釣りサムネはやめた方がいい。飲食店：「めちゃくちゃ美味しい、ここが一番」と書いてあっても、求める味じゃなければもう行かない（お寿司屋・洋食屋・中華も同じ）。美味しければまた来る。YouTubeもほぼ同じ。見た目で手に取っても、使い続けるかは中身。スマホもパソコンも（Mac・Windows）使いやすいから使っ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直感で挙手してもらう。例：文字が小さく情報量が多い vs 大きな文字で一言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直感で挙手してもらう。例：モノ・風景だけ vs 人の顔・表情入り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直感で挙手してもらう。例：内容を説明 vs 続きが気になる（自分のチャンネルのビフォーアフターが最適）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公開の許可あり）。「月10万円稼ぎたい」という相談。(1)俯瞰：陸上の動画を片っ端から。多いのはスパイクのレビュー、練習vlog、速く走るコツ。プロの走りを解説するチャンネルはない。(2)成功ライン：ジャンル平均1〜2万再生。このチャンネルで3〜4年前に出したコールマンの走りの解説が3万再生＝平均より上＝需要あり。その後は本人のvlogになっていた。(3)激戦区：スパイクレビュー・vlog系。(4)空いている場所：プロの走りの徹底解説→「これなら勝て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講習会や商品開発につなげる予定だった。でも会社員とYouTubeの両立では身が入りきらず、YouTubeの大変さも知って熱量が下がり、連絡も返ってこなくなって更新が止まった。動画は熱量が伝わる良い動画なので、ぜひ家で見てほしい。惜しい。教訓：正しい道筋＋無理なく続けられる体制。この2つが揃って初めて育つ。全振り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いる人はわずかなのに数値だけ良く見える。逆に需要のある大きいジャンルは母数が大きく、数値は高くならない。自分のジャンルでは伸びている動画でもクリック率3〜4%。10%だから良い評価とは限らない（初心者によくある勘違い、自分も最初はそうだった）。思い込んで続けるとこける。大事なのは届けたい人に届いているか、視聴者を意識して作れているか。自分はガチガチに設計せず、仮説を立ててすぐ作る。会社の提案は緻密に詰めて上司OKで出すが、YouTubeでそれをやると数が打てず当たる確率が下が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正しい順番：(1)視聴者理解（出す前）(2)仮説を立てて動画を作る (3)出したあと数値を見て改善。ただし数値にとらわれすぎない。一番大切なのは、やるべきことができているか。年齢などのデータの見方は最初は分からない→相談を。視聴者理解に基づいた仮説で作ることは誰でもできる。ここが一番時間がかかる。実際にお店をやっている人が感じる「お客さんの求めるもの」とも違ったりする。地道に。→次は体験ワー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ラシにも書いた「著作権」の話。市販の音楽やテレビの映像を無断で使うと、著作権の申し立てが入り、収益が権利者に回ったり動画が削除されたりする。違反が重なるとチャンネルごと停止されることもある。1本の失敗で全部なくなる。使うならYouTubeオーディオライブラリなど、利用OKと明記された素材を。会社のチャンネルは信用にも関わるので、迷ったら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挫折ポイント。最初の数本は伸びなくて当たり前。伸びないのは失敗ではなくデータ集め、見直して改善した回数が実力になる。挫折する人の多くは、伸びているチャンネルの「今」と自分を比べてしまう。比べるのは先月の自分。YouTubeは止めた時点で止まる（冒頭の親のチャンネルも、続けているから結果が出ている）。続けられるペースで打席に立ち続けるこ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txBody>
          <a:bodyPr/>
          <a:p/>
        </p:txBody>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txBody>
          <a:bodyPr/>
          <a:p/>
        </p:txBody>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txBody>
          <a:bodyPr/>
          <a:p/>
        </p:txBody>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ほぼ1年で、7つとも収益化の条件をクリア</a:t>
            </a:r>
            <a:endParaRPr lang="en-US" sz="1800" dirty="0"/>
          </a:p>
        </p:txBody>
      </p:sp>
      <p:sp>
        <p:nvSpPr>
          <p:cNvPr id="17" name="Shape 14"/>
          <p:cNvSpPr/>
          <p:nvPr/>
        </p:nvSpPr>
        <p:spPr>
          <a:xfrm>
            <a:off x="4389120" y="3337560"/>
            <a:ext cx="475488" cy="475488"/>
          </a:xfrm>
          <a:prstGeom prst="ellipse">
            <a:avLst/>
          </a:prstGeom>
          <a:solidFill>
            <a:srgbClr val="C40000"/>
          </a:solidFill>
          <a:ln/>
        </p:spPr>
        <p:txBody>
          <a:bodyPr/>
          <a:p/>
        </p:txBody>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3年伸び悩んだ友人のチャンネル。4,000時間も3本で達成</a:t>
            </a:r>
            <a:endParaRPr lang="en-US" sz="1800" dirty="0"/>
          </a:p>
        </p:txBody>
      </p:sp>
      <p:sp>
        <p:nvSpPr>
          <p:cNvPr id="21" name="Shape 18"/>
          <p:cNvSpPr/>
          <p:nvPr/>
        </p:nvSpPr>
        <p:spPr>
          <a:xfrm>
            <a:off x="4389120" y="4800600"/>
            <a:ext cx="475488" cy="475488"/>
          </a:xfrm>
          <a:prstGeom prst="ellipse">
            <a:avLst/>
          </a:prstGeom>
          <a:solidFill>
            <a:srgbClr val="C40000"/>
          </a:solidFill>
          <a:ln/>
        </p:spPr>
        <p:txBody>
          <a:bodyPr/>
          <a:p/>
        </p:txBody>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サムネの手直し＋企画の相談のみ。副業で月5万円を達成</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裏ワザはありません。丁寧にやる所と、</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力を抜いていい所を見極めて積み上げる。</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私は、前に出るより裏方で力を発揮するタイプ。</a:t>
            </a:r>
            <a:br>
              <a:rPr lang="en-US" sz="2000" dirty="0">
                <a:solidFill>
                  <a:srgbClr val="FFFFFF"/>
                </a:solidFill>
                <a:latin typeface="Meiryo" pitchFamily="34" charset="0"/>
                <a:ea typeface="Meiryo" pitchFamily="34" charset="-122"/>
                <a:cs typeface="Meiryo" pitchFamily="34" charset="-120"/>
              </a:rPr>
            </a:br>
            <a:r>
              <a:rPr lang="en-US" sz="2000" dirty="0">
                <a:solidFill>
                  <a:srgbClr val="FFFFFF"/>
                </a:solidFill>
                <a:latin typeface="Meiryo" pitchFamily="34" charset="0"/>
                <a:ea typeface="Meiryo" pitchFamily="34" charset="-122"/>
                <a:cs typeface="Meiryo" pitchFamily="34" charset="-120"/>
              </a:rPr>
              <a:t>企画やサムネで、皆さんの商品やサービスを求める人に届けるお手伝いがしたい。</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sp>
      <p:sp>
        <p:nvSpPr>
          <p:cNvPr id="6" name="Text 3"/>
          <p:cNvSpPr txBox="1"/>
          <p:nvPr/>
        </p:nvSpPr>
        <p:spPr>
          <a:xfrm>
            <a:off x="1005840" y="2103120"/>
            <a:ext cx="530352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1005840" y="2560320"/>
            <a:ext cx="530352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youtube.com/@wawawa1840</a:t>
            </a:r>
            <a:endParaRPr lang="en-US" sz="1900" dirty="0"/>
          </a:p>
        </p:txBody>
      </p:sp>
      <p:sp>
        <p:nvSpPr>
          <p:cNvPr id="8" name="Text 5"/>
          <p:cNvSpPr txBox="1"/>
          <p:nvPr/>
        </p:nvSpPr>
        <p:spPr>
          <a:xfrm>
            <a:off x="1005840" y="3108960"/>
            <a:ext cx="5303520" cy="457200"/>
          </a:xfrm>
          <a:prstGeom prst="rect">
            <a:avLst/>
          </a:prstGeom>
          <a:noFill/>
          <a:ln/>
        </p:spPr>
        <p:txBody>
          <a:bodyPr wrap="square" lIns="0" tIns="0" rIns="0" bIns="0" rtlCol="0" anchor="ctr"/>
          <a:lstStyle/>
          <a:p>
            <a:pPr indent="0" marL="0">
              <a:buNone/>
            </a:pPr>
            <a:r>
              <a:rPr lang="en-US" sz="1700" dirty="0">
                <a:solidFill>
                  <a:srgbClr val="666666"/>
                </a:solidFill>
                <a:latin typeface="Meiryo" pitchFamily="34" charset="0"/>
                <a:ea typeface="Meiryo" pitchFamily="34" charset="-122"/>
                <a:cs typeface="Meiryo" pitchFamily="34" charset="-120"/>
              </a:rPr>
              <a:t>（当日、実際の画面を表示）</a:t>
            </a:r>
            <a:endParaRPr lang="en-US" sz="1700" dirty="0"/>
          </a:p>
        </p:txBody>
      </p:sp>
      <p:sp>
        <p:nvSpPr>
          <p:cNvPr id="9" name="Text 6"/>
          <p:cNvSpPr txBox="1"/>
          <p:nvPr/>
        </p:nvSpPr>
        <p:spPr>
          <a:xfrm>
            <a:off x="1005840" y="4023360"/>
            <a:ext cx="530352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チャンネルアートも概要欄も</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250万再生超</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しかも一発屋ではなく、コンスタントに再生を獲得</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概要欄は「視聴者をお客さんに変える入り口」。HPリンク・事業内容・問い合わせ先はしっかり書く</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（この場でGoogle検索を実演 → 検索結果に動画が表示されることを見せる）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あなたなら、どちらをクリック？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2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第2問：あなたなら、どちらをクリック？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3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第3問：あなたなら、どちらをクリック？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陸上の動画を片っ端から見る。</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多いのはスパイクのレビュー、練習vlog、走り方のコツ</a:t>
            </a:r>
            <a:endParaRPr lang="en-US" sz="1800" dirty="0"/>
          </a:p>
        </p:txBody>
      </p:sp>
      <p:sp>
        <p:nvSpPr>
          <p:cNvPr id="9" name="Shape 6"/>
          <p:cNvSpPr/>
          <p:nvPr/>
        </p:nvSpPr>
        <p:spPr>
          <a:xfrm>
            <a:off x="731520" y="2944368"/>
            <a:ext cx="475488" cy="475488"/>
          </a:xfrm>
          <a:prstGeom prst="ellipse">
            <a:avLst/>
          </a:prstGeom>
          <a:solidFill>
            <a:srgbClr val="C40000"/>
          </a:solidFill>
          <a:ln/>
        </p:spPr>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ジャンルの平均は1〜2万再生。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過去のコールマン解説は3万再生＝需要あり</a:t>
            </a:r>
            <a:endParaRPr lang="en-US" sz="1800" dirty="0"/>
          </a:p>
        </p:txBody>
      </p:sp>
      <p:sp>
        <p:nvSpPr>
          <p:cNvPr id="13" name="Shape 10"/>
          <p:cNvSpPr/>
          <p:nvPr/>
        </p:nvSpPr>
        <p:spPr>
          <a:xfrm>
            <a:off x="731520" y="3995928"/>
            <a:ext cx="475488" cy="475488"/>
          </a:xfrm>
          <a:prstGeom prst="ellipse">
            <a:avLst/>
          </a:prstGeom>
          <a:solidFill>
            <a:srgbClr val="C40000"/>
          </a:solidFill>
          <a:ln/>
        </p:spPr>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スパイクのレビューや練習vlogは、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強い人がひしめく激戦区</a:t>
            </a:r>
            <a:endParaRPr lang="en-US" sz="1800" dirty="0"/>
          </a:p>
        </p:txBody>
      </p:sp>
      <p:sp>
        <p:nvSpPr>
          <p:cNvPr id="17" name="Shape 14"/>
          <p:cNvSpPr/>
          <p:nvPr/>
        </p:nvSpPr>
        <p:spPr>
          <a:xfrm>
            <a:off x="731520" y="5047488"/>
            <a:ext cx="475488" cy="475488"/>
          </a:xfrm>
          <a:prstGeom prst="ellipse">
            <a:avLst/>
          </a:prstGeom>
          <a:solidFill>
            <a:srgbClr val="8A0000"/>
          </a:solidFill>
          <a:ln/>
        </p:spPr>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プロの走りを徹底解説するチャンネルがない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この道筋の動画で、登録者1,000人以上増・4,000時間を達成</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PLAN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目標「月10万円」から逆算する</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上限を見積もる</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プロの走りの解説は、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1本あたり最大10万再生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くらいが上限の見込み</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収益を計算する</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週1本×10万再生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＝月40万再生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×1再生 約0.3円</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＝月10万円前後</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上乗せする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走り方の講習会</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（1人1,000円など）や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自社商品の開発につなげる</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本人の実績（社会人から100m 11秒台→10秒台）が、解説の説得力になる</a:t>
            </a:r>
            <a:endParaRPr lang="en-US" sz="2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講習会や商品開発につなげる予定だったが、会社員とYouTubeの両立で熱量が下がり、</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連絡も途絶えがちに。途中で更新が止まってしまった。……惜しい。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一番致命的な失敗と、知っておきたい2つの注意点</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COPYRIGHT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注意点②：素材の著作権</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他人の音楽・映像・画像は、原則そのまま使えない</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市販の音楽やテレビ番組の映像を無断で使うと、著作権の申し立てで収益が権利者に回ったり、動画が削除されたりする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違反が重なるとチャンネル自体が停止されることも。1本の失敗で、積み上げたものが全部なくなる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使うならYouTubeオーディオライブラリなど「利用OK」と明記された素材を。迷ったら使わない</a:t>
            </a:r>
            <a:endParaRPr lang="en-US" sz="2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MINDSET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注意点③：挫折しやすいポイント</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txBody>
          <a:bodyPr/>
          <a:p/>
        </p:txBody>
      </p:sp>
      <p:sp>
        <p:nvSpPr>
          <p:cNvPr id="6" name="Shape 3"/>
          <p:cNvSpPr/>
          <p:nvPr/>
        </p:nvSpPr>
        <p:spPr>
          <a:xfrm>
            <a:off x="1051560" y="2286000"/>
            <a:ext cx="475488" cy="475488"/>
          </a:xfrm>
          <a:prstGeom prst="ellipse">
            <a:avLst/>
          </a:prstGeom>
          <a:solidFill>
            <a:srgbClr val="C40000"/>
          </a:solidFill>
          <a:ln/>
        </p:spPr>
        <p:txBody>
          <a:bodyPr/>
          <a:p/>
        </p:txBody>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最初は伸びなくて当たり前</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伸びないのは失敗ではなく、データ集め。</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見直して改善した回数が、実力になる。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txBody>
          <a:bodyPr/>
          <a:p/>
        </p:txBody>
      </p:sp>
      <p:sp>
        <p:nvSpPr>
          <p:cNvPr id="11" name="Shape 8"/>
          <p:cNvSpPr/>
          <p:nvPr/>
        </p:nvSpPr>
        <p:spPr>
          <a:xfrm>
            <a:off x="6720840" y="2286000"/>
            <a:ext cx="475488" cy="475488"/>
          </a:xfrm>
          <a:prstGeom prst="ellipse">
            <a:avLst/>
          </a:prstGeom>
          <a:solidFill>
            <a:srgbClr val="8A0000"/>
          </a:solidFill>
          <a:ln/>
        </p:spPr>
        <p:txBody>
          <a:bodyPr/>
          <a:p/>
        </p:txBody>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比べる相手を間違えない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伸びているチャンネルの「今」と比べない。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比べるのは、先月の自分。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止めた時点で止まる。続けられるペースで、打席に立ち続ける</a:t>
            </a:r>
            <a:endParaRPr lang="en-US" sz="2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8183879" cy="1005840"/>
          </a:xfrm>
          <a:prstGeom prst="rect">
            <a:avLst/>
          </a:prstGeom>
          <a:noFill/>
          <a:ln/>
        </p:spPr>
        <p:txBody>
          <a:bodyPr wrap="square" lIns="0" tIns="0" rIns="0" bIns="0" rtlCol="0" anchor="ctr"/>
          <a:lstStyle/>
          <a:p>
            <a:pPr indent="0" marL="0">
              <a:buNone/>
            </a:pPr>
            <a:r>
              <a:rPr lang="en-US" sz="24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34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10607040" cy="91440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pic>
        <p:nvPicPr>
          <p:cNvPr id="7" name="Picture 6" descr="qr_lp.png"/>
          <p:cNvPicPr>
            <a:picLocks noChangeAspect="1"/>
          </p:cNvPicPr>
          <p:nvPr/>
        </p:nvPicPr>
        <p:blipFill>
          <a:blip r:embed="rId3"/>
          <a:stretch>
            <a:fillRect/>
          </a:stretch>
        </p:blipFill>
        <p:spPr>
          <a:xfrm>
            <a:off x="9555480" y="2944368"/>
            <a:ext cx="1463040" cy="1463040"/>
          </a:xfrm>
          <a:prstGeom prst="rect">
            <a:avLst/>
          </a:prstGeom>
        </p:spPr>
      </p:pic>
      <p:sp>
        <p:nvSpPr>
          <p:cNvPr id="8" name="TextBox 7"/>
          <p:cNvSpPr txBox="1"/>
          <p:nvPr/>
        </p:nvSpPr>
        <p:spPr>
          <a:xfrm>
            <a:off x="9098280" y="4443984"/>
            <a:ext cx="2377440" cy="365760"/>
          </a:xfrm>
          <a:prstGeom prst="rect">
            <a:avLst/>
          </a:prstGeom>
          <a:noFill/>
        </p:spPr>
        <p:txBody>
          <a:bodyPr wrap="none" lIns="0" rIns="0" tIns="0" bIns="0">
            <a:spAutoFit/>
          </a:bodyPr>
          <a:lstStyle/>
          <a:p>
            <a:pPr algn="ctr"/>
            <a:r>
              <a:rPr sz="1300" b="1">
                <a:solidFill>
                  <a:srgbClr val="C40000"/>
                </a:solidFill>
              </a:rPr>
              <a:t>お申し込みはこちら</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